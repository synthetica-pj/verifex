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72" r:id="rId2"/>
    <p:sldId id="274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7" r:id="rId14"/>
    <p:sldId id="280" r:id="rId15"/>
    <p:sldId id="278" r:id="rId16"/>
    <p:sldId id="281" r:id="rId17"/>
    <p:sldId id="275" r:id="rId18"/>
    <p:sldId id="267" r:id="rId19"/>
    <p:sldId id="269" r:id="rId20"/>
    <p:sldId id="270" r:id="rId21"/>
    <p:sldId id="271" r:id="rId22"/>
  </p:sldIdLst>
  <p:sldSz cx="12192000" cy="6858000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. Bilal Rehan" initials="MBR" lastIdx="1" clrIdx="0">
    <p:extLst>
      <p:ext uri="{19B8F6BF-5375-455C-9EA6-DF929625EA0E}">
        <p15:presenceInfo xmlns:p15="http://schemas.microsoft.com/office/powerpoint/2012/main" userId="M. Bilal Re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5"/>
    <a:srgbClr val="1E3A8A"/>
    <a:srgbClr val="16A34A"/>
    <a:srgbClr val="9D7F43"/>
    <a:srgbClr val="D13031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4BED28-56FA-4093-AC11-F662A1B0C103}">
  <a:tblStyle styleId="{C34BED28-56FA-4093-AC11-F662A1B0C1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D9E74D0-98E2-3D16-46D8-0B67F3D6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>
            <a:extLst>
              <a:ext uri="{FF2B5EF4-FFF2-40B4-BE49-F238E27FC236}">
                <a16:creationId xmlns:a16="http://schemas.microsoft.com/office/drawing/2014/main" id="{39E3A900-4AC1-1806-84AE-59CB1BA8C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F63BEE78-671D-DBCA-7FD1-7166AC3FA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166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986756B-98F8-F436-15FA-982A25FB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>
            <a:extLst>
              <a:ext uri="{FF2B5EF4-FFF2-40B4-BE49-F238E27FC236}">
                <a16:creationId xmlns:a16="http://schemas.microsoft.com/office/drawing/2014/main" id="{13E30411-5877-9CB4-4FFF-4E1DA5B24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>
            <a:extLst>
              <a:ext uri="{FF2B5EF4-FFF2-40B4-BE49-F238E27FC236}">
                <a16:creationId xmlns:a16="http://schemas.microsoft.com/office/drawing/2014/main" id="{C06E273E-88AE-DBDA-64DA-2281ACDDF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9977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1102B0F0-FFE3-D3E2-A810-CC1B3AE1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>
            <a:extLst>
              <a:ext uri="{FF2B5EF4-FFF2-40B4-BE49-F238E27FC236}">
                <a16:creationId xmlns:a16="http://schemas.microsoft.com/office/drawing/2014/main" id="{3A670C30-A172-29DE-404D-8B1D756B3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>
            <a:extLst>
              <a:ext uri="{FF2B5EF4-FFF2-40B4-BE49-F238E27FC236}">
                <a16:creationId xmlns:a16="http://schemas.microsoft.com/office/drawing/2014/main" id="{427079A4-F90C-DDC6-1F9A-3CE0FBA9D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8514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BAD888A0-E949-1A80-346E-E8620D66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>
            <a:extLst>
              <a:ext uri="{FF2B5EF4-FFF2-40B4-BE49-F238E27FC236}">
                <a16:creationId xmlns:a16="http://schemas.microsoft.com/office/drawing/2014/main" id="{A657B435-9AAF-2E4B-22E4-30F748EB2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>
            <a:extLst>
              <a:ext uri="{FF2B5EF4-FFF2-40B4-BE49-F238E27FC236}">
                <a16:creationId xmlns:a16="http://schemas.microsoft.com/office/drawing/2014/main" id="{1DAAF354-3428-B2BA-9D0A-3AA76AB12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678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AA3AD0D5-5FEF-C9D1-DFD9-12A7BCE9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>
            <a:extLst>
              <a:ext uri="{FF2B5EF4-FFF2-40B4-BE49-F238E27FC236}">
                <a16:creationId xmlns:a16="http://schemas.microsoft.com/office/drawing/2014/main" id="{C734423A-70E0-CD5D-FB7C-D6891CC7D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>
            <a:extLst>
              <a:ext uri="{FF2B5EF4-FFF2-40B4-BE49-F238E27FC236}">
                <a16:creationId xmlns:a16="http://schemas.microsoft.com/office/drawing/2014/main" id="{76C026D3-0837-C560-733D-FBB12CFE2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3271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20917A-EC27-4EC5-8A10-C11355D3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A7AB1-64FD-45F8-BFF6-FE6DECF5D0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E2D70D-97A1-4A01-AD79-1D9AAC28AF5B}"/>
              </a:ext>
            </a:extLst>
          </p:cNvPr>
          <p:cNvSpPr txBox="1"/>
          <p:nvPr/>
        </p:nvSpPr>
        <p:spPr>
          <a:xfrm>
            <a:off x="2009422" y="2270983"/>
            <a:ext cx="7936087" cy="1015663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b="1" dirty="0">
                <a:latin typeface="Poppins" panose="00000500000000000000" pitchFamily="2" charset="0"/>
                <a:cs typeface="Poppins" panose="00000500000000000000" pitchFamily="2" charset="0"/>
              </a:rPr>
              <a:t>SYNTHETICA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A1D49-494B-4764-8858-A3C4D7C3DF3C}"/>
              </a:ext>
            </a:extLst>
          </p:cNvPr>
          <p:cNvSpPr/>
          <p:nvPr/>
        </p:nvSpPr>
        <p:spPr>
          <a:xfrm>
            <a:off x="269505" y="3994108"/>
            <a:ext cx="11583827" cy="1964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24A451-415D-4BD3-B398-DA8EB4B3979A}"/>
              </a:ext>
            </a:extLst>
          </p:cNvPr>
          <p:cNvSpPr/>
          <p:nvPr/>
        </p:nvSpPr>
        <p:spPr>
          <a:xfrm>
            <a:off x="2433472" y="433721"/>
            <a:ext cx="8500533" cy="848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CD84DA-8644-430C-97AE-D39E30192913}"/>
              </a:ext>
            </a:extLst>
          </p:cNvPr>
          <p:cNvSpPr txBox="1"/>
          <p:nvPr/>
        </p:nvSpPr>
        <p:spPr>
          <a:xfrm>
            <a:off x="269506" y="433626"/>
            <a:ext cx="1118728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Calibri"/>
                <a:cs typeface="Calibri"/>
              </a:rPr>
              <a:t>Construction Technology Training Institute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2DDC45-87B7-41FF-B321-8949BE93C22F}"/>
              </a:ext>
            </a:extLst>
          </p:cNvPr>
          <p:cNvSpPr txBox="1"/>
          <p:nvPr/>
        </p:nvSpPr>
        <p:spPr>
          <a:xfrm>
            <a:off x="3232883" y="899696"/>
            <a:ext cx="566180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cs typeface="Calibri"/>
              </a:rPr>
              <a:t>Institute of Information and Communication Technology</a:t>
            </a:r>
          </a:p>
        </p:txBody>
      </p:sp>
      <p:sp>
        <p:nvSpPr>
          <p:cNvPr id="11" name="Google Shape;85;p13">
            <a:extLst>
              <a:ext uri="{FF2B5EF4-FFF2-40B4-BE49-F238E27FC236}">
                <a16:creationId xmlns:a16="http://schemas.microsoft.com/office/drawing/2014/main" id="{EF714537-DA32-6D6C-E6C4-E4BF3321AB87}"/>
              </a:ext>
            </a:extLst>
          </p:cNvPr>
          <p:cNvSpPr txBox="1"/>
          <p:nvPr/>
        </p:nvSpPr>
        <p:spPr>
          <a:xfrm>
            <a:off x="4637297" y="1914874"/>
            <a:ext cx="268033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404" b="1" dirty="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FINAL YEAR PROJECT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254334" y="5763915"/>
            <a:ext cx="254154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SESSION: 2023 - 2026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882189" y="4264874"/>
            <a:ext cx="137062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PROJECT TEAM: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111506" y="4513440"/>
            <a:ext cx="4346170" cy="117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5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Uzair Ghani </a:t>
            </a:r>
            <a:b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Muhammad Uzair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Umer Yasir </a:t>
            </a:r>
            <a:b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Muhammad Bilal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Muhammad Sufyan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972899" y="4328774"/>
            <a:ext cx="110441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SUPERVISOR: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284633" y="4546592"/>
            <a:ext cx="407670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500"/>
              </a:lnSpc>
            </a:pP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Mr. Hassan Ayaz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ICT </a:t>
            </a:r>
            <a:r>
              <a:rPr lang="en-US" sz="135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Department, CTTI Islamabad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740627" y="3123905"/>
            <a:ext cx="471074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1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Deepfake Image Detection System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3008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AB92D76-4EAB-07BB-44C6-07EC241B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2D7A6DB3-1126-8BD8-933D-228A745D7590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D2A00A38-DF58-D3ED-CF88-D94A9C4B920B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30F1F921-13D7-EDCD-D838-D840C8C498B6}"/>
              </a:ext>
            </a:extLst>
          </p:cNvPr>
          <p:cNvSpPr txBox="1"/>
          <p:nvPr/>
        </p:nvSpPr>
        <p:spPr>
          <a:xfrm>
            <a:off x="536714" y="1553582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Across every professional sector, the lack of verification tools is creating a "Post-Truth" environment.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153E210-5741-3C43-DFC7-E96371283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76" y="2441287"/>
            <a:ext cx="2193156" cy="16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297B39C6-EC97-6B8F-2DF1-8A389931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593" y="3039434"/>
            <a:ext cx="2193156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19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</a:t>
            </a:r>
            <a:r>
              <a:rPr kumimoji="0" lang="en-PK" altLang="en-PK" sz="19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Legal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Courts face fabricated </a:t>
            </a:r>
            <a:br>
              <a:rPr kumimoji="0" lang="en-US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"Deepfake Evidence".</a:t>
            </a:r>
            <a:endParaRPr kumimoji="0" lang="en-PK" altLang="en-PK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9E53EEA-9490-20EE-80A1-4EAA8D8D0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227" y="2574230"/>
            <a:ext cx="325480" cy="33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80800B0D-1749-5E47-7061-A17C0A2F5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559" y="2394670"/>
            <a:ext cx="2193156" cy="16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9">
            <a:extLst>
              <a:ext uri="{FF2B5EF4-FFF2-40B4-BE49-F238E27FC236}">
                <a16:creationId xmlns:a16="http://schemas.microsoft.com/office/drawing/2014/main" id="{AF07C9A7-74E7-8219-1F5B-309B67EA7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071" y="2929141"/>
            <a:ext cx="1992121" cy="185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</a:t>
            </a:r>
            <a:r>
              <a:rPr lang="en-US" sz="1900" b="1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Banking</a:t>
            </a:r>
            <a:endParaRPr lang="en-US" sz="800" b="1" dirty="0">
              <a:solidFill>
                <a:srgbClr val="1E3A8A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documents bypass</a:t>
            </a:r>
            <a:b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manual KYC checks.</a:t>
            </a:r>
          </a:p>
          <a:p>
            <a:br>
              <a:rPr lang="en-US" sz="2000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1E3A8A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9A2CA63C-550D-C20F-E430-E41D506C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244" y="2366077"/>
            <a:ext cx="2193156" cy="16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9">
            <a:extLst>
              <a:ext uri="{FF2B5EF4-FFF2-40B4-BE49-F238E27FC236}">
                <a16:creationId xmlns:a16="http://schemas.microsoft.com/office/drawing/2014/main" id="{D039FBB0-7C5C-918E-1AF5-04D9DA98E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473" y="2535191"/>
            <a:ext cx="2066937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15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</a:t>
            </a:r>
            <a:br>
              <a:rPr kumimoji="0" lang="en-US" altLang="en-PK" sz="1500" b="1" i="0" u="none" strike="noStrike" cap="none" normalizeH="0" baseline="0" dirty="0">
                <a:ln>
                  <a:noFill/>
                </a:ln>
                <a:solidFill>
                  <a:srgbClr val="1E3A8A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900" b="1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Journalism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documents bypass </a:t>
            </a:r>
            <a:b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manual KYC checks.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C47CCE52-9E28-452D-A75D-78508B88B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78" y="2311896"/>
            <a:ext cx="2193156" cy="16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F2D7AB7-A66C-5817-617F-B5AB153B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14" y="4828799"/>
            <a:ext cx="3342267" cy="162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C2407A94-B9EA-5656-DF54-61779FDF8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262" y="4794825"/>
            <a:ext cx="3371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25ACBF63-DDD9-6FCB-6EAA-CA6CC1C34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140" y="4821612"/>
            <a:ext cx="3371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1DA952B-B1F3-85BE-11A5-3CFF005441B8}"/>
              </a:ext>
            </a:extLst>
          </p:cNvPr>
          <p:cNvSpPr txBox="1"/>
          <p:nvPr/>
        </p:nvSpPr>
        <p:spPr>
          <a:xfrm>
            <a:off x="314180" y="4264976"/>
            <a:ext cx="854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Alarming Statistics</a:t>
            </a:r>
            <a:endParaRPr lang="en-US" sz="1800" b="0" dirty="0"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b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ECCD20C-E557-2C14-C61C-80AF3CF7CF9E}"/>
              </a:ext>
            </a:extLst>
          </p:cNvPr>
          <p:cNvSpPr txBox="1"/>
          <p:nvPr/>
        </p:nvSpPr>
        <p:spPr>
          <a:xfrm>
            <a:off x="4488743" y="4897846"/>
            <a:ext cx="31168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200" b="1" i="0" u="none" strike="noStrike" dirty="0">
                <a:solidFill>
                  <a:srgbClr val="D1303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&gt;50%</a:t>
            </a:r>
            <a:endParaRPr lang="en-US" sz="3200" b="0" dirty="0">
              <a:solidFill>
                <a:srgbClr val="D1303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br>
              <a:rPr lang="en-US" sz="1600" b="1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Human Inaccuracy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Trained experts fail at detection, equating to a random coin flip.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069874F-AD8A-04AF-51ED-B3688198DC0F}"/>
              </a:ext>
            </a:extLst>
          </p:cNvPr>
          <p:cNvSpPr txBox="1"/>
          <p:nvPr/>
        </p:nvSpPr>
        <p:spPr>
          <a:xfrm>
            <a:off x="8178258" y="4828799"/>
            <a:ext cx="31168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200" b="1" dirty="0">
                <a:solidFill>
                  <a:srgbClr val="D1303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  <a:r>
              <a:rPr lang="en-US" sz="3200" b="1" i="0" u="none" strike="noStrike" dirty="0">
                <a:solidFill>
                  <a:srgbClr val="D1303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0%</a:t>
            </a:r>
            <a:endParaRPr lang="en-US" sz="3200" b="0" dirty="0">
              <a:solidFill>
                <a:srgbClr val="D1303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br>
              <a:rPr lang="en-US" sz="1600" b="1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Synthetic Content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Analysts estimate nearly all online visual</a:t>
            </a:r>
            <a:b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media will be AI-generated by 2026.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20F56E7-B12A-7BA9-394B-67B99B5FE3F3}"/>
              </a:ext>
            </a:extLst>
          </p:cNvPr>
          <p:cNvSpPr txBox="1"/>
          <p:nvPr/>
        </p:nvSpPr>
        <p:spPr>
          <a:xfrm>
            <a:off x="741464" y="4873775"/>
            <a:ext cx="332204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600" b="1" i="0" u="none" strike="noStrike" dirty="0">
                <a:solidFill>
                  <a:srgbClr val="D1303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900%</a:t>
            </a:r>
            <a:endParaRPr lang="en-US" sz="36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endParaRPr lang="en-US" sz="1600" b="1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r>
              <a:rPr lang="en-US" sz="1600" b="1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Annual Growth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Flooding digital channels faster than</a:t>
            </a:r>
            <a:r>
              <a:rPr lang="en-US" sz="1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manual monitoring can handle.</a:t>
            </a:r>
            <a:endParaRPr lang="en-US" sz="12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b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Rectangle 21">
            <a:extLst>
              <a:ext uri="{FF2B5EF4-FFF2-40B4-BE49-F238E27FC236}">
                <a16:creationId xmlns:a16="http://schemas.microsoft.com/office/drawing/2014/main" id="{72781DCD-B459-8687-0222-47A55AC25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7405" y="2362383"/>
            <a:ext cx="1960793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  </a:t>
            </a: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PK" altLang="en-PK" sz="1800" b="1" dirty="0">
                <a:solidFill>
                  <a:srgbClr val="1E3A8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Social Media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Rapid spread of viral </a:t>
            </a:r>
            <a:br>
              <a:rPr kumimoji="0" lang="en-US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misinformation</a:t>
            </a:r>
            <a:r>
              <a:rPr kumimoji="0" lang="en-PK" altLang="en-PK" sz="1100" b="0" i="0" u="none" strike="noStrike" cap="none" normalizeH="0" baseline="0" dirty="0">
                <a:ln>
                  <a:noFill/>
                </a:ln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kumimoji="0" lang="en-PK" altLang="en-PK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16F4BA17-F4E5-8788-8F68-5C81A7FF3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163" y="2494787"/>
            <a:ext cx="343276" cy="39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9C6B5EF-78F8-75CA-B9B3-92DACBCB9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404" y="2535191"/>
            <a:ext cx="325480" cy="33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A142EC0-4DA6-D95A-EF47-933FACD44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307" y="2595943"/>
            <a:ext cx="341659" cy="34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70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0B0E40F-3030-573D-C839-59BA9B7B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12;p15" descr="image.png">
            <a:extLst>
              <a:ext uri="{FF2B5EF4-FFF2-40B4-BE49-F238E27FC236}">
                <a16:creationId xmlns:a16="http://schemas.microsoft.com/office/drawing/2014/main" id="{124AC76C-2163-0892-7FF3-437D632908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>
            <a:extLst>
              <a:ext uri="{FF2B5EF4-FFF2-40B4-BE49-F238E27FC236}">
                <a16:creationId xmlns:a16="http://schemas.microsoft.com/office/drawing/2014/main" id="{DE53E4E1-6C02-265F-BC5D-2F9E488600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888" y="2221323"/>
            <a:ext cx="4803768" cy="181458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A46DE2C0-A7D8-454F-240F-98930E08F4FF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23D696CB-B8CB-A80F-BE0F-18264F99D11C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5C44A5B9-EB3A-1FCA-F510-C9A76E644C1A}"/>
              </a:ext>
            </a:extLst>
          </p:cNvPr>
          <p:cNvSpPr txBox="1"/>
          <p:nvPr/>
        </p:nvSpPr>
        <p:spPr>
          <a:xfrm>
            <a:off x="762000" y="1457994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Meet 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Ahmad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, a Digital Forensic Specialist. He is the first line of defense, but he is currently fighting an impossible battle  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2EA7B311-2FA4-866F-3718-D343F3E557BC}"/>
              </a:ext>
            </a:extLst>
          </p:cNvPr>
          <p:cNvSpPr txBox="1"/>
          <p:nvPr/>
        </p:nvSpPr>
        <p:spPr>
          <a:xfrm>
            <a:off x="1085498" y="2362987"/>
            <a:ext cx="4406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DC262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Naked Eye Limitation</a:t>
            </a:r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E33BC385-0ED0-DB58-29D5-D581F4946E88}"/>
              </a:ext>
            </a:extLst>
          </p:cNvPr>
          <p:cNvSpPr txBox="1"/>
          <p:nvPr/>
        </p:nvSpPr>
        <p:spPr>
          <a:xfrm>
            <a:off x="1232253" y="2720162"/>
            <a:ext cx="440654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Modern AI forgeries are flawless. Human detection through pixel inspection is no longer effective.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Google Shape;98;p14" descr="image.png">
            <a:extLst>
              <a:ext uri="{FF2B5EF4-FFF2-40B4-BE49-F238E27FC236}">
                <a16:creationId xmlns:a16="http://schemas.microsoft.com/office/drawing/2014/main" id="{75572F6F-2796-78C7-91BA-C66DC95E0A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2734" y="2224016"/>
            <a:ext cx="4803768" cy="181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04;p14">
            <a:extLst>
              <a:ext uri="{FF2B5EF4-FFF2-40B4-BE49-F238E27FC236}">
                <a16:creationId xmlns:a16="http://schemas.microsoft.com/office/drawing/2014/main" id="{97A1D735-9099-164E-D05C-4378EC963156}"/>
              </a:ext>
            </a:extLst>
          </p:cNvPr>
          <p:cNvSpPr txBox="1"/>
          <p:nvPr/>
        </p:nvSpPr>
        <p:spPr>
          <a:xfrm>
            <a:off x="6501344" y="2365680"/>
            <a:ext cx="4406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9D7F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Weight of Responsibility</a:t>
            </a:r>
          </a:p>
        </p:txBody>
      </p:sp>
      <p:sp>
        <p:nvSpPr>
          <p:cNvPr id="24" name="Google Shape;105;p14">
            <a:extLst>
              <a:ext uri="{FF2B5EF4-FFF2-40B4-BE49-F238E27FC236}">
                <a16:creationId xmlns:a16="http://schemas.microsoft.com/office/drawing/2014/main" id="{3DC92436-8665-E44B-5F1C-B8AE02C6490D}"/>
              </a:ext>
            </a:extLst>
          </p:cNvPr>
          <p:cNvSpPr txBox="1"/>
          <p:nvPr/>
        </p:nvSpPr>
        <p:spPr>
          <a:xfrm>
            <a:off x="6648099" y="2722855"/>
            <a:ext cx="440654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Verifying a fake as "Real" cements fraudulent narratives into official records. There is zero room for human error.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8" name="Google Shape;98;p14" descr="image.png">
            <a:extLst>
              <a:ext uri="{FF2B5EF4-FFF2-40B4-BE49-F238E27FC236}">
                <a16:creationId xmlns:a16="http://schemas.microsoft.com/office/drawing/2014/main" id="{81FB824F-0B3D-920E-5031-6F60549633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2" y="4333124"/>
            <a:ext cx="4803768" cy="181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04;p14">
            <a:extLst>
              <a:ext uri="{FF2B5EF4-FFF2-40B4-BE49-F238E27FC236}">
                <a16:creationId xmlns:a16="http://schemas.microsoft.com/office/drawing/2014/main" id="{6DB6A55A-04DD-180E-2BFE-6AC693258C1A}"/>
              </a:ext>
            </a:extLst>
          </p:cNvPr>
          <p:cNvSpPr txBox="1"/>
          <p:nvPr/>
        </p:nvSpPr>
        <p:spPr>
          <a:xfrm>
            <a:off x="6523212" y="4474788"/>
            <a:ext cx="4406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DC262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Trust Crisis</a:t>
            </a:r>
          </a:p>
        </p:txBody>
      </p:sp>
      <p:sp>
        <p:nvSpPr>
          <p:cNvPr id="30" name="Google Shape;105;p14">
            <a:extLst>
              <a:ext uri="{FF2B5EF4-FFF2-40B4-BE49-F238E27FC236}">
                <a16:creationId xmlns:a16="http://schemas.microsoft.com/office/drawing/2014/main" id="{9553D2BD-99A3-A38B-BAAD-B2A8068D80E2}"/>
              </a:ext>
            </a:extLst>
          </p:cNvPr>
          <p:cNvSpPr txBox="1"/>
          <p:nvPr/>
        </p:nvSpPr>
        <p:spPr>
          <a:xfrm>
            <a:off x="6669967" y="4831963"/>
            <a:ext cx="440654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Relying on standard photo viewers leaves experts completely vulnerable to sophisticated AI forgeries.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1" name="Google Shape;98;p14" descr="image.png">
            <a:extLst>
              <a:ext uri="{FF2B5EF4-FFF2-40B4-BE49-F238E27FC236}">
                <a16:creationId xmlns:a16="http://schemas.microsoft.com/office/drawing/2014/main" id="{85569E31-BEDB-A2B1-F09C-AD7ED2F660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888" y="4333124"/>
            <a:ext cx="4803768" cy="18145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104;p14">
            <a:extLst>
              <a:ext uri="{FF2B5EF4-FFF2-40B4-BE49-F238E27FC236}">
                <a16:creationId xmlns:a16="http://schemas.microsoft.com/office/drawing/2014/main" id="{0107E402-E6CC-E693-3D81-3C54510EBF60}"/>
              </a:ext>
            </a:extLst>
          </p:cNvPr>
          <p:cNvSpPr txBox="1"/>
          <p:nvPr/>
        </p:nvSpPr>
        <p:spPr>
          <a:xfrm>
            <a:off x="1085498" y="4474788"/>
            <a:ext cx="4406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9D7F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Technology Void</a:t>
            </a:r>
          </a:p>
        </p:txBody>
      </p:sp>
      <p:sp>
        <p:nvSpPr>
          <p:cNvPr id="108" name="Google Shape;105;p14">
            <a:extLst>
              <a:ext uri="{FF2B5EF4-FFF2-40B4-BE49-F238E27FC236}">
                <a16:creationId xmlns:a16="http://schemas.microsoft.com/office/drawing/2014/main" id="{24315F5D-ACFF-9806-B9B8-4B5DBE8F3229}"/>
              </a:ext>
            </a:extLst>
          </p:cNvPr>
          <p:cNvSpPr txBox="1"/>
          <p:nvPr/>
        </p:nvSpPr>
        <p:spPr>
          <a:xfrm>
            <a:off x="1232253" y="4831963"/>
            <a:ext cx="44065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Experts are increasingly forced to guess. In digital forensics, guessing is a systemic failure.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Introduction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7112" y="1790700"/>
            <a:ext cx="10957775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For professionals like Ahmad, who did not even know a solution was possible, </a:t>
            </a: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Synthetica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serves as the first line of defense.</a:t>
            </a:r>
            <a:br>
              <a:rPr lang="en-US" sz="2000" dirty="0">
                <a:latin typeface="+mn-lt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2000" dirty="0"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1800" b="1" dirty="0">
              <a:solidFill>
                <a:srgbClr val="1E3A8A"/>
              </a:solidFill>
              <a:latin typeface="+mn-lt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 Guesswork to Science: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US" sz="1800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t is a high-performance detective engine designed to tell the investigator exactly what they cannot see: Is this image Real or Fake</a:t>
            </a:r>
            <a:r>
              <a:rPr lang="en-US" sz="1600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.</a:t>
            </a:r>
            <a:endParaRPr lang="en-US" sz="1600" b="1" dirty="0">
              <a:solidFill>
                <a:srgbClr val="1E3A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New Standard of Truth:</a:t>
            </a:r>
            <a:r>
              <a:rPr lang="en-US" sz="2000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/>
              <a:t>Delivers a 98.46% validated accuracy rate, establishing a scientific foundation for forensic reporting.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Immediate Accessibility: </a:t>
            </a:r>
            <a:r>
              <a:rPr lang="en-US" sz="1800" dirty="0"/>
              <a:t>Accessible by web, the portal processes uploads and generates </a:t>
            </a:r>
            <a:br>
              <a:rPr lang="en-US" sz="1800" dirty="0"/>
            </a:br>
            <a:r>
              <a:rPr lang="en-US" sz="1800" dirty="0"/>
              <a:t>verdicts in under 14 seconds.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Empowering the Expert: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>
                <a:ea typeface="Lato" panose="020F0502020204030203" pitchFamily="34" charset="0"/>
                <a:cs typeface="Lato" panose="020F0502020204030203" pitchFamily="34" charset="0"/>
              </a:rPr>
              <a:t>It gives him the "Digital Microscope" he was missing, allowing him to regain control over the integrity of his work.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B8E5E71-78E1-FAAD-FC56-693F70AC6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42" y="1890195"/>
            <a:ext cx="9525000" cy="429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Google Shape;128;p16"/>
          <p:cNvSpPr txBox="1"/>
          <p:nvPr/>
        </p:nvSpPr>
        <p:spPr>
          <a:xfrm>
            <a:off x="733425" y="554831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Aims &amp; Objectives</a:t>
            </a:r>
            <a:endParaRPr lang="en-US" dirty="0"/>
          </a:p>
        </p:txBody>
      </p:sp>
      <p:sp>
        <p:nvSpPr>
          <p:cNvPr id="129" name="Google Shape;129;p16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A3F4A-D2AD-C34B-2F23-E1CC1E65330F}"/>
              </a:ext>
            </a:extLst>
          </p:cNvPr>
          <p:cNvSpPr txBox="1"/>
          <p:nvPr/>
        </p:nvSpPr>
        <p:spPr>
          <a:xfrm>
            <a:off x="2905593" y="160914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r>
              <a:rPr lang="en-US" sz="1800" b="1" dirty="0">
                <a:solidFill>
                  <a:srgbClr val="334155"/>
                </a:solidFill>
                <a:latin typeface="Inter"/>
              </a:rPr>
              <a:t>Performance:</a:t>
            </a:r>
            <a:r>
              <a:rPr lang="en-US" sz="1800" dirty="0">
                <a:solidFill>
                  <a:srgbClr val="334155"/>
                </a:solidFill>
                <a:latin typeface="Inter"/>
              </a:rPr>
              <a:t> Zero latency via localized inference.</a:t>
            </a:r>
            <a:b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</a:br>
            <a:b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</a:br>
            <a:b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</a:b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Detection: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Achieve &gt;98% accuracy.</a:t>
            </a:r>
            <a:endParaRPr lang="en-US" sz="1800" b="0" dirty="0">
              <a:effectLst/>
            </a:endParaRPr>
          </a:p>
          <a:p>
            <a:pPr>
              <a:buNone/>
            </a:pP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Pipeline: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Implement a Double-Tier system for result reliability</a:t>
            </a:r>
            <a:endParaRPr lang="en-US" sz="1800" b="0" dirty="0">
              <a:effectLst/>
            </a:endParaRPr>
          </a:p>
          <a:p>
            <a:pPr>
              <a:buNone/>
            </a:pP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Explainability: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Generate Grad-CAM visual heatmaps.</a:t>
            </a:r>
            <a:endParaRPr lang="en-US" sz="1800" b="0" dirty="0">
              <a:effectLst/>
            </a:endParaRPr>
          </a:p>
          <a:p>
            <a:pPr>
              <a:buNone/>
            </a:pPr>
            <a:br>
              <a:rPr lang="en-US" sz="1800" b="0" dirty="0">
                <a:effectLst/>
              </a:rPr>
            </a:br>
            <a:endParaRPr lang="en-US" sz="1800" b="0" dirty="0">
              <a:effectLst/>
            </a:endParaRPr>
          </a:p>
          <a:p>
            <a:pPr rtl="0">
              <a:buNone/>
            </a:pPr>
            <a:r>
              <a:rPr lang="en-US" sz="1800" b="1" i="0" u="none" strike="noStrike" dirty="0">
                <a:solidFill>
                  <a:srgbClr val="334155"/>
                </a:solidFill>
                <a:effectLst/>
                <a:latin typeface="Inter"/>
              </a:rPr>
              <a:t>Persistence:</a:t>
            </a: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Inter"/>
              </a:rPr>
              <a:t> Cloud-based forensic audit logs.</a:t>
            </a:r>
            <a:endParaRPr lang="en-US" sz="1800" b="0" dirty="0">
              <a:effectLst/>
            </a:endParaRPr>
          </a:p>
          <a:p>
            <a:pPr>
              <a:buNone/>
            </a:pPr>
            <a:br>
              <a:rPr lang="en-US" sz="1800" dirty="0"/>
            </a:br>
            <a:endParaRPr lang="en-PK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BD527-3A90-3997-8CA4-362F9FBCB51F}"/>
              </a:ext>
            </a:extLst>
          </p:cNvPr>
          <p:cNvSpPr txBox="1"/>
          <p:nvPr/>
        </p:nvSpPr>
        <p:spPr>
          <a:xfrm>
            <a:off x="3048000" y="32779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b="0" dirty="0">
                <a:effectLst/>
              </a:rPr>
              <a:t> </a:t>
            </a:r>
            <a:endParaRPr lang="en-PK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52EC9A1-94FF-9279-D6F2-8864BBF16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979" y="2213102"/>
            <a:ext cx="284101" cy="30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EF307A8-09A1-33B4-8451-9EF1125C6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979" y="2999261"/>
            <a:ext cx="319614" cy="30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0989260-485F-2F43-F6A1-7E2C7B27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43" y="3824305"/>
            <a:ext cx="319614" cy="30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1EE94BE1-E144-3DF8-DEF4-F32798718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43" y="4630471"/>
            <a:ext cx="301857" cy="34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8241C320-8342-68BD-DE71-E78F85A11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587" y="5433626"/>
            <a:ext cx="319613" cy="27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44;p23" descr="image.png">
            <a:extLst>
              <a:ext uri="{FF2B5EF4-FFF2-40B4-BE49-F238E27FC236}">
                <a16:creationId xmlns:a16="http://schemas.microsoft.com/office/drawing/2014/main" id="{46DCF879-EC19-F994-E8D0-5C6E6CC719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99" y="1506350"/>
            <a:ext cx="10139463" cy="153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16683"/>
            <a:ext cx="10139462" cy="153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676" y="4956683"/>
            <a:ext cx="10118785" cy="153040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 dirty="0"/>
          </a:p>
        </p:txBody>
      </p:sp>
      <p:sp>
        <p:nvSpPr>
          <p:cNvPr id="151" name="Google Shape;151;p17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057274" y="1776843"/>
            <a:ext cx="943416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lvl="0"/>
            <a:r>
              <a:rPr lang="en-US" sz="15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Beyond the "Black Box" (Explainable AI)</a:t>
            </a:r>
            <a:endParaRPr sz="1500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123197" y="2134665"/>
            <a:ext cx="9482992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Moves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beyond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binary detection by providing visual Grad-CAM heatmaps and easy to understand graphs to explicitly prove where and how an image was manipulated.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017272" y="3451332"/>
            <a:ext cx="984418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lvl="0"/>
            <a:r>
              <a:rPr lang="en-US" sz="15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Sovereign Balanced Ensemble (SBE)</a:t>
            </a:r>
            <a:endParaRPr sz="1500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057275" y="3810670"/>
            <a:ext cx="95489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Calculates a highly robust final verdict using a refined mathematical formula combining the models and different libraries</a:t>
            </a:r>
            <a:endParaRPr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1097277" y="5196325"/>
            <a:ext cx="97641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Cross-Platform Availability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1114649" y="5531954"/>
            <a:ext cx="929938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Features a responsive web architecture ensuring full functionality across both high-end desktop workstations and Android mobile devices.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354" y="5196325"/>
            <a:ext cx="223081" cy="2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3B3D196-BDAF-684D-6CEC-F7ABFD982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6" y="1776843"/>
            <a:ext cx="25717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509848-FBB7-4796-13B7-B2E802D7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6" y="3491935"/>
            <a:ext cx="285750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0871" y="2717631"/>
            <a:ext cx="2857499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0457" y="2717630"/>
            <a:ext cx="2857499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4587" y="2722388"/>
            <a:ext cx="2857499" cy="124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Aggregation</a:t>
            </a:r>
          </a:p>
        </p:txBody>
      </p:sp>
      <p:sp>
        <p:nvSpPr>
          <p:cNvPr id="170" name="Google Shape;170;p18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61999" y="1755428"/>
            <a:ext cx="10668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Our system was trained on an aggregated 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master-set of 227,000 images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, moving beyond small academic samples to ensure real-world robustness:</a:t>
            </a:r>
            <a:endParaRPr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761999" y="5595599"/>
            <a:ext cx="10668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Filtering</a:t>
            </a:r>
            <a:r>
              <a:rPr lang="en-US" sz="1500" b="1" i="1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Process:</a:t>
            </a:r>
            <a:r>
              <a:rPr lang="en-US" sz="1500" b="0" i="1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Every image passed through a filter to remove duplicates and a recursive search to purge corrupted data tensors.</a:t>
            </a:r>
            <a:endParaRPr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194199" y="2915989"/>
            <a:ext cx="25083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9D7F43"/>
                </a:solidFill>
                <a:latin typeface="Poppins"/>
                <a:ea typeface="Poppins"/>
                <a:cs typeface="Poppins"/>
                <a:sym typeface="Poppins"/>
              </a:rPr>
              <a:t>20K</a:t>
            </a:r>
            <a:endParaRPr sz="1050" dirty="0">
              <a:solidFill>
                <a:srgbClr val="9D7F43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253923" y="3297260"/>
            <a:ext cx="238893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prithivsakthiur/deepfake-vs-real-20k</a:t>
            </a:r>
          </a:p>
        </p:txBody>
      </p:sp>
      <p:sp>
        <p:nvSpPr>
          <p:cNvPr id="175" name="Google Shape;175;p18"/>
          <p:cNvSpPr txBox="1"/>
          <p:nvPr/>
        </p:nvSpPr>
        <p:spPr>
          <a:xfrm>
            <a:off x="4471906" y="2864993"/>
            <a:ext cx="24836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7K</a:t>
            </a:r>
            <a:endParaRPr sz="1050" dirty="0">
              <a:solidFill>
                <a:srgbClr val="FF0000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531040" y="3260809"/>
            <a:ext cx="23653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prithivsakthiur/deepfake-vs-real-8k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683150" y="2887054"/>
            <a:ext cx="29803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200K</a:t>
            </a:r>
            <a:endParaRPr sz="1050" dirty="0"/>
          </a:p>
        </p:txBody>
      </p:sp>
      <p:pic>
        <p:nvPicPr>
          <p:cNvPr id="2" name="Google Shape;166;p18" descr="image.png">
            <a:extLst>
              <a:ext uri="{FF2B5EF4-FFF2-40B4-BE49-F238E27FC236}">
                <a16:creationId xmlns:a16="http://schemas.microsoft.com/office/drawing/2014/main" id="{362BF3B9-CC71-7B2D-9E6C-443A70B632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8388" y="4203174"/>
            <a:ext cx="6587950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2298332" y="4809532"/>
            <a:ext cx="67380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 scraped Real and High-quality 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AI-generated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visual content from </a:t>
            </a:r>
            <a:b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current High-end models.</a:t>
            </a:r>
            <a:endParaRPr sz="1200" dirty="0"/>
          </a:p>
        </p:txBody>
      </p:sp>
      <p:sp>
        <p:nvSpPr>
          <p:cNvPr id="3" name="Google Shape;173;p18">
            <a:extLst>
              <a:ext uri="{FF2B5EF4-FFF2-40B4-BE49-F238E27FC236}">
                <a16:creationId xmlns:a16="http://schemas.microsoft.com/office/drawing/2014/main" id="{6AE8D958-F4A9-FFFB-7B53-D97688A4B2CC}"/>
              </a:ext>
            </a:extLst>
          </p:cNvPr>
          <p:cNvSpPr txBox="1"/>
          <p:nvPr/>
        </p:nvSpPr>
        <p:spPr>
          <a:xfrm>
            <a:off x="4488173" y="4321316"/>
            <a:ext cx="2508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24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0K</a:t>
            </a:r>
            <a:endParaRPr sz="1100" dirty="0"/>
          </a:p>
        </p:txBody>
      </p:sp>
      <p:sp>
        <p:nvSpPr>
          <p:cNvPr id="4" name="Google Shape;176;p18">
            <a:extLst>
              <a:ext uri="{FF2B5EF4-FFF2-40B4-BE49-F238E27FC236}">
                <a16:creationId xmlns:a16="http://schemas.microsoft.com/office/drawing/2014/main" id="{1A6636E4-CC07-CFFE-AF9A-FE21D2F17A49}"/>
              </a:ext>
            </a:extLst>
          </p:cNvPr>
          <p:cNvSpPr txBox="1"/>
          <p:nvPr/>
        </p:nvSpPr>
        <p:spPr>
          <a:xfrm>
            <a:off x="7990649" y="3365236"/>
            <a:ext cx="23653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muhammadbilal6305/200k-real-vs-ai-visuals-by-mbilal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Preprocessing &amp; Selection</a:t>
            </a:r>
            <a:endParaRPr dirty="0"/>
          </a:p>
        </p:txBody>
      </p:sp>
      <p:sp>
        <p:nvSpPr>
          <p:cNvPr id="185" name="Google Shape;185;p19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EC3DC-065D-6DF5-50FB-E790AA2A2A6B}"/>
              </a:ext>
            </a:extLst>
          </p:cNvPr>
          <p:cNvSpPr txBox="1"/>
          <p:nvPr/>
        </p:nvSpPr>
        <p:spPr>
          <a:xfrm>
            <a:off x="595489" y="1679405"/>
            <a:ext cx="1136791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Model Selection: Xception Core</a:t>
            </a:r>
            <a:endParaRPr lang="en-US" sz="1600" dirty="0">
              <a:solidFill>
                <a:srgbClr val="1E3A8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  <a:r>
              <a:rPr lang="en-US" dirty="0"/>
              <a:t>Powered by the </a:t>
            </a:r>
            <a:r>
              <a:rPr lang="en-US" b="1" dirty="0"/>
              <a:t>Xception architecture</a:t>
            </a:r>
            <a:r>
              <a:rPr lang="en-US" dirty="0"/>
              <a:t> which is an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Maps spatial (chin, eyes etc.) and cross-channel (colors) correlations separately, making it highly sensitive to unnatural pixel patterns.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r>
              <a:rPr lang="en-US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Cloud Fine-Tuning Environment</a:t>
            </a:r>
            <a:endParaRPr lang="en-US" sz="1600" dirty="0">
              <a:solidFill>
                <a:srgbClr val="1E3A8A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Trained on high-VRAM </a:t>
            </a:r>
            <a:r>
              <a:rPr lang="en-US" b="1" dirty="0"/>
              <a:t>NVIDIA T4 Tensor Core GPUs </a:t>
            </a:r>
            <a:r>
              <a:rPr lang="en-US" dirty="0"/>
              <a:t>provided by Colab.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Unfrozen base layers adapted with low learning rates to catch microscopic frequency artifacts invisible to the human eye.</a:t>
            </a:r>
          </a:p>
        </p:txBody>
      </p:sp>
      <p:pic>
        <p:nvPicPr>
          <p:cNvPr id="2" name="Google Shape;166;p18" descr="image.png">
            <a:extLst>
              <a:ext uri="{FF2B5EF4-FFF2-40B4-BE49-F238E27FC236}">
                <a16:creationId xmlns:a16="http://schemas.microsoft.com/office/drawing/2014/main" id="{5278C9DB-ADEF-A3B8-71BC-2DF70B3F71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322" y="2670548"/>
            <a:ext cx="2074083" cy="87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6;p18" descr="image.png">
            <a:extLst>
              <a:ext uri="{FF2B5EF4-FFF2-40B4-BE49-F238E27FC236}">
                <a16:creationId xmlns:a16="http://schemas.microsoft.com/office/drawing/2014/main" id="{07D84932-5500-B2D2-876E-894A5A994A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5572" y="2670548"/>
            <a:ext cx="2074083" cy="87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6;p18" descr="image.png">
            <a:extLst>
              <a:ext uri="{FF2B5EF4-FFF2-40B4-BE49-F238E27FC236}">
                <a16:creationId xmlns:a16="http://schemas.microsoft.com/office/drawing/2014/main" id="{41358053-D8CE-CFA5-86C3-FDC8037BE2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670548"/>
            <a:ext cx="2074083" cy="87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6;p18" descr="image.png">
            <a:extLst>
              <a:ext uri="{FF2B5EF4-FFF2-40B4-BE49-F238E27FC236}">
                <a16:creationId xmlns:a16="http://schemas.microsoft.com/office/drawing/2014/main" id="{2065CF0D-9ADE-B9E3-B509-A2E9203972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6652" y="2670549"/>
            <a:ext cx="2074083" cy="87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3;p18">
            <a:extLst>
              <a:ext uri="{FF2B5EF4-FFF2-40B4-BE49-F238E27FC236}">
                <a16:creationId xmlns:a16="http://schemas.microsoft.com/office/drawing/2014/main" id="{9CA48B30-6E60-46D2-981E-B3B1502AF200}"/>
              </a:ext>
            </a:extLst>
          </p:cNvPr>
          <p:cNvSpPr txBox="1"/>
          <p:nvPr/>
        </p:nvSpPr>
        <p:spPr>
          <a:xfrm>
            <a:off x="6020053" y="2788633"/>
            <a:ext cx="215003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Face </a:t>
            </a:r>
            <a:br>
              <a:rPr lang="en-US" sz="18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8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Geometry</a:t>
            </a:r>
            <a:endParaRPr lang="en-US" sz="1000" dirty="0">
              <a:solidFill>
                <a:srgbClr val="16A34A"/>
              </a:solidFill>
            </a:endParaRPr>
          </a:p>
        </p:txBody>
      </p:sp>
      <p:sp>
        <p:nvSpPr>
          <p:cNvPr id="11" name="Google Shape;173;p18">
            <a:extLst>
              <a:ext uri="{FF2B5EF4-FFF2-40B4-BE49-F238E27FC236}">
                <a16:creationId xmlns:a16="http://schemas.microsoft.com/office/drawing/2014/main" id="{4F75BA56-5033-3B49-6434-0E30CCA13C2A}"/>
              </a:ext>
            </a:extLst>
          </p:cNvPr>
          <p:cNvSpPr txBox="1"/>
          <p:nvPr/>
        </p:nvSpPr>
        <p:spPr>
          <a:xfrm>
            <a:off x="3158093" y="2930101"/>
            <a:ext cx="25083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Eyes</a:t>
            </a:r>
            <a:endParaRPr lang="en-US" sz="1100" dirty="0">
              <a:solidFill>
                <a:srgbClr val="16A34A"/>
              </a:solidFill>
            </a:endParaRPr>
          </a:p>
        </p:txBody>
      </p:sp>
      <p:sp>
        <p:nvSpPr>
          <p:cNvPr id="12" name="Google Shape;173;p18">
            <a:extLst>
              <a:ext uri="{FF2B5EF4-FFF2-40B4-BE49-F238E27FC236}">
                <a16:creationId xmlns:a16="http://schemas.microsoft.com/office/drawing/2014/main" id="{79FE88EB-6E89-7BA9-AFB7-ED3D324C3995}"/>
              </a:ext>
            </a:extLst>
          </p:cNvPr>
          <p:cNvSpPr txBox="1"/>
          <p:nvPr/>
        </p:nvSpPr>
        <p:spPr>
          <a:xfrm>
            <a:off x="8548423" y="2954802"/>
            <a:ext cx="25083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Lighting</a:t>
            </a:r>
            <a:endParaRPr sz="1050" dirty="0">
              <a:solidFill>
                <a:srgbClr val="16A34A"/>
              </a:solidFill>
            </a:endParaRPr>
          </a:p>
        </p:txBody>
      </p:sp>
      <p:sp>
        <p:nvSpPr>
          <p:cNvPr id="13" name="Google Shape;173;p18">
            <a:extLst>
              <a:ext uri="{FF2B5EF4-FFF2-40B4-BE49-F238E27FC236}">
                <a16:creationId xmlns:a16="http://schemas.microsoft.com/office/drawing/2014/main" id="{3BAD4C7A-C6D0-F2AD-F6B5-48494A471535}"/>
              </a:ext>
            </a:extLst>
          </p:cNvPr>
          <p:cNvSpPr txBox="1"/>
          <p:nvPr/>
        </p:nvSpPr>
        <p:spPr>
          <a:xfrm>
            <a:off x="461585" y="2930101"/>
            <a:ext cx="25083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Texture</a:t>
            </a:r>
            <a:endParaRPr sz="1100" dirty="0">
              <a:solidFill>
                <a:srgbClr val="16A34A"/>
              </a:solidFill>
            </a:endParaRPr>
          </a:p>
        </p:txBody>
      </p:sp>
      <p:pic>
        <p:nvPicPr>
          <p:cNvPr id="14" name="Google Shape;166;p18" descr="image.png">
            <a:extLst>
              <a:ext uri="{FF2B5EF4-FFF2-40B4-BE49-F238E27FC236}">
                <a16:creationId xmlns:a16="http://schemas.microsoft.com/office/drawing/2014/main" id="{22AF00DF-8B56-14FB-0E8B-4F3AA2BF3A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2539" y="5145434"/>
            <a:ext cx="4391994" cy="133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6;p18" descr="image.png">
            <a:extLst>
              <a:ext uri="{FF2B5EF4-FFF2-40B4-BE49-F238E27FC236}">
                <a16:creationId xmlns:a16="http://schemas.microsoft.com/office/drawing/2014/main" id="{FBB888D6-0C82-37CD-C048-24DF4608DC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2496" y="5139832"/>
            <a:ext cx="4391994" cy="1331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73;p18">
            <a:extLst>
              <a:ext uri="{FF2B5EF4-FFF2-40B4-BE49-F238E27FC236}">
                <a16:creationId xmlns:a16="http://schemas.microsoft.com/office/drawing/2014/main" id="{EC2BE13C-1A84-5EE8-66D6-9A7BBBE10F5E}"/>
              </a:ext>
            </a:extLst>
          </p:cNvPr>
          <p:cNvSpPr txBox="1"/>
          <p:nvPr/>
        </p:nvSpPr>
        <p:spPr>
          <a:xfrm>
            <a:off x="1183357" y="5371835"/>
            <a:ext cx="2508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Xception (Model 1)</a:t>
            </a:r>
            <a:endParaRPr sz="1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Google Shape;173;p18">
            <a:extLst>
              <a:ext uri="{FF2B5EF4-FFF2-40B4-BE49-F238E27FC236}">
                <a16:creationId xmlns:a16="http://schemas.microsoft.com/office/drawing/2014/main" id="{FC5F12E4-2E21-8CD3-908F-1FD9DAD6161B}"/>
              </a:ext>
            </a:extLst>
          </p:cNvPr>
          <p:cNvSpPr txBox="1"/>
          <p:nvPr/>
        </p:nvSpPr>
        <p:spPr>
          <a:xfrm>
            <a:off x="6429887" y="5310804"/>
            <a:ext cx="2508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Xception ++ (Model 2)</a:t>
            </a:r>
            <a:endParaRPr sz="16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Google Shape;173;p18">
            <a:extLst>
              <a:ext uri="{FF2B5EF4-FFF2-40B4-BE49-F238E27FC236}">
                <a16:creationId xmlns:a16="http://schemas.microsoft.com/office/drawing/2014/main" id="{BB958B1D-3ED8-3446-A1D6-6CCA83802F38}"/>
              </a:ext>
            </a:extLst>
          </p:cNvPr>
          <p:cNvSpPr txBox="1"/>
          <p:nvPr/>
        </p:nvSpPr>
        <p:spPr>
          <a:xfrm>
            <a:off x="1557037" y="5790877"/>
            <a:ext cx="36392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model trained on publicly available dataset</a:t>
            </a:r>
            <a:endParaRPr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Google Shape;173;p18">
            <a:extLst>
              <a:ext uri="{FF2B5EF4-FFF2-40B4-BE49-F238E27FC236}">
                <a16:creationId xmlns:a16="http://schemas.microsoft.com/office/drawing/2014/main" id="{77216D52-1909-7A55-A3C7-E2A4073AA0C1}"/>
              </a:ext>
            </a:extLst>
          </p:cNvPr>
          <p:cNvSpPr txBox="1"/>
          <p:nvPr/>
        </p:nvSpPr>
        <p:spPr>
          <a:xfrm>
            <a:off x="6586237" y="5712117"/>
            <a:ext cx="36392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model trained specially on high-quality self collected dataset</a:t>
            </a:r>
            <a:endParaRPr sz="16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47950"/>
            <a:ext cx="5095875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47950"/>
            <a:ext cx="5095875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Logic Gates</a:t>
            </a:r>
            <a:endParaRPr dirty="0"/>
          </a:p>
        </p:txBody>
      </p:sp>
      <p:sp>
        <p:nvSpPr>
          <p:cNvPr id="200" name="Google Shape;200;p20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1885950"/>
            <a:ext cx="10668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eliminate false positives and handle poor data quality, two critical "gates" were engineered into the system:</a:t>
            </a:r>
            <a:endParaRPr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9432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057275" y="3429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Non-Face Filter</a:t>
            </a:r>
            <a:endParaRPr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1057275" y="3952875"/>
            <a:ext cx="45053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Uses MTCNN-based detection. If the system fails to detect a high-confidence human face, it bypasses neural inference to classify the content as "Non-Photographic."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94322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6629400" y="34290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Quality-Aware Logic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6629400" y="3952875"/>
            <a:ext cx="45053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Solves the "WhatsApp Problem." It crops the human face then calculates sharpness. If quality is too low, it issues a reliability warning to the investigator.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62200"/>
            <a:ext cx="106680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181475"/>
            <a:ext cx="1066800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Forensic Pipeline</a:t>
            </a:r>
            <a:endParaRPr dirty="0"/>
          </a:p>
        </p:txBody>
      </p:sp>
      <p:sp>
        <p:nvSpPr>
          <p:cNvPr id="216" name="Google Shape;216;p21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02088" y="1568679"/>
            <a:ext cx="11734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Every image undergoes a </a:t>
            </a:r>
            <a:r>
              <a:rPr lang="en-US" b="1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"Double-Tier" interrogation</a:t>
            </a:r>
            <a:r>
              <a:rPr lang="en-US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to ensure the final verdict is grounded in multiple forms of evidence:</a:t>
            </a:r>
            <a:endParaRPr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123949" y="2657475"/>
            <a:ext cx="31904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E3A8A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TIER 1: METADATA &amp; PROVENANCE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123950" y="3009900"/>
            <a:ext cx="100107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Scans internal headers for "AI Signatures" (Midjourney, DALL-E) and C2PA cryptographic manifests. If Tier 1 flags a manifest, the AI core is bypassed for an instant FAKE verdict.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123949" y="4476750"/>
            <a:ext cx="31904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E3A8A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TIER 2: NEURAL &amp; SPECTRAL SCAN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123950" y="4829175"/>
            <a:ext cx="100107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Triggered if metadata is clean. The Xception Core maps structural pixel patterns while the Frequency Analysis engine detects invisible spectral artifacts in the wave domain.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30;p22" descr="image.png">
            <a:extLst>
              <a:ext uri="{FF2B5EF4-FFF2-40B4-BE49-F238E27FC236}">
                <a16:creationId xmlns:a16="http://schemas.microsoft.com/office/drawing/2014/main" id="{324196D3-F9F1-B7A4-20D0-EE56EE49D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4990" y="2987853"/>
            <a:ext cx="2703168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44;p23" descr="image.png">
            <a:extLst>
              <a:ext uri="{FF2B5EF4-FFF2-40B4-BE49-F238E27FC236}">
                <a16:creationId xmlns:a16="http://schemas.microsoft.com/office/drawing/2014/main" id="{B56EF21B-EDD4-0D3D-243E-1B6134D464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1896" y="2992908"/>
            <a:ext cx="2703168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Final Answer Calculation</a:t>
            </a:r>
            <a:endParaRPr dirty="0"/>
          </a:p>
        </p:txBody>
      </p:sp>
      <p:sp>
        <p:nvSpPr>
          <p:cNvPr id="232" name="Google Shape;232;p22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62000" y="1885950"/>
            <a:ext cx="10668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To prevent "Neural Overconfidence," we refined the weighting to a </a:t>
            </a:r>
            <a:r>
              <a:rPr lang="en-US" b="1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35/35/</a:t>
            </a: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1</a:t>
            </a:r>
            <a:r>
              <a:rPr lang="en-US" b="1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0/10/10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distribution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. This ensures physical math carries equal weight to AI intuition.</a:t>
            </a:r>
            <a:endParaRPr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8972193" y="3189064"/>
            <a:ext cx="19139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% Edge</a:t>
            </a: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Logic</a:t>
            </a:r>
            <a:endParaRPr dirty="0"/>
          </a:p>
        </p:txBody>
      </p:sp>
      <p:sp>
        <p:nvSpPr>
          <p:cNvPr id="239" name="Google Shape;239;p22"/>
          <p:cNvSpPr txBox="1"/>
          <p:nvPr/>
        </p:nvSpPr>
        <p:spPr>
          <a:xfrm>
            <a:off x="8972194" y="3630161"/>
            <a:ext cx="2838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ELA-based search for boundary and compression inconsistency.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820DA1-C94D-F553-AB82-14D15308A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978662"/>
            <a:ext cx="106680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D51B5-6FFF-C8BA-9F64-BAFEA1FCCF66}"/>
              </a:ext>
            </a:extLst>
          </p:cNvPr>
          <p:cNvSpPr txBox="1"/>
          <p:nvPr/>
        </p:nvSpPr>
        <p:spPr>
          <a:xfrm>
            <a:off x="1134093" y="5178052"/>
            <a:ext cx="99238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Verdict = (</a:t>
            </a:r>
            <a:r>
              <a:rPr lang="it-IT" sz="2200" b="1" dirty="0">
                <a:solidFill>
                  <a:srgbClr val="FFFFFF"/>
                </a:solidFill>
                <a:latin typeface="Arial" panose="020B0604020202020204" pitchFamily="34" charset="0"/>
              </a:rPr>
              <a:t>Xception</a:t>
            </a:r>
            <a: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× 0.</a:t>
            </a:r>
            <a:r>
              <a:rPr lang="it-IT" sz="2200" b="1" dirty="0">
                <a:solidFill>
                  <a:srgbClr val="FFFFFF"/>
                </a:solidFill>
                <a:latin typeface="Arial" panose="020B0604020202020204" pitchFamily="34" charset="0"/>
              </a:rPr>
              <a:t>35</a:t>
            </a:r>
            <a: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 + </a:t>
            </a:r>
            <a:r>
              <a:rPr lang="it-IT" sz="2200" b="1" dirty="0">
                <a:solidFill>
                  <a:srgbClr val="FFFFFF"/>
                </a:solidFill>
                <a:latin typeface="Arial" panose="020B0604020202020204" pitchFamily="34" charset="0"/>
              </a:rPr>
              <a:t>(Xception++ × 0.35) + </a:t>
            </a:r>
            <a: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(Freq × 0.1) +</a:t>
            </a:r>
            <a:b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r>
              <a:rPr lang="it-IT" sz="2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(Edge × 0.1) + (Noise x 0.1)</a:t>
            </a:r>
            <a:endParaRPr lang="it-IT" sz="2200" b="0" dirty="0">
              <a:effectLst/>
            </a:endParaRPr>
          </a:p>
          <a:p>
            <a:pPr>
              <a:buNone/>
            </a:pPr>
            <a:br>
              <a:rPr lang="it-IT" sz="2200" dirty="0"/>
            </a:br>
            <a:endParaRPr lang="en-PK" sz="2200" dirty="0"/>
          </a:p>
        </p:txBody>
      </p:sp>
      <p:pic>
        <p:nvPicPr>
          <p:cNvPr id="3" name="Google Shape;228;p22" descr="image.png">
            <a:extLst>
              <a:ext uri="{FF2B5EF4-FFF2-40B4-BE49-F238E27FC236}">
                <a16:creationId xmlns:a16="http://schemas.microsoft.com/office/drawing/2014/main" id="{D47E6AA3-3BD2-6F4E-6246-6DB592A114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356" y="2987854"/>
            <a:ext cx="2610557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9;p22" descr="image.png">
            <a:extLst>
              <a:ext uri="{FF2B5EF4-FFF2-40B4-BE49-F238E27FC236}">
                <a16:creationId xmlns:a16="http://schemas.microsoft.com/office/drawing/2014/main" id="{253D8CBD-5A95-F553-5A5A-D2C6EA8954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7010" y="2987853"/>
            <a:ext cx="2513893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4;p22">
            <a:extLst>
              <a:ext uri="{FF2B5EF4-FFF2-40B4-BE49-F238E27FC236}">
                <a16:creationId xmlns:a16="http://schemas.microsoft.com/office/drawing/2014/main" id="{95A78201-0D39-1D79-B1E6-A726532524D7}"/>
              </a:ext>
            </a:extLst>
          </p:cNvPr>
          <p:cNvSpPr txBox="1"/>
          <p:nvPr/>
        </p:nvSpPr>
        <p:spPr>
          <a:xfrm>
            <a:off x="578209" y="3208465"/>
            <a:ext cx="122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70% AI Core</a:t>
            </a:r>
            <a:endParaRPr dirty="0"/>
          </a:p>
        </p:txBody>
      </p:sp>
      <p:sp>
        <p:nvSpPr>
          <p:cNvPr id="11" name="Google Shape;235;p22">
            <a:extLst>
              <a:ext uri="{FF2B5EF4-FFF2-40B4-BE49-F238E27FC236}">
                <a16:creationId xmlns:a16="http://schemas.microsoft.com/office/drawing/2014/main" id="{A8124DB9-EA80-1A83-727F-3092250B2684}"/>
              </a:ext>
            </a:extLst>
          </p:cNvPr>
          <p:cNvSpPr txBox="1"/>
          <p:nvPr/>
        </p:nvSpPr>
        <p:spPr>
          <a:xfrm>
            <a:off x="578209" y="3616504"/>
            <a:ext cx="2838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Primary neural pattern recognition</a:t>
            </a:r>
            <a:b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facial features.</a:t>
            </a:r>
            <a:endParaRPr dirty="0"/>
          </a:p>
        </p:txBody>
      </p:sp>
      <p:sp>
        <p:nvSpPr>
          <p:cNvPr id="12" name="Google Shape;236;p22">
            <a:extLst>
              <a:ext uri="{FF2B5EF4-FFF2-40B4-BE49-F238E27FC236}">
                <a16:creationId xmlns:a16="http://schemas.microsoft.com/office/drawing/2014/main" id="{F6BAE5BE-B319-6C43-DE24-C2B048EB4CC9}"/>
              </a:ext>
            </a:extLst>
          </p:cNvPr>
          <p:cNvSpPr txBox="1"/>
          <p:nvPr/>
        </p:nvSpPr>
        <p:spPr>
          <a:xfrm>
            <a:off x="3529553" y="3208465"/>
            <a:ext cx="141922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% Frequency</a:t>
            </a:r>
            <a:endParaRPr dirty="0"/>
          </a:p>
        </p:txBody>
      </p:sp>
      <p:sp>
        <p:nvSpPr>
          <p:cNvPr id="13" name="Google Shape;237;p22">
            <a:extLst>
              <a:ext uri="{FF2B5EF4-FFF2-40B4-BE49-F238E27FC236}">
                <a16:creationId xmlns:a16="http://schemas.microsoft.com/office/drawing/2014/main" id="{38FA2E52-67DD-06E5-DBE8-7238025F640D}"/>
              </a:ext>
            </a:extLst>
          </p:cNvPr>
          <p:cNvSpPr txBox="1"/>
          <p:nvPr/>
        </p:nvSpPr>
        <p:spPr>
          <a:xfrm>
            <a:off x="3529553" y="3616504"/>
            <a:ext cx="2838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FFT-based search for </a:t>
            </a:r>
            <a:b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2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"Checkerboard" GAN artifacts.</a:t>
            </a:r>
            <a:endParaRPr dirty="0"/>
          </a:p>
        </p:txBody>
      </p:sp>
      <p:pic>
        <p:nvPicPr>
          <p:cNvPr id="14" name="Google Shape;229;p22" descr="image.png">
            <a:extLst>
              <a:ext uri="{FF2B5EF4-FFF2-40B4-BE49-F238E27FC236}">
                <a16:creationId xmlns:a16="http://schemas.microsoft.com/office/drawing/2014/main" id="{FD17875C-DBBF-6546-BC70-7FECAD716B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2987853"/>
            <a:ext cx="2513893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34;p22">
            <a:extLst>
              <a:ext uri="{FF2B5EF4-FFF2-40B4-BE49-F238E27FC236}">
                <a16:creationId xmlns:a16="http://schemas.microsoft.com/office/drawing/2014/main" id="{AEF5FA2E-EBED-ECF0-23B8-D57C82EFCBF4}"/>
              </a:ext>
            </a:extLst>
          </p:cNvPr>
          <p:cNvSpPr txBox="1"/>
          <p:nvPr/>
        </p:nvSpPr>
        <p:spPr>
          <a:xfrm>
            <a:off x="6368003" y="3211928"/>
            <a:ext cx="12287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-US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% Noise</a:t>
            </a:r>
            <a:endParaRPr dirty="0"/>
          </a:p>
        </p:txBody>
      </p:sp>
      <p:sp>
        <p:nvSpPr>
          <p:cNvPr id="16" name="Google Shape;237;p22">
            <a:extLst>
              <a:ext uri="{FF2B5EF4-FFF2-40B4-BE49-F238E27FC236}">
                <a16:creationId xmlns:a16="http://schemas.microsoft.com/office/drawing/2014/main" id="{597CA26F-2803-6B54-D91E-7FF2DA73D79C}"/>
              </a:ext>
            </a:extLst>
          </p:cNvPr>
          <p:cNvSpPr txBox="1"/>
          <p:nvPr/>
        </p:nvSpPr>
        <p:spPr>
          <a:xfrm>
            <a:off x="6254577" y="3558481"/>
            <a:ext cx="28384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Identifies, measures random </a:t>
            </a:r>
            <a:br>
              <a:rPr lang="en-US" sz="1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2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variations in brightness or color (grain/static)</a:t>
            </a:r>
            <a:endParaRPr sz="12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Cloud Database Design</a:t>
            </a:r>
            <a:endParaRPr dirty="0"/>
          </a:p>
        </p:txBody>
      </p:sp>
      <p:sp>
        <p:nvSpPr>
          <p:cNvPr id="246" name="Google Shape;246;p23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1028700" y="133201"/>
            <a:ext cx="10668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50" name="Google Shape;250;p23"/>
          <p:cNvSpPr/>
          <p:nvPr/>
        </p:nvSpPr>
        <p:spPr>
          <a:xfrm>
            <a:off x="762000" y="3300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50356" y="3300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788247" y="3300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762000" y="37766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850356" y="37766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788247" y="37766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62000" y="42529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50356" y="42529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788247" y="42529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762000" y="47291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850356" y="47291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788247" y="47291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762000" y="5205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850356" y="5205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788247" y="5205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47;p23"/>
          <p:cNvSpPr txBox="1"/>
          <p:nvPr/>
        </p:nvSpPr>
        <p:spPr>
          <a:xfrm>
            <a:off x="669699" y="1416801"/>
            <a:ext cx="10668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Synthetica utilizes </a:t>
            </a:r>
            <a:r>
              <a:rPr lang="en-US" sz="15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Convex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, a cloud-native, document-oriented database, to enable real-time synchronization of forensic reports across devices. 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Google Shape;247;p23">
            <a:extLst>
              <a:ext uri="{FF2B5EF4-FFF2-40B4-BE49-F238E27FC236}">
                <a16:creationId xmlns:a16="http://schemas.microsoft.com/office/drawing/2014/main" id="{61EF16B5-F45B-078A-8966-BA0CE538D70A}"/>
              </a:ext>
            </a:extLst>
          </p:cNvPr>
          <p:cNvSpPr txBox="1"/>
          <p:nvPr/>
        </p:nvSpPr>
        <p:spPr>
          <a:xfrm>
            <a:off x="761999" y="2796123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F892B0-DD91-3A18-B838-0EBB22DBA12A}"/>
              </a:ext>
            </a:extLst>
          </p:cNvPr>
          <p:cNvSpPr/>
          <p:nvPr/>
        </p:nvSpPr>
        <p:spPr>
          <a:xfrm>
            <a:off x="669701" y="3031242"/>
            <a:ext cx="11062953" cy="2457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C045B4C-F607-8540-29EE-0260C2D2D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98" y="2331571"/>
            <a:ext cx="11201401" cy="395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rgbClr val="1E3A8A"/>
                </a:solidFill>
              </a:rPr>
              <a:t>Persistent User History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br>
              <a:rPr lang="en-US" sz="2000" b="1" dirty="0">
                <a:solidFill>
                  <a:srgbClr val="1E3A8A"/>
                </a:solidFill>
              </a:rPr>
            </a:br>
            <a:br>
              <a:rPr lang="en-US" sz="2000" b="1" dirty="0">
                <a:solidFill>
                  <a:srgbClr val="1E3A8A"/>
                </a:solidFill>
              </a:rPr>
            </a:br>
            <a:br>
              <a:rPr lang="en-US" sz="2000" b="1" dirty="0">
                <a:solidFill>
                  <a:srgbClr val="1E3A8A"/>
                </a:solidFill>
              </a:rPr>
            </a:br>
            <a:r>
              <a:rPr lang="en-US" sz="2000" b="1" dirty="0">
                <a:solidFill>
                  <a:srgbClr val="1E3A8A"/>
                </a:solidFill>
              </a:rPr>
              <a:t>Optimized Storage</a:t>
            </a:r>
            <a:br>
              <a:rPr lang="en-US" sz="1800" b="1" dirty="0">
                <a:solidFill>
                  <a:srgbClr val="1E3A8A"/>
                </a:solidFill>
              </a:rPr>
            </a:br>
            <a:r>
              <a:rPr lang="en-US" sz="1800" b="1" dirty="0">
                <a:solidFill>
                  <a:srgbClr val="1E3A8A"/>
                </a:solidFill>
              </a:rPr>
              <a:t>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Configured to maintain a high-speed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rolling history of the last 11 scans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per user. </a:t>
            </a:r>
            <a:r>
              <a:rPr lang="en-PK" altLang="en-PK" sz="16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limit ensures high performance and high-speed retrieval while providing a comprehensive audit trail for recent digital investigations.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Google Shape;197;p20" descr="image.png">
            <a:extLst>
              <a:ext uri="{FF2B5EF4-FFF2-40B4-BE49-F238E27FC236}">
                <a16:creationId xmlns:a16="http://schemas.microsoft.com/office/drawing/2014/main" id="{CFEBE781-E5AB-6463-B393-DD82C83901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9521" y="2876481"/>
            <a:ext cx="4010238" cy="17860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3;p20">
            <a:extLst>
              <a:ext uri="{FF2B5EF4-FFF2-40B4-BE49-F238E27FC236}">
                <a16:creationId xmlns:a16="http://schemas.microsoft.com/office/drawing/2014/main" id="{87EEB6DF-4CFF-E817-7D6F-9176A9D70188}"/>
              </a:ext>
            </a:extLst>
          </p:cNvPr>
          <p:cNvSpPr txBox="1"/>
          <p:nvPr/>
        </p:nvSpPr>
        <p:spPr>
          <a:xfrm>
            <a:off x="1413898" y="3066176"/>
            <a:ext cx="37227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dirty="0"/>
              <a:t>Secure Retrieval</a:t>
            </a:r>
            <a:endParaRPr dirty="0"/>
          </a:p>
        </p:txBody>
      </p:sp>
      <p:sp>
        <p:nvSpPr>
          <p:cNvPr id="6" name="Google Shape;204;p20">
            <a:extLst>
              <a:ext uri="{FF2B5EF4-FFF2-40B4-BE49-F238E27FC236}">
                <a16:creationId xmlns:a16="http://schemas.microsoft.com/office/drawing/2014/main" id="{F494EFE5-91EC-BE89-825B-A2C03FCE91C3}"/>
              </a:ext>
            </a:extLst>
          </p:cNvPr>
          <p:cNvSpPr txBox="1"/>
          <p:nvPr/>
        </p:nvSpPr>
        <p:spPr>
          <a:xfrm>
            <a:off x="1502535" y="3388812"/>
            <a:ext cx="35455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Forensic audit logs, graphs, heatmaps, and probability scores are tied directly to user accounts.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7" name="Google Shape;197;p20" descr="image.png">
            <a:extLst>
              <a:ext uri="{FF2B5EF4-FFF2-40B4-BE49-F238E27FC236}">
                <a16:creationId xmlns:a16="http://schemas.microsoft.com/office/drawing/2014/main" id="{728DE314-EEAB-CF90-3BDC-8B560CFDC0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7181" y="2833218"/>
            <a:ext cx="4010238" cy="17828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3;p20">
            <a:extLst>
              <a:ext uri="{FF2B5EF4-FFF2-40B4-BE49-F238E27FC236}">
                <a16:creationId xmlns:a16="http://schemas.microsoft.com/office/drawing/2014/main" id="{5D7F6455-9BBB-0F77-EEBA-78D1C3C2DB12}"/>
              </a:ext>
            </a:extLst>
          </p:cNvPr>
          <p:cNvSpPr txBox="1"/>
          <p:nvPr/>
        </p:nvSpPr>
        <p:spPr>
          <a:xfrm>
            <a:off x="6687856" y="3079082"/>
            <a:ext cx="401895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dirty="0"/>
              <a:t>Cross-Platform</a:t>
            </a:r>
            <a:endParaRPr dirty="0"/>
          </a:p>
        </p:txBody>
      </p:sp>
      <p:sp>
        <p:nvSpPr>
          <p:cNvPr id="9" name="Google Shape;204;p20">
            <a:extLst>
              <a:ext uri="{FF2B5EF4-FFF2-40B4-BE49-F238E27FC236}">
                <a16:creationId xmlns:a16="http://schemas.microsoft.com/office/drawing/2014/main" id="{4961EDA9-291D-3D3A-1435-25D80053DCFC}"/>
              </a:ext>
            </a:extLst>
          </p:cNvPr>
          <p:cNvSpPr txBox="1"/>
          <p:nvPr/>
        </p:nvSpPr>
        <p:spPr>
          <a:xfrm>
            <a:off x="6606846" y="3450430"/>
            <a:ext cx="38275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Allows investigators to start a scan on a </a:t>
            </a:r>
            <a:br>
              <a:rPr lang="en-US" dirty="0"/>
            </a:br>
            <a:r>
              <a:rPr lang="en-US" dirty="0"/>
              <a:t>desktop and instantly review results on mobile.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10198B03-A577-635E-7C59-406F18A8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>
            <a:extLst>
              <a:ext uri="{FF2B5EF4-FFF2-40B4-BE49-F238E27FC236}">
                <a16:creationId xmlns:a16="http://schemas.microsoft.com/office/drawing/2014/main" id="{8FDA8871-22A9-18D2-3CE9-E0D0E271AB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926AA151-00EB-C60B-495A-0D73A08337E7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cans Table</a:t>
            </a:r>
            <a:endParaRPr lang="en-US" dirty="0"/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54CA9305-5571-ABD0-68F4-8FF71AB4B28B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>
            <a:extLst>
              <a:ext uri="{FF2B5EF4-FFF2-40B4-BE49-F238E27FC236}">
                <a16:creationId xmlns:a16="http://schemas.microsoft.com/office/drawing/2014/main" id="{D1E75978-C79A-70F4-CE21-86B76D5E5B2C}"/>
              </a:ext>
            </a:extLst>
          </p:cNvPr>
          <p:cNvSpPr txBox="1"/>
          <p:nvPr/>
        </p:nvSpPr>
        <p:spPr>
          <a:xfrm>
            <a:off x="1028700" y="133201"/>
            <a:ext cx="10668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50" name="Google Shape;250;p23">
            <a:extLst>
              <a:ext uri="{FF2B5EF4-FFF2-40B4-BE49-F238E27FC236}">
                <a16:creationId xmlns:a16="http://schemas.microsoft.com/office/drawing/2014/main" id="{7DD8AE3D-A1B7-A4FA-08C8-00D4AFCFD69A}"/>
              </a:ext>
            </a:extLst>
          </p:cNvPr>
          <p:cNvSpPr/>
          <p:nvPr/>
        </p:nvSpPr>
        <p:spPr>
          <a:xfrm>
            <a:off x="762000" y="3300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>
            <a:extLst>
              <a:ext uri="{FF2B5EF4-FFF2-40B4-BE49-F238E27FC236}">
                <a16:creationId xmlns:a16="http://schemas.microsoft.com/office/drawing/2014/main" id="{A621B373-68AF-004B-D35B-499D86C61FFC}"/>
              </a:ext>
            </a:extLst>
          </p:cNvPr>
          <p:cNvSpPr/>
          <p:nvPr/>
        </p:nvSpPr>
        <p:spPr>
          <a:xfrm>
            <a:off x="2850356" y="3300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4FC31369-8096-C5FC-D99E-D8D2A05EE670}"/>
              </a:ext>
            </a:extLst>
          </p:cNvPr>
          <p:cNvSpPr/>
          <p:nvPr/>
        </p:nvSpPr>
        <p:spPr>
          <a:xfrm>
            <a:off x="4788247" y="3300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6A12C53B-ACC4-B4FE-59B6-1E93642BCCD2}"/>
              </a:ext>
            </a:extLst>
          </p:cNvPr>
          <p:cNvSpPr/>
          <p:nvPr/>
        </p:nvSpPr>
        <p:spPr>
          <a:xfrm>
            <a:off x="762000" y="37766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>
            <a:extLst>
              <a:ext uri="{FF2B5EF4-FFF2-40B4-BE49-F238E27FC236}">
                <a16:creationId xmlns:a16="http://schemas.microsoft.com/office/drawing/2014/main" id="{4703F2F7-FFA5-BF02-9D58-74AF793FC271}"/>
              </a:ext>
            </a:extLst>
          </p:cNvPr>
          <p:cNvSpPr/>
          <p:nvPr/>
        </p:nvSpPr>
        <p:spPr>
          <a:xfrm>
            <a:off x="2850356" y="37766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179FE38B-AB03-92CF-8A84-8542FBAB42B0}"/>
              </a:ext>
            </a:extLst>
          </p:cNvPr>
          <p:cNvSpPr/>
          <p:nvPr/>
        </p:nvSpPr>
        <p:spPr>
          <a:xfrm>
            <a:off x="4788247" y="37766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>
            <a:extLst>
              <a:ext uri="{FF2B5EF4-FFF2-40B4-BE49-F238E27FC236}">
                <a16:creationId xmlns:a16="http://schemas.microsoft.com/office/drawing/2014/main" id="{B17C5D3E-5B65-8244-A6F4-FAAF08B000BB}"/>
              </a:ext>
            </a:extLst>
          </p:cNvPr>
          <p:cNvSpPr/>
          <p:nvPr/>
        </p:nvSpPr>
        <p:spPr>
          <a:xfrm>
            <a:off x="762000" y="42529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>
            <a:extLst>
              <a:ext uri="{FF2B5EF4-FFF2-40B4-BE49-F238E27FC236}">
                <a16:creationId xmlns:a16="http://schemas.microsoft.com/office/drawing/2014/main" id="{FF85B57F-7177-4F3D-32ED-984E0A159317}"/>
              </a:ext>
            </a:extLst>
          </p:cNvPr>
          <p:cNvSpPr/>
          <p:nvPr/>
        </p:nvSpPr>
        <p:spPr>
          <a:xfrm>
            <a:off x="2850356" y="42529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2CE5969B-7CFA-6EA6-E47C-5520D2967337}"/>
              </a:ext>
            </a:extLst>
          </p:cNvPr>
          <p:cNvSpPr/>
          <p:nvPr/>
        </p:nvSpPr>
        <p:spPr>
          <a:xfrm>
            <a:off x="4788247" y="42529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416AB9E4-A095-1DF1-1A3E-8FCEE33B7F3C}"/>
              </a:ext>
            </a:extLst>
          </p:cNvPr>
          <p:cNvSpPr/>
          <p:nvPr/>
        </p:nvSpPr>
        <p:spPr>
          <a:xfrm>
            <a:off x="762000" y="47291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48EDC1F4-A2BB-DE4B-FA1C-DB19BD6B5996}"/>
              </a:ext>
            </a:extLst>
          </p:cNvPr>
          <p:cNvSpPr/>
          <p:nvPr/>
        </p:nvSpPr>
        <p:spPr>
          <a:xfrm>
            <a:off x="2850356" y="47291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DEA9FDFD-A519-D589-6CE5-BD205AC9CE63}"/>
              </a:ext>
            </a:extLst>
          </p:cNvPr>
          <p:cNvSpPr/>
          <p:nvPr/>
        </p:nvSpPr>
        <p:spPr>
          <a:xfrm>
            <a:off x="4788247" y="47291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5F431D1F-86F9-473D-F076-7C1A8417FEF8}"/>
              </a:ext>
            </a:extLst>
          </p:cNvPr>
          <p:cNvSpPr/>
          <p:nvPr/>
        </p:nvSpPr>
        <p:spPr>
          <a:xfrm>
            <a:off x="762000" y="5205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346620C8-2872-8D90-4461-324AA83C0E7D}"/>
              </a:ext>
            </a:extLst>
          </p:cNvPr>
          <p:cNvSpPr/>
          <p:nvPr/>
        </p:nvSpPr>
        <p:spPr>
          <a:xfrm>
            <a:off x="2850356" y="5205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30A1F4C6-E43E-4213-35FD-1B1A38E88A75}"/>
              </a:ext>
            </a:extLst>
          </p:cNvPr>
          <p:cNvSpPr/>
          <p:nvPr/>
        </p:nvSpPr>
        <p:spPr>
          <a:xfrm>
            <a:off x="4788247" y="5205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47;p23">
            <a:extLst>
              <a:ext uri="{FF2B5EF4-FFF2-40B4-BE49-F238E27FC236}">
                <a16:creationId xmlns:a16="http://schemas.microsoft.com/office/drawing/2014/main" id="{6F610DC9-E175-BE42-6804-22B76D2C5C3E}"/>
              </a:ext>
            </a:extLst>
          </p:cNvPr>
          <p:cNvSpPr txBox="1"/>
          <p:nvPr/>
        </p:nvSpPr>
        <p:spPr>
          <a:xfrm>
            <a:off x="761999" y="2796123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0682EB-2433-1BFB-3DA7-A11C9A36B75B}"/>
              </a:ext>
            </a:extLst>
          </p:cNvPr>
          <p:cNvSpPr/>
          <p:nvPr/>
        </p:nvSpPr>
        <p:spPr>
          <a:xfrm>
            <a:off x="669701" y="3031242"/>
            <a:ext cx="11062953" cy="2457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EA93D7-D0B6-1A32-FAF9-818435D05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43" y="1494833"/>
            <a:ext cx="11974111" cy="391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0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B7598348-8286-35BD-7926-8FBD7263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>
            <a:extLst>
              <a:ext uri="{FF2B5EF4-FFF2-40B4-BE49-F238E27FC236}">
                <a16:creationId xmlns:a16="http://schemas.microsoft.com/office/drawing/2014/main" id="{0EB53D42-6A60-0549-CC67-E8034ECB3B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AA633909-E07F-7905-D6AA-3866361CCD82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Audit log</a:t>
            </a:r>
            <a:endParaRPr lang="en-US" dirty="0"/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C295AD4D-3A3C-4C71-71FA-507B29AEAEF8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>
            <a:extLst>
              <a:ext uri="{FF2B5EF4-FFF2-40B4-BE49-F238E27FC236}">
                <a16:creationId xmlns:a16="http://schemas.microsoft.com/office/drawing/2014/main" id="{96FDB953-E2C4-9BF4-6A53-F550EDCB5542}"/>
              </a:ext>
            </a:extLst>
          </p:cNvPr>
          <p:cNvSpPr txBox="1"/>
          <p:nvPr/>
        </p:nvSpPr>
        <p:spPr>
          <a:xfrm>
            <a:off x="1028700" y="133201"/>
            <a:ext cx="10668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50" name="Google Shape;250;p23">
            <a:extLst>
              <a:ext uri="{FF2B5EF4-FFF2-40B4-BE49-F238E27FC236}">
                <a16:creationId xmlns:a16="http://schemas.microsoft.com/office/drawing/2014/main" id="{1E408FBC-A3F1-BB34-F314-A5EE586B5112}"/>
              </a:ext>
            </a:extLst>
          </p:cNvPr>
          <p:cNvSpPr/>
          <p:nvPr/>
        </p:nvSpPr>
        <p:spPr>
          <a:xfrm>
            <a:off x="762000" y="3300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>
            <a:extLst>
              <a:ext uri="{FF2B5EF4-FFF2-40B4-BE49-F238E27FC236}">
                <a16:creationId xmlns:a16="http://schemas.microsoft.com/office/drawing/2014/main" id="{C3BF5FFE-8DFF-CD38-6215-9A424177BD5B}"/>
              </a:ext>
            </a:extLst>
          </p:cNvPr>
          <p:cNvSpPr/>
          <p:nvPr/>
        </p:nvSpPr>
        <p:spPr>
          <a:xfrm>
            <a:off x="2850356" y="3300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4D3D9E38-BCAA-5A2B-0EF2-C0FE0D49C6AB}"/>
              </a:ext>
            </a:extLst>
          </p:cNvPr>
          <p:cNvSpPr/>
          <p:nvPr/>
        </p:nvSpPr>
        <p:spPr>
          <a:xfrm>
            <a:off x="4788247" y="3300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1A4EEC0F-2F2F-4229-3CBB-1A91708C2DEE}"/>
              </a:ext>
            </a:extLst>
          </p:cNvPr>
          <p:cNvSpPr/>
          <p:nvPr/>
        </p:nvSpPr>
        <p:spPr>
          <a:xfrm>
            <a:off x="762000" y="37766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>
            <a:extLst>
              <a:ext uri="{FF2B5EF4-FFF2-40B4-BE49-F238E27FC236}">
                <a16:creationId xmlns:a16="http://schemas.microsoft.com/office/drawing/2014/main" id="{A1C4272C-83B3-B907-1D9F-77BE463176E5}"/>
              </a:ext>
            </a:extLst>
          </p:cNvPr>
          <p:cNvSpPr/>
          <p:nvPr/>
        </p:nvSpPr>
        <p:spPr>
          <a:xfrm>
            <a:off x="2850356" y="37766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73B3165E-C61D-0126-356B-FC6BD4ACBC7E}"/>
              </a:ext>
            </a:extLst>
          </p:cNvPr>
          <p:cNvSpPr/>
          <p:nvPr/>
        </p:nvSpPr>
        <p:spPr>
          <a:xfrm>
            <a:off x="4788247" y="37766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>
            <a:extLst>
              <a:ext uri="{FF2B5EF4-FFF2-40B4-BE49-F238E27FC236}">
                <a16:creationId xmlns:a16="http://schemas.microsoft.com/office/drawing/2014/main" id="{0FE77765-F8A2-A7D4-AA46-EDE0FC283ECB}"/>
              </a:ext>
            </a:extLst>
          </p:cNvPr>
          <p:cNvSpPr/>
          <p:nvPr/>
        </p:nvSpPr>
        <p:spPr>
          <a:xfrm>
            <a:off x="762000" y="42529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>
            <a:extLst>
              <a:ext uri="{FF2B5EF4-FFF2-40B4-BE49-F238E27FC236}">
                <a16:creationId xmlns:a16="http://schemas.microsoft.com/office/drawing/2014/main" id="{FD6B35F4-73D8-DC9C-45F3-13FE1BB154F1}"/>
              </a:ext>
            </a:extLst>
          </p:cNvPr>
          <p:cNvSpPr/>
          <p:nvPr/>
        </p:nvSpPr>
        <p:spPr>
          <a:xfrm>
            <a:off x="2850356" y="42529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F7FEE7FB-B3DB-F4CE-F475-A8E164B38CD2}"/>
              </a:ext>
            </a:extLst>
          </p:cNvPr>
          <p:cNvSpPr/>
          <p:nvPr/>
        </p:nvSpPr>
        <p:spPr>
          <a:xfrm>
            <a:off x="4788247" y="42529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679360C4-4D60-0B1A-5898-735E94F24BC5}"/>
              </a:ext>
            </a:extLst>
          </p:cNvPr>
          <p:cNvSpPr/>
          <p:nvPr/>
        </p:nvSpPr>
        <p:spPr>
          <a:xfrm>
            <a:off x="762000" y="47291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F219549A-BBEF-8F94-0D71-CBA4CE95DB98}"/>
              </a:ext>
            </a:extLst>
          </p:cNvPr>
          <p:cNvSpPr/>
          <p:nvPr/>
        </p:nvSpPr>
        <p:spPr>
          <a:xfrm>
            <a:off x="2850356" y="47291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AD178047-99CE-0E05-7FDE-BC38850D0A2D}"/>
              </a:ext>
            </a:extLst>
          </p:cNvPr>
          <p:cNvSpPr/>
          <p:nvPr/>
        </p:nvSpPr>
        <p:spPr>
          <a:xfrm>
            <a:off x="4788247" y="47291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41627A6B-0CBF-7061-F3D1-B69397AC780B}"/>
              </a:ext>
            </a:extLst>
          </p:cNvPr>
          <p:cNvSpPr/>
          <p:nvPr/>
        </p:nvSpPr>
        <p:spPr>
          <a:xfrm>
            <a:off x="762000" y="5205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62528241-C3E8-4330-DE3E-BD16458BE51F}"/>
              </a:ext>
            </a:extLst>
          </p:cNvPr>
          <p:cNvSpPr/>
          <p:nvPr/>
        </p:nvSpPr>
        <p:spPr>
          <a:xfrm>
            <a:off x="2850356" y="5205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5C9A4966-42B4-C2B6-4B02-0285E9B1F460}"/>
              </a:ext>
            </a:extLst>
          </p:cNvPr>
          <p:cNvSpPr/>
          <p:nvPr/>
        </p:nvSpPr>
        <p:spPr>
          <a:xfrm>
            <a:off x="4788247" y="5205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47;p23">
            <a:extLst>
              <a:ext uri="{FF2B5EF4-FFF2-40B4-BE49-F238E27FC236}">
                <a16:creationId xmlns:a16="http://schemas.microsoft.com/office/drawing/2014/main" id="{3DE2C94C-BDB3-BB4C-85CB-2663869CFB1D}"/>
              </a:ext>
            </a:extLst>
          </p:cNvPr>
          <p:cNvSpPr txBox="1"/>
          <p:nvPr/>
        </p:nvSpPr>
        <p:spPr>
          <a:xfrm>
            <a:off x="761999" y="2796123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C90B0-7A83-9C39-4DEA-A4338F4702B0}"/>
              </a:ext>
            </a:extLst>
          </p:cNvPr>
          <p:cNvSpPr/>
          <p:nvPr/>
        </p:nvSpPr>
        <p:spPr>
          <a:xfrm>
            <a:off x="669701" y="3031242"/>
            <a:ext cx="11062953" cy="2457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cd /var/www/verifexdocker compose up -d --build --force-recreatedocker compose pscurl -fsS http://127.0.0.1:8501/health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D8CF2-1798-C2C2-D830-080E0F9F3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613"/>
            <a:ext cx="4369359" cy="659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73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0977FBC6-1A75-4499-F870-9A209F3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>
            <a:extLst>
              <a:ext uri="{FF2B5EF4-FFF2-40B4-BE49-F238E27FC236}">
                <a16:creationId xmlns:a16="http://schemas.microsoft.com/office/drawing/2014/main" id="{7C0F51B1-2688-9211-7631-3ADB4506AF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43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FF44E125-F0B8-7DE9-D159-10894122E1B5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ser Table</a:t>
            </a:r>
            <a:endParaRPr lang="en-US" dirty="0"/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D28BD5E3-A3F4-D138-253E-3838ADB8FEDD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>
            <a:extLst>
              <a:ext uri="{FF2B5EF4-FFF2-40B4-BE49-F238E27FC236}">
                <a16:creationId xmlns:a16="http://schemas.microsoft.com/office/drawing/2014/main" id="{2C8EE1F0-5D81-A45B-3318-968009A5D4D5}"/>
              </a:ext>
            </a:extLst>
          </p:cNvPr>
          <p:cNvSpPr txBox="1"/>
          <p:nvPr/>
        </p:nvSpPr>
        <p:spPr>
          <a:xfrm>
            <a:off x="1028700" y="133201"/>
            <a:ext cx="10668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50" name="Google Shape;250;p23">
            <a:extLst>
              <a:ext uri="{FF2B5EF4-FFF2-40B4-BE49-F238E27FC236}">
                <a16:creationId xmlns:a16="http://schemas.microsoft.com/office/drawing/2014/main" id="{FDBF9781-0A66-C2B2-5148-62FE767E30FB}"/>
              </a:ext>
            </a:extLst>
          </p:cNvPr>
          <p:cNvSpPr/>
          <p:nvPr/>
        </p:nvSpPr>
        <p:spPr>
          <a:xfrm>
            <a:off x="762000" y="3300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>
            <a:extLst>
              <a:ext uri="{FF2B5EF4-FFF2-40B4-BE49-F238E27FC236}">
                <a16:creationId xmlns:a16="http://schemas.microsoft.com/office/drawing/2014/main" id="{92E0AAF0-CACC-744F-3F6C-174A452AC9F0}"/>
              </a:ext>
            </a:extLst>
          </p:cNvPr>
          <p:cNvSpPr/>
          <p:nvPr/>
        </p:nvSpPr>
        <p:spPr>
          <a:xfrm>
            <a:off x="2850356" y="3300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FDC65FA6-85CB-1502-2815-E674C08499D3}"/>
              </a:ext>
            </a:extLst>
          </p:cNvPr>
          <p:cNvSpPr/>
          <p:nvPr/>
        </p:nvSpPr>
        <p:spPr>
          <a:xfrm>
            <a:off x="4788247" y="3300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918B218C-FC53-C926-F1CB-2AC58630A331}"/>
              </a:ext>
            </a:extLst>
          </p:cNvPr>
          <p:cNvSpPr/>
          <p:nvPr/>
        </p:nvSpPr>
        <p:spPr>
          <a:xfrm>
            <a:off x="762000" y="37766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>
            <a:extLst>
              <a:ext uri="{FF2B5EF4-FFF2-40B4-BE49-F238E27FC236}">
                <a16:creationId xmlns:a16="http://schemas.microsoft.com/office/drawing/2014/main" id="{2B936A5C-46A2-4F5A-2558-3CF229EFA156}"/>
              </a:ext>
            </a:extLst>
          </p:cNvPr>
          <p:cNvSpPr/>
          <p:nvPr/>
        </p:nvSpPr>
        <p:spPr>
          <a:xfrm>
            <a:off x="2850356" y="37766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>
            <a:extLst>
              <a:ext uri="{FF2B5EF4-FFF2-40B4-BE49-F238E27FC236}">
                <a16:creationId xmlns:a16="http://schemas.microsoft.com/office/drawing/2014/main" id="{A98455B9-F956-4961-2A1C-96B2DF72D065}"/>
              </a:ext>
            </a:extLst>
          </p:cNvPr>
          <p:cNvSpPr/>
          <p:nvPr/>
        </p:nvSpPr>
        <p:spPr>
          <a:xfrm>
            <a:off x="4788247" y="37766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>
            <a:extLst>
              <a:ext uri="{FF2B5EF4-FFF2-40B4-BE49-F238E27FC236}">
                <a16:creationId xmlns:a16="http://schemas.microsoft.com/office/drawing/2014/main" id="{A33EBF82-4B0F-E12F-CDF7-A3AC176F5569}"/>
              </a:ext>
            </a:extLst>
          </p:cNvPr>
          <p:cNvSpPr/>
          <p:nvPr/>
        </p:nvSpPr>
        <p:spPr>
          <a:xfrm>
            <a:off x="762000" y="42529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>
            <a:extLst>
              <a:ext uri="{FF2B5EF4-FFF2-40B4-BE49-F238E27FC236}">
                <a16:creationId xmlns:a16="http://schemas.microsoft.com/office/drawing/2014/main" id="{5AF89B01-ED33-DD56-77AE-BE850FD3D425}"/>
              </a:ext>
            </a:extLst>
          </p:cNvPr>
          <p:cNvSpPr/>
          <p:nvPr/>
        </p:nvSpPr>
        <p:spPr>
          <a:xfrm>
            <a:off x="2850356" y="42529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>
            <a:extLst>
              <a:ext uri="{FF2B5EF4-FFF2-40B4-BE49-F238E27FC236}">
                <a16:creationId xmlns:a16="http://schemas.microsoft.com/office/drawing/2014/main" id="{B4CE2091-7A94-7758-AD25-868835D275D2}"/>
              </a:ext>
            </a:extLst>
          </p:cNvPr>
          <p:cNvSpPr/>
          <p:nvPr/>
        </p:nvSpPr>
        <p:spPr>
          <a:xfrm>
            <a:off x="4788247" y="42529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D7A6C9C5-F7CA-76AF-600F-E3CE8C741AAC}"/>
              </a:ext>
            </a:extLst>
          </p:cNvPr>
          <p:cNvSpPr/>
          <p:nvPr/>
        </p:nvSpPr>
        <p:spPr>
          <a:xfrm>
            <a:off x="762000" y="472916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A27BF8D4-9141-EDC8-A2AB-1314E79B79D1}"/>
              </a:ext>
            </a:extLst>
          </p:cNvPr>
          <p:cNvSpPr/>
          <p:nvPr/>
        </p:nvSpPr>
        <p:spPr>
          <a:xfrm>
            <a:off x="2850356" y="472916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03880435-0589-6181-D9C8-6FFBCD3D0830}"/>
              </a:ext>
            </a:extLst>
          </p:cNvPr>
          <p:cNvSpPr/>
          <p:nvPr/>
        </p:nvSpPr>
        <p:spPr>
          <a:xfrm>
            <a:off x="4788247" y="472916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>
            <a:extLst>
              <a:ext uri="{FF2B5EF4-FFF2-40B4-BE49-F238E27FC236}">
                <a16:creationId xmlns:a16="http://schemas.microsoft.com/office/drawing/2014/main" id="{5025E7BE-CE54-3FEA-B853-9658B139E913}"/>
              </a:ext>
            </a:extLst>
          </p:cNvPr>
          <p:cNvSpPr/>
          <p:nvPr/>
        </p:nvSpPr>
        <p:spPr>
          <a:xfrm>
            <a:off x="762000" y="5205412"/>
            <a:ext cx="20883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9F451335-946C-748B-B329-F7110B582BFB}"/>
              </a:ext>
            </a:extLst>
          </p:cNvPr>
          <p:cNvSpPr/>
          <p:nvPr/>
        </p:nvSpPr>
        <p:spPr>
          <a:xfrm>
            <a:off x="2850356" y="5205412"/>
            <a:ext cx="1937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8D47CC32-FABF-CBB2-BEFF-2458FA9616F5}"/>
              </a:ext>
            </a:extLst>
          </p:cNvPr>
          <p:cNvSpPr/>
          <p:nvPr/>
        </p:nvSpPr>
        <p:spPr>
          <a:xfrm>
            <a:off x="4788247" y="5205412"/>
            <a:ext cx="664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47;p23">
            <a:extLst>
              <a:ext uri="{FF2B5EF4-FFF2-40B4-BE49-F238E27FC236}">
                <a16:creationId xmlns:a16="http://schemas.microsoft.com/office/drawing/2014/main" id="{F62C4987-431F-1FB0-F15F-DF17E4677684}"/>
              </a:ext>
            </a:extLst>
          </p:cNvPr>
          <p:cNvSpPr txBox="1"/>
          <p:nvPr/>
        </p:nvSpPr>
        <p:spPr>
          <a:xfrm>
            <a:off x="761999" y="2796123"/>
            <a:ext cx="10668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B2E1F9-B9B0-D31E-51A8-B3927410755D}"/>
              </a:ext>
            </a:extLst>
          </p:cNvPr>
          <p:cNvSpPr/>
          <p:nvPr/>
        </p:nvSpPr>
        <p:spPr>
          <a:xfrm>
            <a:off x="669701" y="3031242"/>
            <a:ext cx="11062953" cy="24572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9D8EE8-1D32-4B9A-D01F-F00746471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4" y="1628774"/>
            <a:ext cx="12013439" cy="42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26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C431-E99E-719F-06D2-897F115A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226;p22" descr="image.png">
            <a:extLst>
              <a:ext uri="{FF2B5EF4-FFF2-40B4-BE49-F238E27FC236}">
                <a16:creationId xmlns:a16="http://schemas.microsoft.com/office/drawing/2014/main" id="{D43EA63C-8EBD-0414-83F7-B0FC6FF195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99;p20">
            <a:extLst>
              <a:ext uri="{FF2B5EF4-FFF2-40B4-BE49-F238E27FC236}">
                <a16:creationId xmlns:a16="http://schemas.microsoft.com/office/drawing/2014/main" id="{16A5E2F1-6D77-47BA-DFD7-69619F454C67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 lang="en-US" dirty="0"/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544DC40B-723A-B676-F80F-01D7294CB91B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37F30A-7FD4-15F4-20E9-7F647D18B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62" y="1650831"/>
            <a:ext cx="11147476" cy="418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25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5FAA83-296F-2ECA-F6D8-CF3F8EBCC82C}"/>
              </a:ext>
            </a:extLst>
          </p:cNvPr>
          <p:cNvSpPr/>
          <p:nvPr/>
        </p:nvSpPr>
        <p:spPr>
          <a:xfrm>
            <a:off x="697606" y="1143000"/>
            <a:ext cx="2302099" cy="5078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12D3D-954E-9F61-61FE-8D3AE1C1D0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298E2-1FEB-1443-2FF8-3F3D928D1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Google Shape;226;p22" descr="image.png">
            <a:extLst>
              <a:ext uri="{FF2B5EF4-FFF2-40B4-BE49-F238E27FC236}">
                <a16:creationId xmlns:a16="http://schemas.microsoft.com/office/drawing/2014/main" id="{F9291EBC-6B91-9E26-49ED-48CDD9B12B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14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9;p20">
            <a:extLst>
              <a:ext uri="{FF2B5EF4-FFF2-40B4-BE49-F238E27FC236}">
                <a16:creationId xmlns:a16="http://schemas.microsoft.com/office/drawing/2014/main" id="{E42FE876-4636-B265-BFF0-97671BF9639E}"/>
              </a:ext>
            </a:extLst>
          </p:cNvPr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 </a:t>
            </a:r>
            <a:endParaRPr dirty="0"/>
          </a:p>
        </p:txBody>
      </p:sp>
      <p:sp>
        <p:nvSpPr>
          <p:cNvPr id="10" name="Google Shape;200;p20">
            <a:extLst>
              <a:ext uri="{FF2B5EF4-FFF2-40B4-BE49-F238E27FC236}">
                <a16:creationId xmlns:a16="http://schemas.microsoft.com/office/drawing/2014/main" id="{CBCF61C6-412F-D1CA-D7F4-F11D917B4CDE}"/>
              </a:ext>
            </a:extLst>
          </p:cNvPr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99;p20">
            <a:extLst>
              <a:ext uri="{FF2B5EF4-FFF2-40B4-BE49-F238E27FC236}">
                <a16:creationId xmlns:a16="http://schemas.microsoft.com/office/drawing/2014/main" id="{8838E19D-1B44-2ACD-35CB-C1EB9DCF5BCB}"/>
              </a:ext>
            </a:extLst>
          </p:cNvPr>
          <p:cNvSpPr txBox="1"/>
          <p:nvPr/>
        </p:nvSpPr>
        <p:spPr>
          <a:xfrm>
            <a:off x="2999705" y="3184951"/>
            <a:ext cx="66703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5400" dirty="0">
                <a:latin typeface="Poppins" panose="00000500000000000000" pitchFamily="2" charset="0"/>
                <a:cs typeface="Poppins" panose="00000500000000000000" pitchFamily="2" charset="0"/>
              </a:rPr>
              <a:t>Live Demo 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(verifexapp.com) </a:t>
            </a:r>
            <a:endParaRPr sz="5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65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Feasibility</a:t>
            </a:r>
            <a:endParaRPr dirty="0"/>
          </a:p>
        </p:txBody>
      </p:sp>
      <p:sp>
        <p:nvSpPr>
          <p:cNvPr id="274" name="Google Shape;274;p24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4808319-CF90-C2B6-C50F-5D3018741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45" y="2304490"/>
            <a:ext cx="3134016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E473A2B-809D-A267-ACD5-4EAA61AF5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310" y="2293192"/>
            <a:ext cx="3173615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9E7CDB1-B3AE-935D-F4FA-B28C46F7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940" y="2293193"/>
            <a:ext cx="3173615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76A1CD9-8975-485B-8D0D-A1BE5837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095" y="2597326"/>
            <a:ext cx="5715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E98D7C24-E3E2-2A77-841A-37536CD54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5" y="2597326"/>
            <a:ext cx="51435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07AB298-20D9-A6EB-5AC7-B0FECB7A7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405" y="2597326"/>
            <a:ext cx="5715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A6FCE-FC7B-145B-D034-115A20FC526C}"/>
              </a:ext>
            </a:extLst>
          </p:cNvPr>
          <p:cNvSpPr txBox="1"/>
          <p:nvPr/>
        </p:nvSpPr>
        <p:spPr>
          <a:xfrm>
            <a:off x="110649" y="3288583"/>
            <a:ext cx="45749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000" b="1" i="0" u="none" strike="noStrike" dirty="0">
                <a:solidFill>
                  <a:srgbClr val="1E3A8A"/>
                </a:solidFill>
                <a:effectLst/>
                <a:latin typeface="Inter"/>
              </a:rPr>
              <a:t>Technical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sz="2000" dirty="0"/>
            </a:b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F5B8F-7946-0478-2C67-7FD4C87FB2BF}"/>
              </a:ext>
            </a:extLst>
          </p:cNvPr>
          <p:cNvSpPr txBox="1"/>
          <p:nvPr/>
        </p:nvSpPr>
        <p:spPr>
          <a:xfrm>
            <a:off x="2881489" y="3249532"/>
            <a:ext cx="64290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000" b="1" i="0" u="none" strike="noStrike" dirty="0">
                <a:solidFill>
                  <a:srgbClr val="1E3A8A"/>
                </a:solidFill>
                <a:effectLst/>
                <a:latin typeface="Inter"/>
              </a:rPr>
              <a:t>Economic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sz="2000" dirty="0"/>
            </a:br>
            <a:endParaRPr lang="en-PK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6A8E8-B8E0-4FEB-A961-D6F88E871EDE}"/>
              </a:ext>
            </a:extLst>
          </p:cNvPr>
          <p:cNvSpPr txBox="1"/>
          <p:nvPr/>
        </p:nvSpPr>
        <p:spPr>
          <a:xfrm>
            <a:off x="7536688" y="3242251"/>
            <a:ext cx="45749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000" b="1" i="0" u="none" strike="noStrike" dirty="0">
                <a:solidFill>
                  <a:srgbClr val="1E3A8A"/>
                </a:solidFill>
                <a:effectLst/>
                <a:latin typeface="Inter"/>
              </a:rPr>
              <a:t>Behavioral</a:t>
            </a:r>
            <a:endParaRPr lang="en-US" sz="2000" b="0" dirty="0">
              <a:effectLst/>
            </a:endParaRPr>
          </a:p>
          <a:p>
            <a:pPr>
              <a:buNone/>
            </a:pPr>
            <a:br>
              <a:rPr lang="en-US" sz="2000" dirty="0"/>
            </a:br>
            <a:endParaRPr lang="en-PK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5B30B-C78B-D680-4A2B-A12CAFBBA5FF}"/>
              </a:ext>
            </a:extLst>
          </p:cNvPr>
          <p:cNvSpPr txBox="1"/>
          <p:nvPr/>
        </p:nvSpPr>
        <p:spPr>
          <a:xfrm>
            <a:off x="560861" y="3704082"/>
            <a:ext cx="36139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ecosystem ensures</a:t>
            </a:r>
            <a:b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highly compatible with AI </a:t>
            </a:r>
            <a:b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libraries like TensorFlow and PyTorch. </a:t>
            </a:r>
            <a:b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8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8287C5-A0A8-9D3A-D81D-DD4614A7B20F}"/>
              </a:ext>
            </a:extLst>
          </p:cNvPr>
          <p:cNvSpPr txBox="1"/>
          <p:nvPr/>
        </p:nvSpPr>
        <p:spPr>
          <a:xfrm>
            <a:off x="2589715" y="3704082"/>
            <a:ext cx="7031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Open-source models </a:t>
            </a:r>
            <a:b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eliminate licensing fees; </a:t>
            </a:r>
            <a:b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minimal one-time hosting</a:t>
            </a:r>
            <a:b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0" i="0" u="none" strike="noStrike" dirty="0">
                <a:solidFill>
                  <a:srgbClr val="33415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costs.</a:t>
            </a:r>
            <a:endParaRPr lang="en-US" sz="1800" b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buNone/>
            </a:pP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PK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F70DD8-B0A7-6A20-468C-3B10E7B42AE1}"/>
              </a:ext>
            </a:extLst>
          </p:cNvPr>
          <p:cNvSpPr txBox="1"/>
          <p:nvPr/>
        </p:nvSpPr>
        <p:spPr>
          <a:xfrm>
            <a:off x="8199940" y="3704082"/>
            <a:ext cx="3230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inclusion of a </a:t>
            </a:r>
            <a:b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“Graphs and Heatmap" helps</a:t>
            </a:r>
            <a:b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users understand the</a:t>
            </a:r>
            <a:b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rgbClr val="3341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"why" behind a verdict.</a:t>
            </a:r>
            <a:endParaRPr lang="en-PK" sz="1800" dirty="0">
              <a:solidFill>
                <a:srgbClr val="3341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69;p24" descr="image.png">
            <a:extLst>
              <a:ext uri="{FF2B5EF4-FFF2-40B4-BE49-F238E27FC236}">
                <a16:creationId xmlns:a16="http://schemas.microsoft.com/office/drawing/2014/main" id="{353ED374-BD88-6397-F4E8-307A9F2B78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 &amp; Metrics</a:t>
            </a:r>
            <a:endParaRPr dirty="0"/>
          </a:p>
        </p:txBody>
      </p:sp>
      <p:sp>
        <p:nvSpPr>
          <p:cNvPr id="312" name="Google Shape;312;p26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 txBox="1"/>
          <p:nvPr/>
        </p:nvSpPr>
        <p:spPr>
          <a:xfrm>
            <a:off x="644604" y="2060712"/>
            <a:ext cx="493061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98.46%</a:t>
            </a:r>
            <a:endParaRPr dirty="0"/>
          </a:p>
        </p:txBody>
      </p:sp>
      <p:sp>
        <p:nvSpPr>
          <p:cNvPr id="314" name="Google Shape;314;p26"/>
          <p:cNvSpPr txBox="1"/>
          <p:nvPr/>
        </p:nvSpPr>
        <p:spPr>
          <a:xfrm>
            <a:off x="762000" y="3508512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Validation Accuracy</a:t>
            </a:r>
            <a:endParaRPr dirty="0"/>
          </a:p>
        </p:txBody>
      </p:sp>
      <p:sp>
        <p:nvSpPr>
          <p:cNvPr id="315" name="Google Shape;315;p26"/>
          <p:cNvSpPr txBox="1"/>
          <p:nvPr/>
        </p:nvSpPr>
        <p:spPr>
          <a:xfrm>
            <a:off x="6334125" y="3908562"/>
            <a:ext cx="50958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The system bridges the gap between binary AI theory and practical forensic verification tools for digital investigators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16" name="Google Shape;316;p26"/>
          <p:cNvSpPr txBox="1"/>
          <p:nvPr/>
        </p:nvSpPr>
        <p:spPr>
          <a:xfrm>
            <a:off x="6715122" y="1650831"/>
            <a:ext cx="4714875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Edge Continuity (ELA):</a:t>
            </a:r>
            <a:r>
              <a:rPr lang="en-US" sz="1600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97.8% Consistent</a:t>
            </a:r>
          </a:p>
        </p:txBody>
      </p:sp>
      <p:sp>
        <p:nvSpPr>
          <p:cNvPr id="317" name="Google Shape;317;p26"/>
          <p:cNvSpPr txBox="1"/>
          <p:nvPr/>
        </p:nvSpPr>
        <p:spPr>
          <a:xfrm>
            <a:off x="6715122" y="2518890"/>
            <a:ext cx="47148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Noise Variance:</a:t>
            </a:r>
            <a:r>
              <a:rPr lang="en-US" sz="1600" dirty="0">
                <a:solidFill>
                  <a:srgbClr val="1E3A8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97.2% Match</a:t>
            </a:r>
          </a:p>
        </p:txBody>
      </p:sp>
      <p:sp>
        <p:nvSpPr>
          <p:cNvPr id="318" name="Google Shape;318;p26"/>
          <p:cNvSpPr txBox="1"/>
          <p:nvPr/>
        </p:nvSpPr>
        <p:spPr>
          <a:xfrm>
            <a:off x="6715124" y="2914613"/>
            <a:ext cx="4714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3A8A"/>
                </a:solidFill>
                <a:latin typeface="Poppins" panose="00000500000000000000" pitchFamily="2" charset="0"/>
                <a:ea typeface="Lato" panose="020F0502020204030203" pitchFamily="34" charset="0"/>
                <a:cs typeface="Poppins" panose="00000500000000000000" pitchFamily="2" charset="0"/>
              </a:rPr>
              <a:t>Frequency FFT:</a:t>
            </a:r>
            <a:r>
              <a:rPr lang="en-US" sz="1600" dirty="0">
                <a:solidFill>
                  <a:srgbClr val="1E3A8A"/>
                </a:solidFill>
                <a:latin typeface="Poppins" panose="00000500000000000000" pitchFamily="2" charset="0"/>
                <a:ea typeface="Lato" panose="020F0502020204030203" pitchFamily="34" charset="0"/>
                <a:cs typeface="Poppins" panose="00000500000000000000" pitchFamily="2" charset="0"/>
              </a:rPr>
              <a:t> 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98.1% Accuracy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6715125" y="3432312"/>
            <a:ext cx="4714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3A8A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Deployment: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rPr>
              <a:t> 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Successfully live at 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verifex</a:t>
            </a:r>
            <a:r>
              <a:rPr lang="en-US" sz="1600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app.com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20" name="Google Shape;32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357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6077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7851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475174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95450"/>
            <a:ext cx="106680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762000" y="571500"/>
            <a:ext cx="112014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Future Scope</a:t>
            </a:r>
            <a:endParaRPr dirty="0"/>
          </a:p>
        </p:txBody>
      </p:sp>
      <p:sp>
        <p:nvSpPr>
          <p:cNvPr id="331" name="Google Shape;331;p27"/>
          <p:cNvSpPr/>
          <p:nvPr/>
        </p:nvSpPr>
        <p:spPr>
          <a:xfrm>
            <a:off x="762000" y="128587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1057275" y="2181225"/>
            <a:ext cx="10077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Synthetica demonstrates that deepfake detection requires more than an accurate network; it requires a transparent ecosystem. We have successfully engineered a professional-grade verification tool for the ICT sector.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762000" y="35242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6334125" y="35242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Expansion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1143000" y="3943350"/>
            <a:ext cx="4714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Audio Forensics: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Voice clone detection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36" name="Google Shape;336;p27"/>
          <p:cNvSpPr txBox="1"/>
          <p:nvPr/>
        </p:nvSpPr>
        <p:spPr>
          <a:xfrm>
            <a:off x="1143000" y="4400550"/>
            <a:ext cx="4714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Video Deepfakes: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Frame-by-frame scans.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6715125" y="3943350"/>
            <a:ext cx="4714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Browser Extension: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Real-time checks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38" name="Google Shape;338;p27"/>
          <p:cNvSpPr txBox="1"/>
          <p:nvPr/>
        </p:nvSpPr>
        <p:spPr>
          <a:xfrm>
            <a:off x="6715125" y="4400550"/>
            <a:ext cx="4714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C2PA: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Support for emerging AI manifests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339" name="Google Shape;33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8621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43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986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4125" y="44434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6769" y="4102893"/>
            <a:ext cx="2938462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3835717" y="1957387"/>
            <a:ext cx="452056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dirty="0"/>
          </a:p>
        </p:txBody>
      </p:sp>
      <p:sp>
        <p:nvSpPr>
          <p:cNvPr id="350" name="Google Shape;350;p28"/>
          <p:cNvSpPr txBox="1"/>
          <p:nvPr/>
        </p:nvSpPr>
        <p:spPr>
          <a:xfrm>
            <a:off x="4395787" y="2938462"/>
            <a:ext cx="34004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dirty="0"/>
          </a:p>
        </p:txBody>
      </p:sp>
      <p:sp>
        <p:nvSpPr>
          <p:cNvPr id="351" name="Google Shape;351;p28"/>
          <p:cNvSpPr txBox="1"/>
          <p:nvPr/>
        </p:nvSpPr>
        <p:spPr>
          <a:xfrm>
            <a:off x="5007768" y="4238624"/>
            <a:ext cx="234408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www.verifexapp.com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1409</Words>
  <Application>Microsoft Office PowerPoint</Application>
  <PresentationFormat>Widescreen</PresentationFormat>
  <Paragraphs>178</Paragraphs>
  <Slides>21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Poppins</vt:lpstr>
      <vt:lpstr>Lato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PC</cp:lastModifiedBy>
  <cp:revision>17</cp:revision>
  <dcterms:modified xsi:type="dcterms:W3CDTF">2026-04-30T03:59:06Z</dcterms:modified>
</cp:coreProperties>
</file>