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72" r:id="rId2"/>
    <p:sldId id="283" r:id="rId3"/>
    <p:sldId id="278" r:id="rId4"/>
    <p:sldId id="274" r:id="rId5"/>
    <p:sldId id="284" r:id="rId6"/>
    <p:sldId id="273" r:id="rId7"/>
    <p:sldId id="277" r:id="rId8"/>
    <p:sldId id="285" r:id="rId9"/>
    <p:sldId id="258" r:id="rId10"/>
    <p:sldId id="279" r:id="rId11"/>
    <p:sldId id="286" r:id="rId12"/>
    <p:sldId id="259" r:id="rId13"/>
    <p:sldId id="280" r:id="rId14"/>
    <p:sldId id="287" r:id="rId15"/>
    <p:sldId id="260" r:id="rId16"/>
    <p:sldId id="281" r:id="rId17"/>
    <p:sldId id="288" r:id="rId18"/>
    <p:sldId id="261" r:id="rId19"/>
    <p:sldId id="262" r:id="rId20"/>
    <p:sldId id="299" r:id="rId21"/>
    <p:sldId id="300" r:id="rId22"/>
    <p:sldId id="290" r:id="rId23"/>
    <p:sldId id="291" r:id="rId24"/>
    <p:sldId id="302" r:id="rId25"/>
    <p:sldId id="301" r:id="rId26"/>
    <p:sldId id="292" r:id="rId27"/>
    <p:sldId id="293" r:id="rId28"/>
    <p:sldId id="282" r:id="rId29"/>
    <p:sldId id="266" r:id="rId30"/>
    <p:sldId id="297" r:id="rId31"/>
    <p:sldId id="298" r:id="rId32"/>
    <p:sldId id="276" r:id="rId33"/>
    <p:sldId id="275" r:id="rId34"/>
    <p:sldId id="296" r:id="rId35"/>
    <p:sldId id="267" r:id="rId36"/>
    <p:sldId id="269" r:id="rId37"/>
    <p:sldId id="270" r:id="rId38"/>
    <p:sldId id="271" r:id="rId39"/>
  </p:sldIdLst>
  <p:sldSz cx="12192000" cy="6858000"/>
  <p:notesSz cx="6858000" cy="9144000"/>
  <p:embeddedFontLst>
    <p:embeddedFont>
      <p:font typeface="Lato" panose="020F0502020204030203" pitchFamily="34" charset="0"/>
      <p:regular r:id="rId41"/>
      <p:bold r:id="rId42"/>
      <p:italic r:id="rId43"/>
      <p:boldItalic r:id="rId44"/>
    </p:embeddedFont>
    <p:embeddedFont>
      <p:font typeface="Poppins" panose="000005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 Bilal Rehan" initials="MBR" lastIdx="1" clrIdx="0">
    <p:extLst>
      <p:ext uri="{19B8F6BF-5375-455C-9EA6-DF929625EA0E}">
        <p15:presenceInfo xmlns:p15="http://schemas.microsoft.com/office/powerpoint/2012/main" userId="M. Bilal Reh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E3A8A"/>
    <a:srgbClr val="DC2626"/>
    <a:srgbClr val="9D7F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4BED28-56FA-4093-AC11-F662A1B0C103}">
  <a:tblStyle styleId="{C34BED28-56FA-4093-AC11-F662A1B0C10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6" d="100"/>
          <a:sy n="86" d="100"/>
        </p:scale>
        <p:origin x="73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PK"/>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FD9E74D0-98E2-3D16-46D8-0B67F3D6274B}"/>
            </a:ext>
          </a:extLst>
        </p:cNvPr>
        <p:cNvGrpSpPr/>
        <p:nvPr/>
      </p:nvGrpSpPr>
      <p:grpSpPr>
        <a:xfrm>
          <a:off x="0" y="0"/>
          <a:ext cx="0" cy="0"/>
          <a:chOff x="0" y="0"/>
          <a:chExt cx="0" cy="0"/>
        </a:xfrm>
      </p:grpSpPr>
      <p:sp>
        <p:nvSpPr>
          <p:cNvPr id="94" name="Google Shape;94;p4:notes">
            <a:extLst>
              <a:ext uri="{FF2B5EF4-FFF2-40B4-BE49-F238E27FC236}">
                <a16:creationId xmlns:a16="http://schemas.microsoft.com/office/drawing/2014/main" id="{39E3A900-4AC1-1806-84AE-59CB1BA8CC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4:notes">
            <a:extLst>
              <a:ext uri="{FF2B5EF4-FFF2-40B4-BE49-F238E27FC236}">
                <a16:creationId xmlns:a16="http://schemas.microsoft.com/office/drawing/2014/main" id="{F63BEE78-671D-DBCA-7FD1-7166AC3FA0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142166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E30AC84B-C070-2C84-88C4-8D3D5926ECBA}"/>
            </a:ext>
          </a:extLst>
        </p:cNvPr>
        <p:cNvGrpSpPr/>
        <p:nvPr/>
      </p:nvGrpSpPr>
      <p:grpSpPr>
        <a:xfrm>
          <a:off x="0" y="0"/>
          <a:ext cx="0" cy="0"/>
          <a:chOff x="0" y="0"/>
          <a:chExt cx="0" cy="0"/>
        </a:xfrm>
      </p:grpSpPr>
      <p:sp>
        <p:nvSpPr>
          <p:cNvPr id="94" name="Google Shape;94;p4:notes">
            <a:extLst>
              <a:ext uri="{FF2B5EF4-FFF2-40B4-BE49-F238E27FC236}">
                <a16:creationId xmlns:a16="http://schemas.microsoft.com/office/drawing/2014/main" id="{EEABDDEF-0DE5-4CB6-CFEF-C28B0941CC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4:notes">
            <a:extLst>
              <a:ext uri="{FF2B5EF4-FFF2-40B4-BE49-F238E27FC236}">
                <a16:creationId xmlns:a16="http://schemas.microsoft.com/office/drawing/2014/main" id="{326764E6-E904-EEBE-8F63-96B90E1707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647314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FD9E74D0-98E2-3D16-46D8-0B67F3D6274B}"/>
            </a:ext>
          </a:extLst>
        </p:cNvPr>
        <p:cNvGrpSpPr/>
        <p:nvPr/>
      </p:nvGrpSpPr>
      <p:grpSpPr>
        <a:xfrm>
          <a:off x="0" y="0"/>
          <a:ext cx="0" cy="0"/>
          <a:chOff x="0" y="0"/>
          <a:chExt cx="0" cy="0"/>
        </a:xfrm>
      </p:grpSpPr>
      <p:sp>
        <p:nvSpPr>
          <p:cNvPr id="94" name="Google Shape;94;p4:notes">
            <a:extLst>
              <a:ext uri="{FF2B5EF4-FFF2-40B4-BE49-F238E27FC236}">
                <a16:creationId xmlns:a16="http://schemas.microsoft.com/office/drawing/2014/main" id="{39E3A900-4AC1-1806-84AE-59CB1BA8CC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4:notes">
            <a:extLst>
              <a:ext uri="{FF2B5EF4-FFF2-40B4-BE49-F238E27FC236}">
                <a16:creationId xmlns:a16="http://schemas.microsoft.com/office/drawing/2014/main" id="{F63BEE78-671D-DBCA-7FD1-7166AC3FA0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142166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8986756B-98F8-F436-15FA-982A25FBF8C6}"/>
            </a:ext>
          </a:extLst>
        </p:cNvPr>
        <p:cNvGrpSpPr/>
        <p:nvPr/>
      </p:nvGrpSpPr>
      <p:grpSpPr>
        <a:xfrm>
          <a:off x="0" y="0"/>
          <a:ext cx="0" cy="0"/>
          <a:chOff x="0" y="0"/>
          <a:chExt cx="0" cy="0"/>
        </a:xfrm>
      </p:grpSpPr>
      <p:sp>
        <p:nvSpPr>
          <p:cNvPr id="94" name="Google Shape;94;p4:notes">
            <a:extLst>
              <a:ext uri="{FF2B5EF4-FFF2-40B4-BE49-F238E27FC236}">
                <a16:creationId xmlns:a16="http://schemas.microsoft.com/office/drawing/2014/main" id="{13E30411-5877-9CB4-4FFF-4E1DA5B247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4:notes">
            <a:extLst>
              <a:ext uri="{FF2B5EF4-FFF2-40B4-BE49-F238E27FC236}">
                <a16:creationId xmlns:a16="http://schemas.microsoft.com/office/drawing/2014/main" id="{C06E273E-88AE-DBDA-64DA-2281ACDDF1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2399977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8986756B-98F8-F436-15FA-982A25FBF8C6}"/>
            </a:ext>
          </a:extLst>
        </p:cNvPr>
        <p:cNvGrpSpPr/>
        <p:nvPr/>
      </p:nvGrpSpPr>
      <p:grpSpPr>
        <a:xfrm>
          <a:off x="0" y="0"/>
          <a:ext cx="0" cy="0"/>
          <a:chOff x="0" y="0"/>
          <a:chExt cx="0" cy="0"/>
        </a:xfrm>
      </p:grpSpPr>
      <p:sp>
        <p:nvSpPr>
          <p:cNvPr id="94" name="Google Shape;94;p4:notes">
            <a:extLst>
              <a:ext uri="{FF2B5EF4-FFF2-40B4-BE49-F238E27FC236}">
                <a16:creationId xmlns:a16="http://schemas.microsoft.com/office/drawing/2014/main" id="{13E30411-5877-9CB4-4FFF-4E1DA5B247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4:notes">
            <a:extLst>
              <a:ext uri="{FF2B5EF4-FFF2-40B4-BE49-F238E27FC236}">
                <a16:creationId xmlns:a16="http://schemas.microsoft.com/office/drawing/2014/main" id="{C06E273E-88AE-DBDA-64DA-2281ACDDF1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2399977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191A1D37-8032-2A10-7080-4BCCB923623F}"/>
            </a:ext>
          </a:extLst>
        </p:cNvPr>
        <p:cNvGrpSpPr/>
        <p:nvPr/>
      </p:nvGrpSpPr>
      <p:grpSpPr>
        <a:xfrm>
          <a:off x="0" y="0"/>
          <a:ext cx="0" cy="0"/>
          <a:chOff x="0" y="0"/>
          <a:chExt cx="0" cy="0"/>
        </a:xfrm>
      </p:grpSpPr>
      <p:sp>
        <p:nvSpPr>
          <p:cNvPr id="94" name="Google Shape;94;p4:notes">
            <a:extLst>
              <a:ext uri="{FF2B5EF4-FFF2-40B4-BE49-F238E27FC236}">
                <a16:creationId xmlns:a16="http://schemas.microsoft.com/office/drawing/2014/main" id="{7D80A49C-2FBE-1629-2982-A1B4EA8B55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4:notes">
            <a:extLst>
              <a:ext uri="{FF2B5EF4-FFF2-40B4-BE49-F238E27FC236}">
                <a16:creationId xmlns:a16="http://schemas.microsoft.com/office/drawing/2014/main" id="{BEE9991C-1ECC-A67F-1FA2-C8D1A20B0C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1923072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7F702DF-6BDD-8BE1-5786-221B6FE571C7}"/>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8DAB61FC-CD9B-B5B3-5CEC-B88108DBCA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a:extLst>
              <a:ext uri="{FF2B5EF4-FFF2-40B4-BE49-F238E27FC236}">
                <a16:creationId xmlns:a16="http://schemas.microsoft.com/office/drawing/2014/main" id="{03447C5B-82DC-1BD2-0CD3-7FEC328C22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1135271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D093677B-CAD3-018B-CF4C-A775CB4BFD40}"/>
            </a:ext>
          </a:extLst>
        </p:cNvPr>
        <p:cNvGrpSpPr/>
        <p:nvPr/>
      </p:nvGrpSpPr>
      <p:grpSpPr>
        <a:xfrm>
          <a:off x="0" y="0"/>
          <a:ext cx="0" cy="0"/>
          <a:chOff x="0" y="0"/>
          <a:chExt cx="0" cy="0"/>
        </a:xfrm>
      </p:grpSpPr>
      <p:sp>
        <p:nvSpPr>
          <p:cNvPr id="124" name="Google Shape;124;p5:notes">
            <a:extLst>
              <a:ext uri="{FF2B5EF4-FFF2-40B4-BE49-F238E27FC236}">
                <a16:creationId xmlns:a16="http://schemas.microsoft.com/office/drawing/2014/main" id="{9A2020F7-35D2-BD64-22C8-087E1B878B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5:notes">
            <a:extLst>
              <a:ext uri="{FF2B5EF4-FFF2-40B4-BE49-F238E27FC236}">
                <a16:creationId xmlns:a16="http://schemas.microsoft.com/office/drawing/2014/main" id="{9285BF6D-E580-778D-FA55-59595E840E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2878685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CB6A47C0-92EA-D66F-970F-DC14783F5B58}"/>
            </a:ext>
          </a:extLst>
        </p:cNvPr>
        <p:cNvGrpSpPr/>
        <p:nvPr/>
      </p:nvGrpSpPr>
      <p:grpSpPr>
        <a:xfrm>
          <a:off x="0" y="0"/>
          <a:ext cx="0" cy="0"/>
          <a:chOff x="0" y="0"/>
          <a:chExt cx="0" cy="0"/>
        </a:xfrm>
      </p:grpSpPr>
      <p:sp>
        <p:nvSpPr>
          <p:cNvPr id="143" name="Google Shape;143;p6:notes">
            <a:extLst>
              <a:ext uri="{FF2B5EF4-FFF2-40B4-BE49-F238E27FC236}">
                <a16:creationId xmlns:a16="http://schemas.microsoft.com/office/drawing/2014/main" id="{DEA6F46D-D9FA-5D9F-0A8C-0B44969279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6:notes">
            <a:extLst>
              <a:ext uri="{FF2B5EF4-FFF2-40B4-BE49-F238E27FC236}">
                <a16:creationId xmlns:a16="http://schemas.microsoft.com/office/drawing/2014/main" id="{59D02618-9372-E959-CD9E-8D017F67FC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341319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6245C72-CFBE-83C6-C66E-E14AC467CFE5}"/>
            </a:ext>
          </a:extLst>
        </p:cNvPr>
        <p:cNvGrpSpPr/>
        <p:nvPr/>
      </p:nvGrpSpPr>
      <p:grpSpPr>
        <a:xfrm>
          <a:off x="0" y="0"/>
          <a:ext cx="0" cy="0"/>
          <a:chOff x="0" y="0"/>
          <a:chExt cx="0" cy="0"/>
        </a:xfrm>
      </p:grpSpPr>
      <p:sp>
        <p:nvSpPr>
          <p:cNvPr id="180" name="Google Shape;180;p8:notes">
            <a:extLst>
              <a:ext uri="{FF2B5EF4-FFF2-40B4-BE49-F238E27FC236}">
                <a16:creationId xmlns:a16="http://schemas.microsoft.com/office/drawing/2014/main" id="{E88ABD6F-6C07-A9E9-163C-B953AC808E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a:extLst>
              <a:ext uri="{FF2B5EF4-FFF2-40B4-BE49-F238E27FC236}">
                <a16:creationId xmlns:a16="http://schemas.microsoft.com/office/drawing/2014/main" id="{8C5B3E56-13E6-8E57-8FAE-612FC7AAF5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3298261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70DF87C4-9278-3D8F-30BF-4EF13F6D1247}"/>
            </a:ext>
          </a:extLst>
        </p:cNvPr>
        <p:cNvGrpSpPr/>
        <p:nvPr/>
      </p:nvGrpSpPr>
      <p:grpSpPr>
        <a:xfrm>
          <a:off x="0" y="0"/>
          <a:ext cx="0" cy="0"/>
          <a:chOff x="0" y="0"/>
          <a:chExt cx="0" cy="0"/>
        </a:xfrm>
      </p:grpSpPr>
      <p:sp>
        <p:nvSpPr>
          <p:cNvPr id="193" name="Google Shape;193;p9:notes">
            <a:extLst>
              <a:ext uri="{FF2B5EF4-FFF2-40B4-BE49-F238E27FC236}">
                <a16:creationId xmlns:a16="http://schemas.microsoft.com/office/drawing/2014/main" id="{D91660F1-D464-2B16-1A82-F40399C3F4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9:notes">
            <a:extLst>
              <a:ext uri="{FF2B5EF4-FFF2-40B4-BE49-F238E27FC236}">
                <a16:creationId xmlns:a16="http://schemas.microsoft.com/office/drawing/2014/main" id="{32A24210-15C9-B9AF-4D33-27C6836733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887658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4209671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3413326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214D7C1E-D175-39E5-ADD6-08C99C6B2087}"/>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30F9F633-A195-6FD0-A7AA-48B6F6F155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DD23A2D0-29E7-B129-A59F-535BE0FFF3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20290414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9F7EEB35-907F-E59E-5F98-7BED336D899C}"/>
            </a:ext>
          </a:extLst>
        </p:cNvPr>
        <p:cNvGrpSpPr/>
        <p:nvPr/>
      </p:nvGrpSpPr>
      <p:grpSpPr>
        <a:xfrm>
          <a:off x="0" y="0"/>
          <a:ext cx="0" cy="0"/>
          <a:chOff x="0" y="0"/>
          <a:chExt cx="0" cy="0"/>
        </a:xfrm>
      </p:grpSpPr>
      <p:sp>
        <p:nvSpPr>
          <p:cNvPr id="209" name="Google Shape;209;p10:notes">
            <a:extLst>
              <a:ext uri="{FF2B5EF4-FFF2-40B4-BE49-F238E27FC236}">
                <a16:creationId xmlns:a16="http://schemas.microsoft.com/office/drawing/2014/main" id="{356FE63F-C4DE-D45A-C873-A23C3895D6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0:notes">
            <a:extLst>
              <a:ext uri="{FF2B5EF4-FFF2-40B4-BE49-F238E27FC236}">
                <a16:creationId xmlns:a16="http://schemas.microsoft.com/office/drawing/2014/main" id="{38C78976-B711-4030-369C-1D650D3780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1251326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40747025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14696243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A73A8A35-EDEE-FA34-63F2-2C210DF36A2E}"/>
            </a:ext>
          </a:extLst>
        </p:cNvPr>
        <p:cNvGrpSpPr/>
        <p:nvPr/>
      </p:nvGrpSpPr>
      <p:grpSpPr>
        <a:xfrm>
          <a:off x="0" y="0"/>
          <a:ext cx="0" cy="0"/>
          <a:chOff x="0" y="0"/>
          <a:chExt cx="0" cy="0"/>
        </a:xfrm>
      </p:grpSpPr>
      <p:sp>
        <p:nvSpPr>
          <p:cNvPr id="241" name="Google Shape;241;p12:notes">
            <a:extLst>
              <a:ext uri="{FF2B5EF4-FFF2-40B4-BE49-F238E27FC236}">
                <a16:creationId xmlns:a16="http://schemas.microsoft.com/office/drawing/2014/main" id="{D78E0220-4053-B349-9E5B-4F033F5C19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2:notes">
            <a:extLst>
              <a:ext uri="{FF2B5EF4-FFF2-40B4-BE49-F238E27FC236}">
                <a16:creationId xmlns:a16="http://schemas.microsoft.com/office/drawing/2014/main" id="{4B3DFA5A-A54D-5FC9-E224-C62D97B76C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27644400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1102B0F0-FFE3-D3E2-A810-CC1B3AE1E0D4}"/>
            </a:ext>
          </a:extLst>
        </p:cNvPr>
        <p:cNvGrpSpPr/>
        <p:nvPr/>
      </p:nvGrpSpPr>
      <p:grpSpPr>
        <a:xfrm>
          <a:off x="0" y="0"/>
          <a:ext cx="0" cy="0"/>
          <a:chOff x="0" y="0"/>
          <a:chExt cx="0" cy="0"/>
        </a:xfrm>
      </p:grpSpPr>
      <p:sp>
        <p:nvSpPr>
          <p:cNvPr id="241" name="Google Shape;241;p12:notes">
            <a:extLst>
              <a:ext uri="{FF2B5EF4-FFF2-40B4-BE49-F238E27FC236}">
                <a16:creationId xmlns:a16="http://schemas.microsoft.com/office/drawing/2014/main" id="{3A670C30-A172-29DE-404D-8B1D756B37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2:notes">
            <a:extLst>
              <a:ext uri="{FF2B5EF4-FFF2-40B4-BE49-F238E27FC236}">
                <a16:creationId xmlns:a16="http://schemas.microsoft.com/office/drawing/2014/main" id="{427079A4-F90C-DDC6-1F9A-3CE0FBA9D9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4198514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a:extLst>
            <a:ext uri="{FF2B5EF4-FFF2-40B4-BE49-F238E27FC236}">
              <a16:creationId xmlns:a16="http://schemas.microsoft.com/office/drawing/2014/main" id="{AA3AD0D5-5FEF-C9D1-DFD9-12A7BCE99FC9}"/>
            </a:ext>
          </a:extLst>
        </p:cNvPr>
        <p:cNvGrpSpPr/>
        <p:nvPr/>
      </p:nvGrpSpPr>
      <p:grpSpPr>
        <a:xfrm>
          <a:off x="0" y="0"/>
          <a:ext cx="0" cy="0"/>
          <a:chOff x="0" y="0"/>
          <a:chExt cx="0" cy="0"/>
        </a:xfrm>
      </p:grpSpPr>
      <p:sp>
        <p:nvSpPr>
          <p:cNvPr id="241" name="Google Shape;241;p12:notes">
            <a:extLst>
              <a:ext uri="{FF2B5EF4-FFF2-40B4-BE49-F238E27FC236}">
                <a16:creationId xmlns:a16="http://schemas.microsoft.com/office/drawing/2014/main" id="{C734423A-70E0-CD5D-FB7C-D6891CC7DC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2:notes">
            <a:extLst>
              <a:ext uri="{FF2B5EF4-FFF2-40B4-BE49-F238E27FC236}">
                <a16:creationId xmlns:a16="http://schemas.microsoft.com/office/drawing/2014/main" id="{76C026D3-0837-C560-733D-FBB12CFE21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28832715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extLst>
      <p:ext uri="{BB962C8B-B14F-4D97-AF65-F5344CB8AC3E}">
        <p14:creationId xmlns:p14="http://schemas.microsoft.com/office/powerpoint/2010/main" val="27628394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K"/>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PK"/>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0.png"/><Relationship Id="rId7"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0B20917A-EC27-4EC5-8A10-C11355D3C491}"/>
              </a:ext>
            </a:extLst>
          </p:cNvPr>
          <p:cNvSpPr>
            <a:spLocks noGrp="1"/>
          </p:cNvSpPr>
          <p:nvPr>
            <p:ph type="title"/>
          </p:nvPr>
        </p:nvSpPr>
        <p:spPr/>
        <p:txBody>
          <a:bodyPr/>
          <a:lstStyle/>
          <a:p>
            <a:endParaRPr lang="en-GB" dirty="0"/>
          </a:p>
        </p:txBody>
      </p:sp>
      <p:pic>
        <p:nvPicPr>
          <p:cNvPr id="3" name="Picture 2">
            <a:extLst>
              <a:ext uri="{FF2B5EF4-FFF2-40B4-BE49-F238E27FC236}">
                <a16:creationId xmlns:a16="http://schemas.microsoft.com/office/drawing/2014/main" id="{04DA7AB1-64FD-45F8-BFF6-FE6DECF5D05C}"/>
              </a:ext>
            </a:extLst>
          </p:cNvPr>
          <p:cNvPicPr/>
          <p:nvPr/>
        </p:nvPicPr>
        <p:blipFill>
          <a:blip r:embed="rId2"/>
          <a:stretch>
            <a:fillRect/>
          </a:stretch>
        </p:blipFill>
        <p:spPr>
          <a:xfrm>
            <a:off x="0" y="0"/>
            <a:ext cx="12191999" cy="6858000"/>
          </a:xfrm>
          <a:prstGeom prst="rect">
            <a:avLst/>
          </a:prstGeom>
        </p:spPr>
      </p:pic>
      <p:sp>
        <p:nvSpPr>
          <p:cNvPr id="4" name="TextBox 3">
            <a:extLst>
              <a:ext uri="{FF2B5EF4-FFF2-40B4-BE49-F238E27FC236}">
                <a16:creationId xmlns:a16="http://schemas.microsoft.com/office/drawing/2014/main" id="{B2E2D70D-97A1-4A01-AD79-1D9AAC28AF5B}"/>
              </a:ext>
            </a:extLst>
          </p:cNvPr>
          <p:cNvSpPr txBox="1"/>
          <p:nvPr/>
        </p:nvSpPr>
        <p:spPr>
          <a:xfrm>
            <a:off x="2009422" y="2270983"/>
            <a:ext cx="7936087" cy="101566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6000" b="1" dirty="0">
                <a:latin typeface="Poppins" panose="00000500000000000000" pitchFamily="2" charset="0"/>
                <a:cs typeface="Poppins" panose="00000500000000000000" pitchFamily="2" charset="0"/>
              </a:rPr>
              <a:t>SYNTHETICA</a:t>
            </a:r>
          </a:p>
        </p:txBody>
      </p:sp>
      <p:sp>
        <p:nvSpPr>
          <p:cNvPr id="12" name="Rectangle 11">
            <a:extLst>
              <a:ext uri="{FF2B5EF4-FFF2-40B4-BE49-F238E27FC236}">
                <a16:creationId xmlns:a16="http://schemas.microsoft.com/office/drawing/2014/main" id="{DC7A1D49-494B-4764-8858-A3C4D7C3DF3C}"/>
              </a:ext>
            </a:extLst>
          </p:cNvPr>
          <p:cNvSpPr/>
          <p:nvPr/>
        </p:nvSpPr>
        <p:spPr>
          <a:xfrm>
            <a:off x="269505" y="3994108"/>
            <a:ext cx="11583827" cy="19641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B24A451-415D-4BD3-B398-DA8EB4B3979A}"/>
              </a:ext>
            </a:extLst>
          </p:cNvPr>
          <p:cNvSpPr/>
          <p:nvPr/>
        </p:nvSpPr>
        <p:spPr>
          <a:xfrm>
            <a:off x="2433472" y="433721"/>
            <a:ext cx="8500533" cy="8482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D9CD84DA-8644-430C-97AE-D39E30192913}"/>
              </a:ext>
            </a:extLst>
          </p:cNvPr>
          <p:cNvSpPr txBox="1"/>
          <p:nvPr/>
        </p:nvSpPr>
        <p:spPr>
          <a:xfrm>
            <a:off x="269506" y="433626"/>
            <a:ext cx="11187289" cy="52322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rgbClr val="002060"/>
                </a:solidFill>
                <a:latin typeface="Calibri"/>
                <a:cs typeface="Calibri"/>
              </a:rPr>
              <a:t>Construction Technology Training Institute</a:t>
            </a:r>
          </a:p>
        </p:txBody>
      </p:sp>
      <p:sp>
        <p:nvSpPr>
          <p:cNvPr id="17" name="TextBox 16">
            <a:extLst>
              <a:ext uri="{FF2B5EF4-FFF2-40B4-BE49-F238E27FC236}">
                <a16:creationId xmlns:a16="http://schemas.microsoft.com/office/drawing/2014/main" id="{D62DDC45-87B7-41FF-B321-8949BE93C22F}"/>
              </a:ext>
            </a:extLst>
          </p:cNvPr>
          <p:cNvSpPr txBox="1"/>
          <p:nvPr/>
        </p:nvSpPr>
        <p:spPr>
          <a:xfrm>
            <a:off x="3232883" y="899696"/>
            <a:ext cx="566180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02060"/>
                </a:solidFill>
                <a:cs typeface="Calibri"/>
              </a:rPr>
              <a:t>Institute of Information and Communication Technology</a:t>
            </a:r>
          </a:p>
        </p:txBody>
      </p:sp>
      <p:sp>
        <p:nvSpPr>
          <p:cNvPr id="11" name="Google Shape;85;p13">
            <a:extLst>
              <a:ext uri="{FF2B5EF4-FFF2-40B4-BE49-F238E27FC236}">
                <a16:creationId xmlns:a16="http://schemas.microsoft.com/office/drawing/2014/main" id="{EF714537-DA32-6D6C-E6C4-E4BF3321AB87}"/>
              </a:ext>
            </a:extLst>
          </p:cNvPr>
          <p:cNvSpPr txBox="1"/>
          <p:nvPr/>
        </p:nvSpPr>
        <p:spPr>
          <a:xfrm>
            <a:off x="4637297" y="1914874"/>
            <a:ext cx="2680335" cy="216085"/>
          </a:xfrm>
          <a:prstGeom prst="rect">
            <a:avLst/>
          </a:prstGeom>
          <a:noFill/>
          <a:ln>
            <a:noFill/>
          </a:ln>
        </p:spPr>
        <p:txBody>
          <a:bodyPr spcFirstLastPara="1" wrap="square" lIns="0" tIns="0" rIns="0" bIns="0" anchor="t" anchorCtr="0">
            <a:spAutoFit/>
          </a:bodyPr>
          <a:lstStyle/>
          <a:p>
            <a:pPr algn="ctr"/>
            <a:r>
              <a:rPr lang="en-US" sz="1404" b="1" dirty="0">
                <a:solidFill>
                  <a:srgbClr val="64748B"/>
                </a:solidFill>
                <a:latin typeface="Poppins"/>
                <a:ea typeface="Poppins"/>
                <a:cs typeface="Poppins"/>
                <a:sym typeface="Poppins"/>
              </a:rPr>
              <a:t>FINAL YEAR PROJECT</a:t>
            </a:r>
            <a:endParaRPr dirty="0"/>
          </a:p>
        </p:txBody>
      </p:sp>
      <p:sp>
        <p:nvSpPr>
          <p:cNvPr id="88" name="Google Shape;88;p13"/>
          <p:cNvSpPr txBox="1"/>
          <p:nvPr/>
        </p:nvSpPr>
        <p:spPr>
          <a:xfrm>
            <a:off x="7254334" y="5763915"/>
            <a:ext cx="2541546" cy="346249"/>
          </a:xfrm>
          <a:prstGeom prst="rect">
            <a:avLst/>
          </a:prstGeom>
          <a:noFill/>
          <a:ln>
            <a:noFill/>
          </a:ln>
        </p:spPr>
        <p:txBody>
          <a:bodyPr spcFirstLastPara="1" wrap="square" lIns="0" tIns="0" rIns="0" bIns="0" anchor="t" anchorCtr="0">
            <a:spAutoFit/>
          </a:bodyPr>
          <a:lstStyle/>
          <a:p>
            <a:pPr algn="ctr">
              <a:lnSpc>
                <a:spcPct val="150000"/>
              </a:lnSpc>
            </a:pPr>
            <a:r>
              <a:rPr lang="en-US" sz="1500" b="1" dirty="0">
                <a:solidFill>
                  <a:srgbClr val="1E3A8A"/>
                </a:solidFill>
                <a:latin typeface="Lato"/>
                <a:ea typeface="Lato"/>
                <a:cs typeface="Lato"/>
                <a:sym typeface="Lato"/>
              </a:rPr>
              <a:t>SESSION: 2023 - 2026</a:t>
            </a:r>
            <a:endParaRPr dirty="0"/>
          </a:p>
        </p:txBody>
      </p:sp>
      <p:sp>
        <p:nvSpPr>
          <p:cNvPr id="89" name="Google Shape;89;p13"/>
          <p:cNvSpPr txBox="1"/>
          <p:nvPr/>
        </p:nvSpPr>
        <p:spPr>
          <a:xfrm>
            <a:off x="1882189" y="4264874"/>
            <a:ext cx="1370624" cy="184666"/>
          </a:xfrm>
          <a:prstGeom prst="rect">
            <a:avLst/>
          </a:prstGeom>
          <a:noFill/>
          <a:ln>
            <a:noFill/>
          </a:ln>
        </p:spPr>
        <p:txBody>
          <a:bodyPr spcFirstLastPara="1" wrap="square" lIns="0" tIns="0" rIns="0" bIns="0" anchor="t" anchorCtr="0">
            <a:spAutoFit/>
          </a:bodyPr>
          <a:lstStyle/>
          <a:p>
            <a:r>
              <a:rPr lang="en-US" sz="1200" b="1" dirty="0">
                <a:solidFill>
                  <a:srgbClr val="1E3A8A"/>
                </a:solidFill>
                <a:latin typeface="Lato"/>
                <a:ea typeface="Lato"/>
                <a:cs typeface="Lato"/>
                <a:sym typeface="Lato"/>
              </a:rPr>
              <a:t>PROJECT TEAM:</a:t>
            </a:r>
            <a:endParaRPr dirty="0"/>
          </a:p>
        </p:txBody>
      </p:sp>
      <p:sp>
        <p:nvSpPr>
          <p:cNvPr id="90" name="Google Shape;90;p13"/>
          <p:cNvSpPr txBox="1"/>
          <p:nvPr/>
        </p:nvSpPr>
        <p:spPr>
          <a:xfrm>
            <a:off x="2111506" y="4513440"/>
            <a:ext cx="4346170" cy="1173719"/>
          </a:xfrm>
          <a:prstGeom prst="rect">
            <a:avLst/>
          </a:prstGeom>
          <a:noFill/>
          <a:ln>
            <a:noFill/>
          </a:ln>
        </p:spPr>
        <p:txBody>
          <a:bodyPr spcFirstLastPara="1" wrap="square" lIns="0" tIns="0" rIns="0" bIns="0" anchor="t" anchorCtr="0">
            <a:spAutoFit/>
          </a:bodyPr>
          <a:lstStyle/>
          <a:p>
            <a:pPr>
              <a:lnSpc>
                <a:spcPct val="112500"/>
              </a:lnSpc>
            </a:pPr>
            <a:r>
              <a:rPr lang="en-US" sz="1350" dirty="0">
                <a:solidFill>
                  <a:srgbClr val="334155"/>
                </a:solidFill>
                <a:latin typeface="Lato"/>
                <a:ea typeface="Lato"/>
                <a:cs typeface="Lato"/>
                <a:sym typeface="Lato"/>
              </a:rPr>
              <a:t>Uzair Ghani </a:t>
            </a:r>
            <a:br>
              <a:rPr lang="en-US" sz="1350" dirty="0">
                <a:solidFill>
                  <a:srgbClr val="334155"/>
                </a:solidFill>
                <a:latin typeface="Lato"/>
                <a:ea typeface="Lato"/>
                <a:cs typeface="Lato"/>
                <a:sym typeface="Lato"/>
              </a:rPr>
            </a:br>
            <a:r>
              <a:rPr lang="en-US" sz="1350" dirty="0">
                <a:solidFill>
                  <a:srgbClr val="334155"/>
                </a:solidFill>
                <a:latin typeface="Lato"/>
                <a:ea typeface="Lato"/>
                <a:cs typeface="Lato"/>
                <a:sym typeface="Lato"/>
              </a:rPr>
              <a:t>Muhammad Uzair</a:t>
            </a:r>
            <a:br>
              <a:rPr lang="en-US" sz="1800" dirty="0">
                <a:solidFill>
                  <a:schemeClr val="dk1"/>
                </a:solidFill>
                <a:latin typeface="Calibri"/>
                <a:ea typeface="Calibri"/>
                <a:cs typeface="Calibri"/>
                <a:sym typeface="Calibri"/>
              </a:rPr>
            </a:br>
            <a:r>
              <a:rPr lang="en-US" sz="1350" dirty="0">
                <a:solidFill>
                  <a:srgbClr val="334155"/>
                </a:solidFill>
                <a:latin typeface="Lato"/>
                <a:ea typeface="Lato"/>
                <a:cs typeface="Lato"/>
                <a:sym typeface="Lato"/>
              </a:rPr>
              <a:t>Umer Yasir </a:t>
            </a:r>
            <a:br>
              <a:rPr lang="en-US" sz="1350" dirty="0">
                <a:solidFill>
                  <a:srgbClr val="334155"/>
                </a:solidFill>
                <a:latin typeface="Lato"/>
                <a:ea typeface="Lato"/>
                <a:cs typeface="Lato"/>
                <a:sym typeface="Lato"/>
              </a:rPr>
            </a:br>
            <a:r>
              <a:rPr lang="en-US" sz="1350" dirty="0">
                <a:solidFill>
                  <a:srgbClr val="334155"/>
                </a:solidFill>
                <a:latin typeface="Lato"/>
                <a:ea typeface="Lato"/>
                <a:cs typeface="Lato"/>
                <a:sym typeface="Lato"/>
              </a:rPr>
              <a:t>Muhammad Bilal</a:t>
            </a:r>
            <a:br>
              <a:rPr lang="en-US" sz="1800" dirty="0">
                <a:solidFill>
                  <a:schemeClr val="dk1"/>
                </a:solidFill>
                <a:latin typeface="Calibri"/>
                <a:ea typeface="Calibri"/>
                <a:cs typeface="Calibri"/>
                <a:sym typeface="Calibri"/>
              </a:rPr>
            </a:br>
            <a:r>
              <a:rPr lang="en-US" sz="1350" dirty="0">
                <a:solidFill>
                  <a:srgbClr val="334155"/>
                </a:solidFill>
                <a:latin typeface="Lato"/>
                <a:ea typeface="Lato"/>
                <a:cs typeface="Lato"/>
                <a:sym typeface="Lato"/>
              </a:rPr>
              <a:t>Muhammad Sufyan</a:t>
            </a:r>
            <a:endParaRPr dirty="0"/>
          </a:p>
        </p:txBody>
      </p:sp>
      <p:sp>
        <p:nvSpPr>
          <p:cNvPr id="91" name="Google Shape;91;p13"/>
          <p:cNvSpPr txBox="1"/>
          <p:nvPr/>
        </p:nvSpPr>
        <p:spPr>
          <a:xfrm>
            <a:off x="7972899" y="4328774"/>
            <a:ext cx="1104415" cy="184666"/>
          </a:xfrm>
          <a:prstGeom prst="rect">
            <a:avLst/>
          </a:prstGeom>
          <a:noFill/>
          <a:ln>
            <a:noFill/>
          </a:ln>
        </p:spPr>
        <p:txBody>
          <a:bodyPr spcFirstLastPara="1" wrap="square" lIns="0" tIns="0" rIns="0" bIns="0" anchor="t" anchorCtr="0">
            <a:spAutoFit/>
          </a:bodyPr>
          <a:lstStyle/>
          <a:p>
            <a:r>
              <a:rPr lang="en-US" sz="1200" b="1" dirty="0">
                <a:solidFill>
                  <a:srgbClr val="1E3A8A"/>
                </a:solidFill>
                <a:latin typeface="Lato"/>
                <a:ea typeface="Lato"/>
                <a:cs typeface="Lato"/>
                <a:sym typeface="Lato"/>
              </a:rPr>
              <a:t>SUPERVISOR:</a:t>
            </a:r>
            <a:endParaRPr dirty="0"/>
          </a:p>
        </p:txBody>
      </p:sp>
      <p:sp>
        <p:nvSpPr>
          <p:cNvPr id="92" name="Google Shape;92;p13"/>
          <p:cNvSpPr txBox="1"/>
          <p:nvPr/>
        </p:nvSpPr>
        <p:spPr>
          <a:xfrm>
            <a:off x="8284633" y="4546592"/>
            <a:ext cx="4076700" cy="469487"/>
          </a:xfrm>
          <a:prstGeom prst="rect">
            <a:avLst/>
          </a:prstGeom>
          <a:noFill/>
          <a:ln>
            <a:noFill/>
          </a:ln>
        </p:spPr>
        <p:txBody>
          <a:bodyPr spcFirstLastPara="1" wrap="square" lIns="0" tIns="0" rIns="0" bIns="0" anchor="t" anchorCtr="0">
            <a:spAutoFit/>
          </a:bodyPr>
          <a:lstStyle/>
          <a:p>
            <a:pPr>
              <a:lnSpc>
                <a:spcPct val="112500"/>
              </a:lnSpc>
            </a:pPr>
            <a:r>
              <a:rPr lang="en-US" sz="1350" dirty="0">
                <a:solidFill>
                  <a:srgbClr val="334155"/>
                </a:solidFill>
                <a:latin typeface="Lato"/>
                <a:ea typeface="Lato"/>
                <a:cs typeface="Lato"/>
                <a:sym typeface="Lato"/>
              </a:rPr>
              <a:t>Mr. Hassan Ayaz</a:t>
            </a:r>
            <a:br>
              <a:rPr lang="en-US" sz="1800" dirty="0">
                <a:solidFill>
                  <a:schemeClr val="dk1"/>
                </a:solidFill>
                <a:latin typeface="Calibri"/>
                <a:ea typeface="Calibri"/>
                <a:cs typeface="Calibri"/>
                <a:sym typeface="Calibri"/>
              </a:rPr>
            </a:br>
            <a:r>
              <a:rPr lang="en-US" sz="1350" dirty="0">
                <a:solidFill>
                  <a:srgbClr val="334155"/>
                </a:solidFill>
                <a:latin typeface="Lato"/>
                <a:ea typeface="Lato"/>
                <a:cs typeface="Lato"/>
                <a:sym typeface="Lato"/>
              </a:rPr>
              <a:t>CT Department, CTTI Islamabad</a:t>
            </a:r>
            <a:endParaRPr dirty="0"/>
          </a:p>
        </p:txBody>
      </p:sp>
      <p:sp>
        <p:nvSpPr>
          <p:cNvPr id="87" name="Google Shape;87;p13"/>
          <p:cNvSpPr txBox="1"/>
          <p:nvPr/>
        </p:nvSpPr>
        <p:spPr>
          <a:xfrm>
            <a:off x="3740627" y="3123905"/>
            <a:ext cx="4710743" cy="484748"/>
          </a:xfrm>
          <a:prstGeom prst="rect">
            <a:avLst/>
          </a:prstGeom>
          <a:noFill/>
          <a:ln>
            <a:noFill/>
          </a:ln>
        </p:spPr>
        <p:txBody>
          <a:bodyPr spcFirstLastPara="1" wrap="square" lIns="0" tIns="0" rIns="0" bIns="0" anchor="t" anchorCtr="0">
            <a:spAutoFit/>
          </a:bodyPr>
          <a:lstStyle/>
          <a:p>
            <a:pPr algn="ctr">
              <a:lnSpc>
                <a:spcPct val="150000"/>
              </a:lnSpc>
            </a:pPr>
            <a:r>
              <a:rPr lang="en-US" sz="2100" dirty="0">
                <a:solidFill>
                  <a:srgbClr val="475569"/>
                </a:solidFill>
                <a:latin typeface="Lato"/>
                <a:ea typeface="Lato"/>
                <a:cs typeface="Lato"/>
                <a:sym typeface="Lato"/>
              </a:rPr>
              <a:t>Deepfake Image Detection System</a:t>
            </a:r>
            <a:endParaRPr dirty="0"/>
          </a:p>
        </p:txBody>
      </p:sp>
    </p:spTree>
    <p:extLst>
      <p:ext uri="{BB962C8B-B14F-4D97-AF65-F5344CB8AC3E}">
        <p14:creationId xmlns:p14="http://schemas.microsoft.com/office/powerpoint/2010/main" val="1523008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2AB92D76-4EAB-07BB-44C6-07EC241BD8C8}"/>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2D7A6DB3-1126-8BD8-933D-228A745D7590}"/>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Problem Statement</a:t>
            </a:r>
            <a:endParaRPr dirty="0"/>
          </a:p>
        </p:txBody>
      </p:sp>
      <p:sp>
        <p:nvSpPr>
          <p:cNvPr id="101" name="Google Shape;101;p14">
            <a:extLst>
              <a:ext uri="{FF2B5EF4-FFF2-40B4-BE49-F238E27FC236}">
                <a16:creationId xmlns:a16="http://schemas.microsoft.com/office/drawing/2014/main" id="{D2A00A38-DF58-D3ED-CF88-D94A9C4B920B}"/>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a:extLst>
              <a:ext uri="{FF2B5EF4-FFF2-40B4-BE49-F238E27FC236}">
                <a16:creationId xmlns:a16="http://schemas.microsoft.com/office/drawing/2014/main" id="{30F1F921-13D7-EDCD-D838-D840C8C498B6}"/>
              </a:ext>
            </a:extLst>
          </p:cNvPr>
          <p:cNvSpPr txBox="1"/>
          <p:nvPr/>
        </p:nvSpPr>
        <p:spPr>
          <a:xfrm>
            <a:off x="536714" y="1553582"/>
            <a:ext cx="11201400" cy="369332"/>
          </a:xfrm>
          <a:prstGeom prst="rect">
            <a:avLst/>
          </a:prstGeom>
          <a:noFill/>
          <a:ln>
            <a:noFill/>
          </a:ln>
        </p:spPr>
        <p:txBody>
          <a:bodyPr spcFirstLastPara="1" wrap="square" lIns="0" tIns="0" rIns="0" bIns="0" anchor="t" anchorCtr="0">
            <a:spAutoFit/>
          </a:bodyPr>
          <a:lstStyle/>
          <a:p>
            <a:pPr>
              <a:lnSpc>
                <a:spcPct val="150000"/>
              </a:lnSpc>
            </a:pPr>
            <a:r>
              <a:rPr lang="en-US" sz="1600" dirty="0">
                <a:latin typeface="Poppins" panose="00000500000000000000" pitchFamily="2" charset="0"/>
                <a:cs typeface="Poppins" panose="00000500000000000000" pitchFamily="2" charset="0"/>
              </a:rPr>
              <a:t>Across every professional sector, the lack of verification tools is creating a "Post-Truth" environment.</a:t>
            </a:r>
          </a:p>
        </p:txBody>
      </p:sp>
      <p:pic>
        <p:nvPicPr>
          <p:cNvPr id="1030" name="Picture 6">
            <a:extLst>
              <a:ext uri="{FF2B5EF4-FFF2-40B4-BE49-F238E27FC236}">
                <a16:creationId xmlns:a16="http://schemas.microsoft.com/office/drawing/2014/main" id="{6153E210-5741-3C43-DFC7-E963712830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776" y="2441287"/>
            <a:ext cx="2193156" cy="162718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9">
            <a:extLst>
              <a:ext uri="{FF2B5EF4-FFF2-40B4-BE49-F238E27FC236}">
                <a16:creationId xmlns:a16="http://schemas.microsoft.com/office/drawing/2014/main" id="{297B39C6-EC97-6B8F-2DF1-8A389931EB73}"/>
              </a:ext>
            </a:extLst>
          </p:cNvPr>
          <p:cNvSpPr>
            <a:spLocks noChangeArrowheads="1"/>
          </p:cNvSpPr>
          <p:nvPr/>
        </p:nvSpPr>
        <p:spPr bwMode="auto">
          <a:xfrm>
            <a:off x="629593" y="3039434"/>
            <a:ext cx="2193156" cy="1400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1900" b="1" i="0" u="none" strike="noStrike" cap="none" normalizeH="0" baseline="0" dirty="0">
                <a:ln>
                  <a:noFill/>
                </a:ln>
                <a:solidFill>
                  <a:srgbClr val="1E3A8A"/>
                </a:solidFill>
                <a:effectLst/>
                <a:latin typeface="Lato" panose="020F0502020204030203" pitchFamily="34" charset="0"/>
                <a:ea typeface="Lato" panose="020F0502020204030203" pitchFamily="34" charset="0"/>
                <a:cs typeface="Lato" panose="020F0502020204030203" pitchFamily="34" charset="0"/>
              </a:rPr>
              <a:t>          </a:t>
            </a:r>
            <a:r>
              <a:rPr kumimoji="0" lang="en-PK" altLang="en-PK" sz="1900" b="1" i="0" u="none" strike="noStrike" cap="none" normalizeH="0" baseline="0" dirty="0">
                <a:ln>
                  <a:noFill/>
                </a:ln>
                <a:solidFill>
                  <a:srgbClr val="1E3A8A"/>
                </a:solidFill>
                <a:effectLst/>
                <a:latin typeface="Lato" panose="020F0502020204030203" pitchFamily="34" charset="0"/>
                <a:ea typeface="Lato" panose="020F0502020204030203" pitchFamily="34" charset="0"/>
                <a:cs typeface="Lato" panose="020F0502020204030203" pitchFamily="34" charset="0"/>
              </a:rPr>
              <a:t>Legal</a:t>
            </a:r>
            <a:endParaRPr kumimoji="0" lang="en-PK" altLang="en-PK"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500" b="0" i="0" u="none" strike="noStrike" cap="none" normalizeH="0" baseline="0" dirty="0">
                <a:ln>
                  <a:noFill/>
                </a:ln>
                <a:solidFill>
                  <a:srgbClr val="334155"/>
                </a:solidFill>
                <a:effectLst/>
                <a:latin typeface="Lato" panose="020F0502020204030203" pitchFamily="34" charset="0"/>
                <a:ea typeface="Lato" panose="020F0502020204030203" pitchFamily="34" charset="0"/>
                <a:cs typeface="Lato" panose="020F0502020204030203" pitchFamily="34" charset="0"/>
              </a:rPr>
              <a:t>Courts face fabricated </a:t>
            </a:r>
            <a:br>
              <a:rPr kumimoji="0" lang="en-US" altLang="en-PK" sz="1500" b="0" i="0" u="none" strike="noStrike" cap="none" normalizeH="0" baseline="0" dirty="0">
                <a:ln>
                  <a:noFill/>
                </a:ln>
                <a:solidFill>
                  <a:srgbClr val="334155"/>
                </a:solidFill>
                <a:effectLst/>
                <a:latin typeface="Lato" panose="020F0502020204030203" pitchFamily="34" charset="0"/>
                <a:ea typeface="Lato" panose="020F0502020204030203" pitchFamily="34" charset="0"/>
                <a:cs typeface="Lato" panose="020F0502020204030203" pitchFamily="34" charset="0"/>
              </a:rPr>
            </a:br>
            <a:r>
              <a:rPr kumimoji="0" lang="en-PK" altLang="en-PK" sz="1500" b="0" i="0" u="none" strike="noStrike" cap="none" normalizeH="0" baseline="0" dirty="0">
                <a:ln>
                  <a:noFill/>
                </a:ln>
                <a:solidFill>
                  <a:srgbClr val="334155"/>
                </a:solidFill>
                <a:effectLst/>
                <a:latin typeface="Lato" panose="020F0502020204030203" pitchFamily="34" charset="0"/>
                <a:ea typeface="Lato" panose="020F0502020204030203" pitchFamily="34" charset="0"/>
                <a:cs typeface="Lato" panose="020F0502020204030203" pitchFamily="34" charset="0"/>
              </a:rPr>
              <a:t>"Deepfake Evidence".</a:t>
            </a:r>
            <a:endParaRPr kumimoji="0" lang="en-PK" altLang="en-PK" sz="10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br>
            <a:endParaRPr kumimoji="0" lang="en-PK" altLang="en-PK" sz="18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p:txBody>
      </p:sp>
      <p:pic>
        <p:nvPicPr>
          <p:cNvPr id="1034" name="Picture 10">
            <a:extLst>
              <a:ext uri="{FF2B5EF4-FFF2-40B4-BE49-F238E27FC236}">
                <a16:creationId xmlns:a16="http://schemas.microsoft.com/office/drawing/2014/main" id="{F9E53EEA-9490-20EE-80A1-4EAA8D8D0F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227" y="2574230"/>
            <a:ext cx="325480" cy="33226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80800B0D-1749-5E47-7061-A17C0A2F5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9559" y="2394670"/>
            <a:ext cx="2193156" cy="162718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9">
            <a:extLst>
              <a:ext uri="{FF2B5EF4-FFF2-40B4-BE49-F238E27FC236}">
                <a16:creationId xmlns:a16="http://schemas.microsoft.com/office/drawing/2014/main" id="{AF07C9A7-74E7-8219-1F5B-309B67EA7CAC}"/>
              </a:ext>
            </a:extLst>
          </p:cNvPr>
          <p:cNvSpPr>
            <a:spLocks noChangeArrowheads="1"/>
          </p:cNvSpPr>
          <p:nvPr/>
        </p:nvSpPr>
        <p:spPr bwMode="auto">
          <a:xfrm>
            <a:off x="3592071" y="2929141"/>
            <a:ext cx="1992121" cy="1854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b="1" dirty="0">
                <a:solidFill>
                  <a:srgbClr val="1E3A8A"/>
                </a:solidFill>
                <a:latin typeface="Lato" panose="020F0502020204030203" pitchFamily="34" charset="0"/>
                <a:ea typeface="Lato" panose="020F0502020204030203" pitchFamily="34" charset="0"/>
                <a:cs typeface="Lato" panose="020F0502020204030203" pitchFamily="34" charset="0"/>
              </a:rPr>
              <a:t>          </a:t>
            </a:r>
            <a:r>
              <a:rPr lang="en-US" sz="1900" b="1" dirty="0">
                <a:solidFill>
                  <a:srgbClr val="1E3A8A"/>
                </a:solidFill>
                <a:latin typeface="Lato" panose="020F0502020204030203" pitchFamily="34" charset="0"/>
                <a:ea typeface="Lato" panose="020F0502020204030203" pitchFamily="34" charset="0"/>
                <a:cs typeface="Lato" panose="020F0502020204030203" pitchFamily="34" charset="0"/>
              </a:rPr>
              <a:t>Banking</a:t>
            </a:r>
            <a:endParaRPr lang="en-US" sz="800" b="1" dirty="0">
              <a:solidFill>
                <a:srgbClr val="1E3A8A"/>
              </a:solidFill>
              <a:latin typeface="Lato" panose="020F0502020204030203" pitchFamily="34" charset="0"/>
              <a:ea typeface="Lato" panose="020F0502020204030203" pitchFamily="34" charset="0"/>
              <a:cs typeface="Lato" panose="020F0502020204030203" pitchFamily="34" charset="0"/>
            </a:endParaRPr>
          </a:p>
          <a:p>
            <a:r>
              <a:rPr lang="en-US" sz="1500" dirty="0">
                <a:solidFill>
                  <a:srgbClr val="334155"/>
                </a:solidFill>
                <a:latin typeface="Lato" panose="020F0502020204030203" pitchFamily="34" charset="0"/>
                <a:ea typeface="Lato" panose="020F0502020204030203" pitchFamily="34" charset="0"/>
                <a:cs typeface="Lato" panose="020F0502020204030203" pitchFamily="34" charset="0"/>
              </a:rPr>
              <a:t>AI documents bypass</a:t>
            </a:r>
            <a:br>
              <a:rPr lang="en-US" sz="1500" dirty="0">
                <a:solidFill>
                  <a:srgbClr val="334155"/>
                </a:solidFill>
                <a:latin typeface="Lato" panose="020F0502020204030203" pitchFamily="34" charset="0"/>
                <a:ea typeface="Lato" panose="020F0502020204030203" pitchFamily="34" charset="0"/>
                <a:cs typeface="Lato" panose="020F0502020204030203" pitchFamily="34" charset="0"/>
              </a:rPr>
            </a:br>
            <a:r>
              <a:rPr lang="en-US" sz="1500" dirty="0">
                <a:solidFill>
                  <a:srgbClr val="334155"/>
                </a:solidFill>
                <a:latin typeface="Lato" panose="020F0502020204030203" pitchFamily="34" charset="0"/>
                <a:ea typeface="Lato" panose="020F0502020204030203" pitchFamily="34" charset="0"/>
                <a:cs typeface="Lato" panose="020F0502020204030203" pitchFamily="34" charset="0"/>
              </a:rPr>
              <a:t> manual KYC checks.</a:t>
            </a:r>
          </a:p>
          <a:p>
            <a:br>
              <a:rPr lang="en-US" sz="2000" dirty="0">
                <a:solidFill>
                  <a:srgbClr val="1E3A8A"/>
                </a:solidFill>
                <a:latin typeface="Lato" panose="020F0502020204030203" pitchFamily="34" charset="0"/>
                <a:ea typeface="Lato" panose="020F0502020204030203" pitchFamily="34" charset="0"/>
                <a:cs typeface="Lato" panose="020F0502020204030203" pitchFamily="34" charset="0"/>
              </a:rPr>
            </a:br>
            <a:br>
              <a:rPr kumimoji="0" lang="en-PK" altLang="en-PK" sz="1800" b="0" i="0" u="none" strike="noStrike" cap="none" normalizeH="0" baseline="0" dirty="0">
                <a:ln>
                  <a:noFill/>
                </a:ln>
                <a:solidFill>
                  <a:srgbClr val="1E3A8A"/>
                </a:solidFill>
                <a:effectLst/>
                <a:latin typeface="Lato" panose="020F0502020204030203" pitchFamily="34" charset="0"/>
                <a:ea typeface="Lato" panose="020F0502020204030203" pitchFamily="34" charset="0"/>
                <a:cs typeface="Lato" panose="020F0502020204030203" pitchFamily="34" charset="0"/>
              </a:rPr>
            </a:br>
            <a:endParaRPr kumimoji="0" lang="en-PK" altLang="en-PK" sz="1800" b="0" i="0" u="none" strike="noStrike" cap="none" normalizeH="0" baseline="0" dirty="0">
              <a:ln>
                <a:noFill/>
              </a:ln>
              <a:solidFill>
                <a:srgbClr val="1E3A8A"/>
              </a:solidFill>
              <a:effectLst/>
              <a:latin typeface="Lato" panose="020F0502020204030203" pitchFamily="34" charset="0"/>
              <a:ea typeface="Lato" panose="020F0502020204030203" pitchFamily="34" charset="0"/>
              <a:cs typeface="Lato" panose="020F0502020204030203" pitchFamily="34" charset="0"/>
            </a:endParaRPr>
          </a:p>
        </p:txBody>
      </p:sp>
      <p:pic>
        <p:nvPicPr>
          <p:cNvPr id="13" name="Picture 6">
            <a:extLst>
              <a:ext uri="{FF2B5EF4-FFF2-40B4-BE49-F238E27FC236}">
                <a16:creationId xmlns:a16="http://schemas.microsoft.com/office/drawing/2014/main" id="{9A2CA63C-550D-C20F-E430-E41D506C90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1244" y="2366077"/>
            <a:ext cx="2193156" cy="162718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9">
            <a:extLst>
              <a:ext uri="{FF2B5EF4-FFF2-40B4-BE49-F238E27FC236}">
                <a16:creationId xmlns:a16="http://schemas.microsoft.com/office/drawing/2014/main" id="{D039FBB0-7C5C-918E-1AF5-04D9DA98E95E}"/>
              </a:ext>
            </a:extLst>
          </p:cNvPr>
          <p:cNvSpPr>
            <a:spLocks noChangeArrowheads="1"/>
          </p:cNvSpPr>
          <p:nvPr/>
        </p:nvSpPr>
        <p:spPr bwMode="auto">
          <a:xfrm>
            <a:off x="6441473" y="2535191"/>
            <a:ext cx="2066937"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PK" sz="1500" b="1" i="0" u="none" strike="noStrike" cap="none" normalizeH="0" baseline="0" dirty="0">
                <a:ln>
                  <a:noFill/>
                </a:ln>
                <a:solidFill>
                  <a:srgbClr val="1E3A8A"/>
                </a:solidFill>
                <a:effectLst/>
                <a:latin typeface="Lato" panose="020F0502020204030203" pitchFamily="34" charset="0"/>
                <a:ea typeface="Lato" panose="020F0502020204030203" pitchFamily="34" charset="0"/>
                <a:cs typeface="Lato" panose="020F0502020204030203" pitchFamily="34" charset="0"/>
              </a:rPr>
              <a:t>          </a:t>
            </a:r>
            <a:br>
              <a:rPr kumimoji="0" lang="en-US" altLang="en-PK" sz="1500" b="1" i="0" u="none" strike="noStrike" cap="none" normalizeH="0" baseline="0" dirty="0">
                <a:ln>
                  <a:noFill/>
                </a:ln>
                <a:solidFill>
                  <a:srgbClr val="1E3A8A"/>
                </a:solidFill>
                <a:effectLst/>
                <a:latin typeface="Lato" panose="020F0502020204030203" pitchFamily="34" charset="0"/>
                <a:ea typeface="Lato" panose="020F0502020204030203" pitchFamily="34" charset="0"/>
                <a:cs typeface="Lato" panose="020F0502020204030203" pitchFamily="34" charset="0"/>
              </a:rPr>
            </a:br>
            <a:endParaRPr kumimoji="0" lang="en-PK" altLang="en-PK" sz="15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r>
              <a:rPr lang="en-US" sz="1900" b="1" dirty="0">
                <a:solidFill>
                  <a:srgbClr val="1E3A8A"/>
                </a:solidFill>
                <a:latin typeface="Lato" panose="020F0502020204030203" pitchFamily="34" charset="0"/>
                <a:ea typeface="Lato" panose="020F0502020204030203" pitchFamily="34" charset="0"/>
                <a:cs typeface="Lato" panose="020F0502020204030203" pitchFamily="34" charset="0"/>
              </a:rPr>
              <a:t>     Journalism</a:t>
            </a:r>
            <a:endParaRPr lang="en-US" sz="1200" dirty="0">
              <a:latin typeface="Lato" panose="020F0502020204030203" pitchFamily="34" charset="0"/>
              <a:ea typeface="Lato" panose="020F0502020204030203" pitchFamily="34" charset="0"/>
              <a:cs typeface="Lato" panose="020F0502020204030203" pitchFamily="34" charset="0"/>
            </a:endParaRPr>
          </a:p>
          <a:p>
            <a:r>
              <a:rPr lang="en-US" sz="1500" dirty="0">
                <a:solidFill>
                  <a:srgbClr val="334155"/>
                </a:solidFill>
                <a:latin typeface="Lato" panose="020F0502020204030203" pitchFamily="34" charset="0"/>
                <a:ea typeface="Lato" panose="020F0502020204030203" pitchFamily="34" charset="0"/>
                <a:cs typeface="Lato" panose="020F0502020204030203" pitchFamily="34" charset="0"/>
              </a:rPr>
              <a:t>AI documents bypass </a:t>
            </a:r>
            <a:br>
              <a:rPr lang="en-US" sz="1500" dirty="0">
                <a:solidFill>
                  <a:srgbClr val="334155"/>
                </a:solidFill>
                <a:latin typeface="Lato" panose="020F0502020204030203" pitchFamily="34" charset="0"/>
                <a:ea typeface="Lato" panose="020F0502020204030203" pitchFamily="34" charset="0"/>
                <a:cs typeface="Lato" panose="020F0502020204030203" pitchFamily="34" charset="0"/>
              </a:rPr>
            </a:br>
            <a:r>
              <a:rPr lang="en-US" sz="1500" dirty="0">
                <a:solidFill>
                  <a:srgbClr val="334155"/>
                </a:solidFill>
                <a:latin typeface="Lato" panose="020F0502020204030203" pitchFamily="34" charset="0"/>
                <a:ea typeface="Lato" panose="020F0502020204030203" pitchFamily="34" charset="0"/>
                <a:cs typeface="Lato" panose="020F0502020204030203" pitchFamily="34" charset="0"/>
              </a:rPr>
              <a:t>manual KYC checks.</a:t>
            </a:r>
          </a:p>
          <a:p>
            <a:br>
              <a:rPr lang="en-US" sz="1500" dirty="0">
                <a:latin typeface="Lato" panose="020F0502020204030203" pitchFamily="34" charset="0"/>
                <a:ea typeface="Lato" panose="020F0502020204030203" pitchFamily="34" charset="0"/>
                <a:cs typeface="Lato" panose="020F0502020204030203" pitchFamily="34" charset="0"/>
              </a:rPr>
            </a:br>
            <a:br>
              <a:rPr kumimoji="0" lang="en-PK" altLang="en-PK" sz="15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br>
            <a:endParaRPr kumimoji="0" lang="en-PK" altLang="en-PK" sz="15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p:txBody>
      </p:sp>
      <p:pic>
        <p:nvPicPr>
          <p:cNvPr id="16" name="Picture 6">
            <a:extLst>
              <a:ext uri="{FF2B5EF4-FFF2-40B4-BE49-F238E27FC236}">
                <a16:creationId xmlns:a16="http://schemas.microsoft.com/office/drawing/2014/main" id="{C47CCE52-9E28-452D-A75D-78508B88B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2978" y="2311896"/>
            <a:ext cx="2193156" cy="162718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F2D7AB7-A66C-5817-617F-B5AB153B7D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714" y="4828799"/>
            <a:ext cx="3342267" cy="162392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C2407A94-B9EA-5656-DF54-61779FDF83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23262" y="4794825"/>
            <a:ext cx="3371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25ACBF63-DDD9-6FCB-6EAA-CA6CC1C346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6140" y="4821612"/>
            <a:ext cx="3371850" cy="163830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71DA952B-B1F3-85BE-11A5-3CFF005441B8}"/>
              </a:ext>
            </a:extLst>
          </p:cNvPr>
          <p:cNvSpPr txBox="1"/>
          <p:nvPr/>
        </p:nvSpPr>
        <p:spPr>
          <a:xfrm>
            <a:off x="314180" y="4264976"/>
            <a:ext cx="8547904" cy="923330"/>
          </a:xfrm>
          <a:prstGeom prst="rect">
            <a:avLst/>
          </a:prstGeom>
          <a:noFill/>
        </p:spPr>
        <p:txBody>
          <a:bodyPr wrap="square">
            <a:spAutoFit/>
          </a:bodyPr>
          <a:lstStyle/>
          <a:p>
            <a:pPr rtl="0">
              <a:buNone/>
            </a:pPr>
            <a:r>
              <a:rPr lang="en-US" sz="1800" b="1" i="0" u="none" strike="noStrike" dirty="0">
                <a:solidFill>
                  <a:schemeClr val="tx1"/>
                </a:solidFill>
                <a:effectLst/>
                <a:latin typeface="Lato" panose="020F0502020204030203" pitchFamily="34" charset="0"/>
                <a:ea typeface="Lato" panose="020F0502020204030203" pitchFamily="34" charset="0"/>
                <a:cs typeface="Lato" panose="020F0502020204030203" pitchFamily="34" charset="0"/>
              </a:rPr>
              <a:t>The Alarming Statistics</a:t>
            </a:r>
            <a:endParaRPr lang="en-US" sz="1800" b="0" dirty="0">
              <a:solidFill>
                <a:schemeClr val="tx1"/>
              </a:solidFill>
              <a:effectLst/>
              <a:latin typeface="Lato" panose="020F0502020204030203" pitchFamily="34" charset="0"/>
              <a:ea typeface="Lato" panose="020F0502020204030203" pitchFamily="34" charset="0"/>
              <a:cs typeface="Lato" panose="020F0502020204030203" pitchFamily="34" charset="0"/>
            </a:endParaRPr>
          </a:p>
          <a:p>
            <a:pPr>
              <a:buNone/>
            </a:pPr>
            <a:br>
              <a:rPr lang="en-US" sz="1800" dirty="0">
                <a:solidFill>
                  <a:schemeClr val="tx1"/>
                </a:solidFill>
                <a:latin typeface="Lato" panose="020F0502020204030203" pitchFamily="34" charset="0"/>
                <a:ea typeface="Lato" panose="020F0502020204030203" pitchFamily="34" charset="0"/>
                <a:cs typeface="Lato" panose="020F0502020204030203" pitchFamily="34" charset="0"/>
              </a:rPr>
            </a:br>
            <a:endParaRPr lang="en-PK" sz="1800"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96" name="TextBox 95">
            <a:extLst>
              <a:ext uri="{FF2B5EF4-FFF2-40B4-BE49-F238E27FC236}">
                <a16:creationId xmlns:a16="http://schemas.microsoft.com/office/drawing/2014/main" id="{0ECCD20C-E557-2C14-C61C-80AF3CF7CF9E}"/>
              </a:ext>
            </a:extLst>
          </p:cNvPr>
          <p:cNvSpPr txBox="1"/>
          <p:nvPr/>
        </p:nvSpPr>
        <p:spPr>
          <a:xfrm>
            <a:off x="4488743" y="4897846"/>
            <a:ext cx="3116854" cy="1815882"/>
          </a:xfrm>
          <a:prstGeom prst="rect">
            <a:avLst/>
          </a:prstGeom>
          <a:noFill/>
        </p:spPr>
        <p:txBody>
          <a:bodyPr wrap="square">
            <a:spAutoFit/>
          </a:bodyPr>
          <a:lstStyle/>
          <a:p>
            <a:pPr rtl="0">
              <a:buNone/>
            </a:pPr>
            <a:r>
              <a:rPr lang="en-US" sz="32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&gt;50%</a:t>
            </a:r>
            <a:endParaRPr lang="en-US" sz="3200" b="0" dirty="0">
              <a:solidFill>
                <a:srgbClr val="D13031"/>
              </a:solidFill>
              <a:effectLst/>
              <a:latin typeface="Lato" panose="020F0502020204030203" pitchFamily="34" charset="0"/>
              <a:ea typeface="Lato" panose="020F0502020204030203" pitchFamily="34" charset="0"/>
              <a:cs typeface="Lato" panose="020F0502020204030203" pitchFamily="34" charset="0"/>
            </a:endParaRPr>
          </a:p>
          <a:p>
            <a:pPr rtl="0">
              <a:buNone/>
            </a:pPr>
            <a:br>
              <a:rPr lang="en-US" sz="1600" b="1"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br>
            <a:r>
              <a:rPr lang="en-US" sz="1600" b="1"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t>Human Inaccuracy</a:t>
            </a:r>
            <a:endParaRPr lang="en-US" sz="12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1200" b="0"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t>Trained experts fail at detection, equating to a random coin flip.</a:t>
            </a:r>
            <a:endParaRPr lang="en-US" sz="1200" b="0" dirty="0">
              <a:effectLst/>
              <a:latin typeface="Lato" panose="020F0502020204030203" pitchFamily="34" charset="0"/>
              <a:ea typeface="Lato" panose="020F0502020204030203" pitchFamily="34" charset="0"/>
              <a:cs typeface="Lato" panose="020F0502020204030203" pitchFamily="34" charset="0"/>
            </a:endParaRPr>
          </a:p>
          <a:p>
            <a:pPr>
              <a:buNone/>
            </a:pPr>
            <a:br>
              <a:rPr lang="en-US" sz="1200" dirty="0">
                <a:latin typeface="Lato" panose="020F0502020204030203" pitchFamily="34" charset="0"/>
                <a:ea typeface="Lato" panose="020F0502020204030203" pitchFamily="34" charset="0"/>
                <a:cs typeface="Lato" panose="020F0502020204030203" pitchFamily="34" charset="0"/>
              </a:rPr>
            </a:br>
            <a:endParaRPr lang="en-PK" sz="1200" dirty="0">
              <a:latin typeface="Lato" panose="020F0502020204030203" pitchFamily="34" charset="0"/>
              <a:ea typeface="Lato" panose="020F0502020204030203" pitchFamily="34" charset="0"/>
              <a:cs typeface="Lato" panose="020F0502020204030203" pitchFamily="34" charset="0"/>
            </a:endParaRPr>
          </a:p>
        </p:txBody>
      </p:sp>
      <p:sp>
        <p:nvSpPr>
          <p:cNvPr id="98" name="TextBox 97">
            <a:extLst>
              <a:ext uri="{FF2B5EF4-FFF2-40B4-BE49-F238E27FC236}">
                <a16:creationId xmlns:a16="http://schemas.microsoft.com/office/drawing/2014/main" id="{6069874F-AD8A-04AF-51ED-B3688198DC0F}"/>
              </a:ext>
            </a:extLst>
          </p:cNvPr>
          <p:cNvSpPr txBox="1"/>
          <p:nvPr/>
        </p:nvSpPr>
        <p:spPr>
          <a:xfrm>
            <a:off x="8178258" y="4828799"/>
            <a:ext cx="3116854" cy="1815882"/>
          </a:xfrm>
          <a:prstGeom prst="rect">
            <a:avLst/>
          </a:prstGeom>
          <a:noFill/>
        </p:spPr>
        <p:txBody>
          <a:bodyPr wrap="square">
            <a:spAutoFit/>
          </a:bodyPr>
          <a:lstStyle/>
          <a:p>
            <a:pPr rtl="0">
              <a:buNone/>
            </a:pPr>
            <a:r>
              <a:rPr lang="en-US" sz="3200" b="1" dirty="0">
                <a:solidFill>
                  <a:srgbClr val="D13031"/>
                </a:solidFill>
                <a:latin typeface="Lato" panose="020F0502020204030203" pitchFamily="34" charset="0"/>
                <a:ea typeface="Lato" panose="020F0502020204030203" pitchFamily="34" charset="0"/>
                <a:cs typeface="Lato" panose="020F0502020204030203" pitchFamily="34" charset="0"/>
              </a:rPr>
              <a:t>6</a:t>
            </a:r>
            <a:r>
              <a:rPr lang="en-US" sz="32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0%</a:t>
            </a:r>
            <a:endParaRPr lang="en-US" sz="3200" b="0" dirty="0">
              <a:solidFill>
                <a:srgbClr val="D13031"/>
              </a:solidFill>
              <a:effectLst/>
              <a:latin typeface="Lato" panose="020F0502020204030203" pitchFamily="34" charset="0"/>
              <a:ea typeface="Lato" panose="020F0502020204030203" pitchFamily="34" charset="0"/>
              <a:cs typeface="Lato" panose="020F0502020204030203" pitchFamily="34" charset="0"/>
            </a:endParaRPr>
          </a:p>
          <a:p>
            <a:pPr rtl="0">
              <a:buNone/>
            </a:pPr>
            <a:br>
              <a:rPr lang="en-US" sz="1600" b="1"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br>
            <a:r>
              <a:rPr lang="en-US" sz="1600" b="1"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t>Synthetic Content</a:t>
            </a:r>
            <a:endParaRPr lang="en-US" sz="12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1200" b="0"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t>Analysts estimate nearly all online visual</a:t>
            </a:r>
            <a:br>
              <a:rPr lang="en-US" sz="1200" b="0"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br>
            <a:r>
              <a:rPr lang="en-US" sz="1200" b="0"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t>media will be AI-generated by 2026.</a:t>
            </a:r>
            <a:endParaRPr lang="en-US" sz="1200" b="0" dirty="0">
              <a:effectLst/>
              <a:latin typeface="Lato" panose="020F0502020204030203" pitchFamily="34" charset="0"/>
              <a:ea typeface="Lato" panose="020F0502020204030203" pitchFamily="34" charset="0"/>
              <a:cs typeface="Lato" panose="020F0502020204030203" pitchFamily="34" charset="0"/>
            </a:endParaRPr>
          </a:p>
          <a:p>
            <a:pPr>
              <a:buNone/>
            </a:pPr>
            <a:br>
              <a:rPr lang="en-US" sz="1200" dirty="0">
                <a:latin typeface="Lato" panose="020F0502020204030203" pitchFamily="34" charset="0"/>
                <a:ea typeface="Lato" panose="020F0502020204030203" pitchFamily="34" charset="0"/>
                <a:cs typeface="Lato" panose="020F0502020204030203" pitchFamily="34" charset="0"/>
              </a:rPr>
            </a:br>
            <a:endParaRPr lang="en-PK" sz="1200" dirty="0">
              <a:latin typeface="Lato" panose="020F0502020204030203" pitchFamily="34" charset="0"/>
              <a:ea typeface="Lato" panose="020F0502020204030203" pitchFamily="34" charset="0"/>
              <a:cs typeface="Lato" panose="020F0502020204030203" pitchFamily="34" charset="0"/>
            </a:endParaRPr>
          </a:p>
        </p:txBody>
      </p:sp>
      <p:sp>
        <p:nvSpPr>
          <p:cNvPr id="103" name="TextBox 102">
            <a:extLst>
              <a:ext uri="{FF2B5EF4-FFF2-40B4-BE49-F238E27FC236}">
                <a16:creationId xmlns:a16="http://schemas.microsoft.com/office/drawing/2014/main" id="{D20F56E7-B12A-7BA9-394B-67B99B5FE3F3}"/>
              </a:ext>
            </a:extLst>
          </p:cNvPr>
          <p:cNvSpPr txBox="1"/>
          <p:nvPr/>
        </p:nvSpPr>
        <p:spPr>
          <a:xfrm>
            <a:off x="741464" y="4873775"/>
            <a:ext cx="3322040" cy="1877437"/>
          </a:xfrm>
          <a:prstGeom prst="rect">
            <a:avLst/>
          </a:prstGeom>
          <a:noFill/>
        </p:spPr>
        <p:txBody>
          <a:bodyPr wrap="square">
            <a:spAutoFit/>
          </a:bodyPr>
          <a:lstStyle/>
          <a:p>
            <a:pPr rtl="0">
              <a:buNone/>
            </a:pPr>
            <a:r>
              <a:rPr lang="en-US" sz="36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900%</a:t>
            </a:r>
            <a:endParaRPr lang="en-US" sz="3600" b="0" dirty="0">
              <a:effectLst/>
              <a:latin typeface="Lato" panose="020F0502020204030203" pitchFamily="34" charset="0"/>
              <a:ea typeface="Lato" panose="020F0502020204030203" pitchFamily="34" charset="0"/>
              <a:cs typeface="Lato" panose="020F0502020204030203" pitchFamily="34" charset="0"/>
            </a:endParaRPr>
          </a:p>
          <a:p>
            <a:pPr rtl="0">
              <a:buNone/>
            </a:pPr>
            <a:endParaRPr lang="en-US" sz="1600" b="1" dirty="0">
              <a:solidFill>
                <a:srgbClr val="334155"/>
              </a:solidFill>
              <a:latin typeface="Lato" panose="020F0502020204030203" pitchFamily="34" charset="0"/>
              <a:ea typeface="Lato" panose="020F0502020204030203" pitchFamily="34" charset="0"/>
              <a:cs typeface="Lato" panose="020F0502020204030203" pitchFamily="34" charset="0"/>
            </a:endParaRPr>
          </a:p>
          <a:p>
            <a:pPr rtl="0">
              <a:buNone/>
            </a:pPr>
            <a:r>
              <a:rPr lang="en-US" sz="1600" b="1"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t>Annual Growth</a:t>
            </a:r>
            <a:endParaRPr lang="en-US" sz="12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1200" b="0"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t>Flooding digital channels faster than</a:t>
            </a:r>
            <a:r>
              <a:rPr lang="en-US" sz="1200" dirty="0">
                <a:solidFill>
                  <a:srgbClr val="334155"/>
                </a:solidFill>
                <a:latin typeface="Lato" panose="020F0502020204030203" pitchFamily="34" charset="0"/>
                <a:ea typeface="Lato" panose="020F0502020204030203" pitchFamily="34" charset="0"/>
                <a:cs typeface="Lato" panose="020F0502020204030203" pitchFamily="34" charset="0"/>
              </a:rPr>
              <a:t> </a:t>
            </a:r>
            <a:r>
              <a:rPr lang="en-US" sz="1200" b="0" i="0" u="none" strike="noStrike" dirty="0">
                <a:solidFill>
                  <a:srgbClr val="334155"/>
                </a:solidFill>
                <a:effectLst/>
                <a:latin typeface="Lato" panose="020F0502020204030203" pitchFamily="34" charset="0"/>
                <a:ea typeface="Lato" panose="020F0502020204030203" pitchFamily="34" charset="0"/>
                <a:cs typeface="Lato" panose="020F0502020204030203" pitchFamily="34" charset="0"/>
              </a:rPr>
              <a:t>manual monitoring can handle.</a:t>
            </a:r>
            <a:endParaRPr lang="en-US" sz="1200" b="0" dirty="0">
              <a:effectLst/>
              <a:latin typeface="Lato" panose="020F0502020204030203" pitchFamily="34" charset="0"/>
              <a:ea typeface="Lato" panose="020F0502020204030203" pitchFamily="34" charset="0"/>
              <a:cs typeface="Lato" panose="020F0502020204030203" pitchFamily="34" charset="0"/>
            </a:endParaRPr>
          </a:p>
          <a:p>
            <a:pPr>
              <a:buNone/>
            </a:pPr>
            <a:br>
              <a:rPr lang="en-US" sz="1200" dirty="0">
                <a:latin typeface="Lato" panose="020F0502020204030203" pitchFamily="34" charset="0"/>
                <a:ea typeface="Lato" panose="020F0502020204030203" pitchFamily="34" charset="0"/>
                <a:cs typeface="Lato" panose="020F0502020204030203" pitchFamily="34" charset="0"/>
              </a:rPr>
            </a:br>
            <a:endParaRPr lang="en-PK" sz="1200" dirty="0">
              <a:latin typeface="Lato" panose="020F0502020204030203" pitchFamily="34" charset="0"/>
              <a:ea typeface="Lato" panose="020F0502020204030203" pitchFamily="34" charset="0"/>
              <a:cs typeface="Lato" panose="020F0502020204030203" pitchFamily="34" charset="0"/>
            </a:endParaRPr>
          </a:p>
        </p:txBody>
      </p:sp>
      <p:sp>
        <p:nvSpPr>
          <p:cNvPr id="104" name="Rectangle 21">
            <a:extLst>
              <a:ext uri="{FF2B5EF4-FFF2-40B4-BE49-F238E27FC236}">
                <a16:creationId xmlns:a16="http://schemas.microsoft.com/office/drawing/2014/main" id="{72781DCD-B459-8687-0222-47A55AC259A6}"/>
              </a:ext>
            </a:extLst>
          </p:cNvPr>
          <p:cNvSpPr>
            <a:spLocks noChangeArrowheads="1"/>
          </p:cNvSpPr>
          <p:nvPr/>
        </p:nvSpPr>
        <p:spPr bwMode="auto">
          <a:xfrm>
            <a:off x="9187405" y="2362383"/>
            <a:ext cx="1960793"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a:t>
            </a:r>
            <a:r>
              <a:rPr kumimoji="0" lang="en-PK" altLang="en-PK" sz="22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a:t>
            </a:r>
            <a:br>
              <a:rPr kumimoji="0" lang="en-PK" altLang="en-PK" sz="18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br>
            <a:endParaRPr kumimoji="0" lang="en-PK" altLang="en-PK" sz="18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algn="ctr" eaLnBrk="0" fontAlgn="base" hangingPunct="0">
              <a:spcBef>
                <a:spcPct val="0"/>
              </a:spcBef>
              <a:spcAft>
                <a:spcPct val="0"/>
              </a:spcAft>
              <a:buClrTx/>
            </a:pPr>
            <a:r>
              <a:rPr lang="en-PK" altLang="en-PK" sz="1800" b="1" dirty="0">
                <a:solidFill>
                  <a:srgbClr val="1E3A8A"/>
                </a:solidFill>
                <a:latin typeface="Lato" panose="020F0502020204030203" pitchFamily="34" charset="0"/>
                <a:ea typeface="Lato" panose="020F0502020204030203" pitchFamily="34" charset="0"/>
                <a:cs typeface="Lato" panose="020F0502020204030203" pitchFamily="34" charset="0"/>
              </a:rPr>
              <a:t>Social Media</a:t>
            </a:r>
            <a:endParaRPr kumimoji="0" lang="en-PK" altLang="en-PK" sz="18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PK" altLang="en-PK" sz="1500" b="0" i="0" u="none" strike="noStrike" cap="none" normalizeH="0" baseline="0" dirty="0">
                <a:ln>
                  <a:noFill/>
                </a:ln>
                <a:solidFill>
                  <a:srgbClr val="334155"/>
                </a:solidFill>
                <a:effectLst/>
                <a:latin typeface="Lato" panose="020F0502020204030203" pitchFamily="34" charset="0"/>
                <a:ea typeface="Lato" panose="020F0502020204030203" pitchFamily="34" charset="0"/>
                <a:cs typeface="Lato" panose="020F0502020204030203" pitchFamily="34" charset="0"/>
              </a:rPr>
              <a:t>Rapid spread of viral </a:t>
            </a:r>
            <a:br>
              <a:rPr kumimoji="0" lang="en-US" altLang="en-PK" sz="1500" b="0" i="0" u="none" strike="noStrike" cap="none" normalizeH="0" baseline="0" dirty="0">
                <a:ln>
                  <a:noFill/>
                </a:ln>
                <a:solidFill>
                  <a:srgbClr val="334155"/>
                </a:solidFill>
                <a:effectLst/>
                <a:latin typeface="Lato" panose="020F0502020204030203" pitchFamily="34" charset="0"/>
                <a:ea typeface="Lato" panose="020F0502020204030203" pitchFamily="34" charset="0"/>
                <a:cs typeface="Lato" panose="020F0502020204030203" pitchFamily="34" charset="0"/>
              </a:rPr>
            </a:br>
            <a:r>
              <a:rPr kumimoji="0" lang="en-PK" altLang="en-PK" sz="1500" b="0" i="0" u="none" strike="noStrike" cap="none" normalizeH="0" baseline="0" dirty="0">
                <a:ln>
                  <a:noFill/>
                </a:ln>
                <a:solidFill>
                  <a:srgbClr val="334155"/>
                </a:solidFill>
                <a:effectLst/>
                <a:latin typeface="Lato" panose="020F0502020204030203" pitchFamily="34" charset="0"/>
                <a:ea typeface="Lato" panose="020F0502020204030203" pitchFamily="34" charset="0"/>
                <a:cs typeface="Lato" panose="020F0502020204030203" pitchFamily="34" charset="0"/>
              </a:rPr>
              <a:t>misinformation</a:t>
            </a:r>
            <a:r>
              <a:rPr kumimoji="0" lang="en-PK" altLang="en-PK" sz="1100" b="0" i="0" u="none" strike="noStrike" cap="none" normalizeH="0" baseline="0" dirty="0">
                <a:ln>
                  <a:noFill/>
                </a:ln>
                <a:solidFill>
                  <a:srgbClr val="334155"/>
                </a:solidFill>
                <a:effectLst/>
                <a:latin typeface="Lato" panose="020F0502020204030203" pitchFamily="34" charset="0"/>
                <a:ea typeface="Lato" panose="020F0502020204030203" pitchFamily="34" charset="0"/>
                <a:cs typeface="Lato" panose="020F0502020204030203" pitchFamily="34" charset="0"/>
              </a:rPr>
              <a:t>.</a:t>
            </a:r>
            <a:endParaRPr kumimoji="0" lang="en-PK" altLang="en-PK" sz="10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en-PK" altLang="en-PK" sz="18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br>
            <a:endParaRPr kumimoji="0" lang="en-PK" altLang="en-PK" sz="1800" b="0" i="0" u="none"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p:txBody>
      </p:sp>
      <p:pic>
        <p:nvPicPr>
          <p:cNvPr id="1046" name="Picture 22">
            <a:extLst>
              <a:ext uri="{FF2B5EF4-FFF2-40B4-BE49-F238E27FC236}">
                <a16:creationId xmlns:a16="http://schemas.microsoft.com/office/drawing/2014/main" id="{16F4BA17-F4E5-8788-8F68-5C81A7FF38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96163" y="2494787"/>
            <a:ext cx="343276" cy="39691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79C6B5EF-78F8-75CA-B9B3-92DACBCB945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68404" y="2535191"/>
            <a:ext cx="325480" cy="33226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6A142EC0-4DA6-D95A-EF47-933FACD448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65307" y="2595943"/>
            <a:ext cx="341659" cy="34877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CF7973-8166-49D8-6F14-C1EE1C3F6A4C}"/>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898813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504807B4-F0AC-A41D-6E08-B489FE819E8B}"/>
            </a:ext>
          </a:extLst>
        </p:cNvPr>
        <p:cNvGrpSpPr/>
        <p:nvPr/>
      </p:nvGrpSpPr>
      <p:grpSpPr>
        <a:xfrm>
          <a:off x="0" y="0"/>
          <a:ext cx="0" cy="0"/>
          <a:chOff x="0" y="0"/>
          <a:chExt cx="0" cy="0"/>
        </a:xfrm>
      </p:grpSpPr>
      <p:pic>
        <p:nvPicPr>
          <p:cNvPr id="8" name="Google Shape;112;p15" descr="image.png">
            <a:extLst>
              <a:ext uri="{FF2B5EF4-FFF2-40B4-BE49-F238E27FC236}">
                <a16:creationId xmlns:a16="http://schemas.microsoft.com/office/drawing/2014/main" id="{83272E5F-25C7-1CEF-2FCA-E9918675744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 name="Google Shape;102;p14">
            <a:extLst>
              <a:ext uri="{FF2B5EF4-FFF2-40B4-BE49-F238E27FC236}">
                <a16:creationId xmlns:a16="http://schemas.microsoft.com/office/drawing/2014/main" id="{304509EC-E303-AD6F-5DBC-D0491F7CAA0B}"/>
              </a:ext>
            </a:extLst>
          </p:cNvPr>
          <p:cNvSpPr txBox="1"/>
          <p:nvPr/>
        </p:nvSpPr>
        <p:spPr>
          <a:xfrm>
            <a:off x="683988" y="409283"/>
            <a:ext cx="10668000" cy="5863144"/>
          </a:xfrm>
          <a:prstGeom prst="rect">
            <a:avLst/>
          </a:prstGeom>
          <a:noFill/>
          <a:ln>
            <a:noFill/>
          </a:ln>
        </p:spPr>
        <p:txBody>
          <a:bodyPr spcFirstLastPara="1" wrap="square" lIns="0" tIns="0" rIns="0" bIns="0" anchor="t" anchorCtr="0">
            <a:spAutoFit/>
          </a:bodyPr>
          <a:lstStyle/>
          <a:p>
            <a:pPr lvl="1">
              <a:lnSpc>
                <a:spcPct val="150000"/>
              </a:lnSpc>
            </a:pPr>
            <a:r>
              <a:rPr lang="en-US" sz="2000" dirty="0">
                <a:latin typeface="Lato" panose="020F0502020204030203" pitchFamily="34" charset="0"/>
                <a:ea typeface="Lato" panose="020F0502020204030203" pitchFamily="34" charset="0"/>
                <a:cs typeface="Lato" panose="020F0502020204030203" pitchFamily="34" charset="0"/>
              </a:rPr>
              <a:t>At the first glance fake image images might not seem problem to you but these fake images are causing problems in variety of fields.</a:t>
            </a: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For example, these fake images can be used to bypass biometric security </a:t>
            </a:r>
            <a:br>
              <a:rPr lang="en-US" sz="1800" dirty="0">
                <a:latin typeface="Lato" panose="020F0502020204030203" pitchFamily="34" charset="0"/>
                <a:ea typeface="Lato" panose="020F0502020204030203" pitchFamily="34" charset="0"/>
                <a:cs typeface="Lato" panose="020F0502020204030203" pitchFamily="34" charset="0"/>
              </a:rPr>
            </a:br>
            <a:br>
              <a:rPr lang="en-US" sz="18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In Legal &amp; Judicial fields: Lawyers and judges are being presented with "fake images as Evidence" to mislead the court.</a:t>
            </a:r>
            <a:br>
              <a:rPr lang="en-US" sz="1800" dirty="0">
                <a:latin typeface="Lato" panose="020F0502020204030203" pitchFamily="34" charset="0"/>
                <a:ea typeface="Lato" panose="020F0502020204030203" pitchFamily="34" charset="0"/>
                <a:cs typeface="Lato" panose="020F0502020204030203" pitchFamily="34" charset="0"/>
              </a:rPr>
            </a:br>
            <a:endParaRPr lang="en-US" sz="1800" dirty="0">
              <a:latin typeface="Lato" panose="020F0502020204030203" pitchFamily="34" charset="0"/>
              <a:ea typeface="Lato" panose="020F0502020204030203" pitchFamily="34" charset="0"/>
              <a:cs typeface="Lato" panose="020F0502020204030203" pitchFamily="34" charset="0"/>
            </a:endParaRPr>
          </a:p>
          <a:p>
            <a:pPr lvl="1">
              <a:lnSpc>
                <a:spcPct val="150000"/>
              </a:lnSpc>
            </a:pPr>
            <a:r>
              <a:rPr lang="en-US" sz="2000" dirty="0">
                <a:latin typeface="Lato" panose="020F0502020204030203" pitchFamily="34" charset="0"/>
                <a:ea typeface="Lato" panose="020F0502020204030203" pitchFamily="34" charset="0"/>
                <a:cs typeface="Lato" panose="020F0502020204030203" pitchFamily="34" charset="0"/>
              </a:rPr>
              <a:t>There is also Banking and finance: </a:t>
            </a:r>
            <a:r>
              <a:rPr lang="en-US" sz="2000" dirty="0"/>
              <a:t>Scammers are </a:t>
            </a:r>
            <a:r>
              <a:rPr lang="en-US" sz="2000" dirty="0" err="1"/>
              <a:t>useing</a:t>
            </a:r>
            <a:r>
              <a:rPr lang="en-US" sz="2000" dirty="0"/>
              <a:t> AI-generated images and voice-cloning </a:t>
            </a:r>
            <a:r>
              <a:rPr lang="en-US" sz="2000" dirty="0">
                <a:latin typeface="Lato" panose="020F0502020204030203" pitchFamily="34" charset="0"/>
                <a:ea typeface="Lato" panose="020F0502020204030203" pitchFamily="34" charset="0"/>
                <a:cs typeface="Lato" panose="020F0502020204030203" pitchFamily="34" charset="0"/>
              </a:rPr>
              <a:t>are facing that easily bypass manual human checks </a:t>
            </a:r>
            <a:r>
              <a:rPr lang="en-US" sz="2000" dirty="0"/>
              <a:t>to trick employees or individuals into transferring money or providing confidential information.</a:t>
            </a:r>
            <a:r>
              <a:rPr lang="en-US" sz="2000" dirty="0">
                <a:latin typeface="Lato" panose="020F0502020204030203" pitchFamily="34" charset="0"/>
                <a:ea typeface="Lato" panose="020F0502020204030203" pitchFamily="34" charset="0"/>
                <a:cs typeface="Lato" panose="020F0502020204030203" pitchFamily="34" charset="0"/>
              </a:rPr>
              <a:t>.</a:t>
            </a:r>
            <a:br>
              <a:rPr lang="en-US" sz="1800" dirty="0">
                <a:latin typeface="Lato" panose="020F0502020204030203" pitchFamily="34" charset="0"/>
                <a:ea typeface="Lato" panose="020F0502020204030203" pitchFamily="34" charset="0"/>
                <a:cs typeface="Lato" panose="020F0502020204030203" pitchFamily="34" charset="0"/>
              </a:rPr>
            </a:br>
            <a:endParaRPr lang="en-US" sz="1800" dirty="0">
              <a:latin typeface="Lato" panose="020F0502020204030203" pitchFamily="34" charset="0"/>
              <a:ea typeface="Lato" panose="020F0502020204030203" pitchFamily="34" charset="0"/>
              <a:cs typeface="Lato" panose="020F0502020204030203" pitchFamily="34" charset="0"/>
            </a:endParaRPr>
          </a:p>
          <a:p>
            <a:pPr lvl="1">
              <a:lnSpc>
                <a:spcPct val="150000"/>
              </a:lnSpc>
            </a:pPr>
            <a:r>
              <a:rPr lang="en-US" sz="2000" dirty="0">
                <a:latin typeface="Lato" panose="020F0502020204030203" pitchFamily="34" charset="0"/>
                <a:ea typeface="Lato" panose="020F0502020204030203" pitchFamily="34" charset="0"/>
                <a:cs typeface="Lato" panose="020F0502020204030203" pitchFamily="34" charset="0"/>
              </a:rPr>
              <a:t>In Journalism: Reporters are unable to verify the authenticity of images from conflict zones </a:t>
            </a:r>
            <a:r>
              <a:rPr lang="en-US" sz="2000" dirty="0"/>
              <a:t>The Fabricated images can go viral, leading to panic or false beliefs</a:t>
            </a:r>
            <a:r>
              <a:rPr lang="en-US" sz="1800" dirty="0"/>
              <a:t>.</a:t>
            </a:r>
            <a:endParaRPr lang="en-PK" sz="2000" dirty="0">
              <a:latin typeface="Lato" panose="020F0502020204030203" pitchFamily="34" charset="0"/>
              <a:ea typeface="Lato" panose="020F0502020204030203" pitchFamily="34" charset="0"/>
              <a:cs typeface="Lato" panose="020F0502020204030203" pitchFamily="34" charset="0"/>
            </a:endParaRPr>
          </a:p>
        </p:txBody>
      </p:sp>
      <p:sp>
        <p:nvSpPr>
          <p:cNvPr id="2" name="Google Shape;173;p18">
            <a:extLst>
              <a:ext uri="{FF2B5EF4-FFF2-40B4-BE49-F238E27FC236}">
                <a16:creationId xmlns:a16="http://schemas.microsoft.com/office/drawing/2014/main" id="{7043DE0A-3C7C-4212-326A-A0FECC6ADEF5}"/>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1493016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2AB92D76-4EAB-07BB-44C6-07EC241BD8C8}"/>
            </a:ext>
          </a:extLst>
        </p:cNvPr>
        <p:cNvGrpSpPr/>
        <p:nvPr/>
      </p:nvGrpSpPr>
      <p:grpSpPr>
        <a:xfrm>
          <a:off x="0" y="0"/>
          <a:ext cx="0" cy="0"/>
          <a:chOff x="0" y="0"/>
          <a:chExt cx="0" cy="0"/>
        </a:xfrm>
      </p:grpSpPr>
      <p:pic>
        <p:nvPicPr>
          <p:cNvPr id="8" name="Google Shape;112;p15" descr="image.png">
            <a:extLst>
              <a:ext uri="{FF2B5EF4-FFF2-40B4-BE49-F238E27FC236}">
                <a16:creationId xmlns:a16="http://schemas.microsoft.com/office/drawing/2014/main" id="{3DB16CA5-65D8-27BC-0EF1-6A4E333AC8DD}"/>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0" name="Google Shape;100;p14">
            <a:extLst>
              <a:ext uri="{FF2B5EF4-FFF2-40B4-BE49-F238E27FC236}">
                <a16:creationId xmlns:a16="http://schemas.microsoft.com/office/drawing/2014/main" id="{2D7A6DB3-1126-8BD8-933D-228A745D7590}"/>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Problem Statement</a:t>
            </a:r>
            <a:endParaRPr dirty="0"/>
          </a:p>
        </p:txBody>
      </p:sp>
      <p:sp>
        <p:nvSpPr>
          <p:cNvPr id="101" name="Google Shape;101;p14">
            <a:extLst>
              <a:ext uri="{FF2B5EF4-FFF2-40B4-BE49-F238E27FC236}">
                <a16:creationId xmlns:a16="http://schemas.microsoft.com/office/drawing/2014/main" id="{D2A00A38-DF58-D3ED-CF88-D94A9C4B920B}"/>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Google Shape;102;p14">
            <a:extLst>
              <a:ext uri="{FF2B5EF4-FFF2-40B4-BE49-F238E27FC236}">
                <a16:creationId xmlns:a16="http://schemas.microsoft.com/office/drawing/2014/main" id="{70356EC9-BE08-5113-2AAB-E4632EB5B00C}"/>
              </a:ext>
            </a:extLst>
          </p:cNvPr>
          <p:cNvSpPr txBox="1"/>
          <p:nvPr/>
        </p:nvSpPr>
        <p:spPr>
          <a:xfrm>
            <a:off x="762000" y="969099"/>
            <a:ext cx="10668000" cy="5770811"/>
          </a:xfrm>
          <a:prstGeom prst="rect">
            <a:avLst/>
          </a:prstGeom>
          <a:noFill/>
          <a:ln>
            <a:noFill/>
          </a:ln>
        </p:spPr>
        <p:txBody>
          <a:bodyPr spcFirstLastPara="1" wrap="square" lIns="0" tIns="0" rIns="0" bIns="0" anchor="t" anchorCtr="0">
            <a:spAutoFit/>
          </a:bodyPr>
          <a:lstStyle/>
          <a:p>
            <a:pPr lvl="1">
              <a:lnSpc>
                <a:spcPct val="150000"/>
              </a:lnSpc>
            </a:pPr>
            <a:endParaRPr lang="en-US" sz="2000" dirty="0">
              <a:latin typeface="Poppins" panose="00000500000000000000" pitchFamily="2" charset="0"/>
              <a:cs typeface="Poppins" panose="00000500000000000000" pitchFamily="2" charset="0"/>
            </a:endParaRPr>
          </a:p>
          <a:p>
            <a:pPr lvl="0">
              <a:lnSpc>
                <a:spcPct val="150000"/>
              </a:lnSpc>
            </a:pPr>
            <a:r>
              <a:rPr lang="en-US" sz="2400" dirty="0">
                <a:latin typeface="Lato" panose="020F0502020204030203" pitchFamily="34" charset="0"/>
                <a:ea typeface="Lato" panose="020F0502020204030203" pitchFamily="34" charset="0"/>
                <a:cs typeface="Lato" panose="020F0502020204030203" pitchFamily="34" charset="0"/>
              </a:rPr>
              <a:t>Same in social media: Fake images are being use to blackmail people</a:t>
            </a:r>
            <a:endParaRPr lang="en-PK" sz="2400" dirty="0">
              <a:latin typeface="Lato" panose="020F0502020204030203" pitchFamily="34" charset="0"/>
              <a:ea typeface="Lato" panose="020F0502020204030203" pitchFamily="34" charset="0"/>
              <a:cs typeface="Lato" panose="020F0502020204030203" pitchFamily="34" charset="0"/>
            </a:endParaRPr>
          </a:p>
          <a:p>
            <a:pPr lvl="1">
              <a:lnSpc>
                <a:spcPct val="150000"/>
              </a:lnSpc>
            </a:pPr>
            <a:br>
              <a:rPr lang="en-US" sz="1600" dirty="0">
                <a:latin typeface="Poppins" panose="00000500000000000000" pitchFamily="2" charset="0"/>
                <a:cs typeface="Poppins" panose="00000500000000000000" pitchFamily="2" charset="0"/>
              </a:rPr>
            </a:br>
            <a:endParaRPr lang="en-US" sz="1600" dirty="0">
              <a:latin typeface="Poppins" panose="00000500000000000000" pitchFamily="2" charset="0"/>
              <a:cs typeface="Poppins" panose="00000500000000000000" pitchFamily="2" charset="0"/>
            </a:endParaRPr>
          </a:p>
          <a:p>
            <a:pPr lvl="1">
              <a:lnSpc>
                <a:spcPct val="150000"/>
              </a:lnSpc>
            </a:pPr>
            <a:r>
              <a:rPr lang="en-US" sz="2000" b="1" dirty="0">
                <a:latin typeface="Poppins" panose="00000500000000000000" pitchFamily="2" charset="0"/>
                <a:cs typeface="Poppins" panose="00000500000000000000" pitchFamily="2" charset="0"/>
              </a:rPr>
              <a:t> According to authentic Sites there are </a:t>
            </a:r>
            <a:r>
              <a:rPr lang="en-US" sz="2000" b="1" dirty="0" err="1">
                <a:latin typeface="Poppins" panose="00000500000000000000" pitchFamily="2" charset="0"/>
                <a:cs typeface="Poppins" panose="00000500000000000000" pitchFamily="2" charset="0"/>
              </a:rPr>
              <a:t>statisctics</a:t>
            </a:r>
            <a:r>
              <a:rPr lang="en-US" sz="2000" b="1" dirty="0">
                <a:latin typeface="Poppins" panose="00000500000000000000" pitchFamily="2" charset="0"/>
                <a:cs typeface="Poppins" panose="00000500000000000000" pitchFamily="2" charset="0"/>
              </a:rPr>
              <a:t> showing that :</a:t>
            </a:r>
            <a:endParaRPr lang="en-US" sz="2000" dirty="0">
              <a:latin typeface="Poppins" panose="00000500000000000000" pitchFamily="2" charset="0"/>
              <a:cs typeface="Poppins" panose="00000500000000000000" pitchFamily="2" charset="0"/>
            </a:endParaRPr>
          </a:p>
          <a:p>
            <a:pPr lvl="1">
              <a:lnSpc>
                <a:spcPct val="150000"/>
              </a:lnSpc>
            </a:pPr>
            <a:r>
              <a:rPr lang="en-US" sz="2000" dirty="0">
                <a:latin typeface="Lato" panose="020F0502020204030203" pitchFamily="34" charset="0"/>
                <a:ea typeface="Lato" panose="020F0502020204030203" pitchFamily="34" charset="0"/>
                <a:cs typeface="Lato" panose="020F0502020204030203" pitchFamily="34" charset="0"/>
              </a:rPr>
              <a:t>Deepfake content is growing at an rate of 900% each year</a:t>
            </a:r>
            <a:br>
              <a:rPr lang="en-US" sz="2000" dirty="0">
                <a:latin typeface="Lato" panose="020F0502020204030203" pitchFamily="34" charset="0"/>
                <a:ea typeface="Lato" panose="020F0502020204030203" pitchFamily="34" charset="0"/>
                <a:cs typeface="Lato" panose="020F0502020204030203" pitchFamily="34" charset="0"/>
              </a:rPr>
            </a:br>
            <a:br>
              <a:rPr lang="en-US" sz="2000" dirty="0">
                <a:latin typeface="Lato" panose="020F0502020204030203" pitchFamily="34" charset="0"/>
                <a:ea typeface="Lato" panose="020F0502020204030203" pitchFamily="34" charset="0"/>
                <a:cs typeface="Lato" panose="020F0502020204030203" pitchFamily="34" charset="0"/>
              </a:rPr>
            </a:br>
            <a:r>
              <a:rPr lang="en-US" sz="2000" dirty="0">
                <a:latin typeface="Lato" panose="020F0502020204030203" pitchFamily="34" charset="0"/>
                <a:ea typeface="Lato" panose="020F0502020204030203" pitchFamily="34" charset="0"/>
                <a:cs typeface="Lato" panose="020F0502020204030203" pitchFamily="34" charset="0"/>
              </a:rPr>
              <a:t>Research shows that even trained experts fail to identify high-quality deepfakes more than 50% of the time so its like a random coin flip. 50% chance they get it right 50% they </a:t>
            </a:r>
            <a:r>
              <a:rPr lang="en-US" sz="2000" dirty="0" err="1">
                <a:latin typeface="Lato" panose="020F0502020204030203" pitchFamily="34" charset="0"/>
                <a:ea typeface="Lato" panose="020F0502020204030203" pitchFamily="34" charset="0"/>
                <a:cs typeface="Lato" panose="020F0502020204030203" pitchFamily="34" charset="0"/>
              </a:rPr>
              <a:t>dont</a:t>
            </a:r>
            <a:br>
              <a:rPr lang="en-US" sz="2000" dirty="0">
                <a:latin typeface="Lato" panose="020F0502020204030203" pitchFamily="34" charset="0"/>
                <a:ea typeface="Lato" panose="020F0502020204030203" pitchFamily="34" charset="0"/>
                <a:cs typeface="Lato" panose="020F0502020204030203" pitchFamily="34" charset="0"/>
              </a:rPr>
            </a:br>
            <a:endParaRPr lang="en-US" sz="2000" dirty="0">
              <a:latin typeface="Lato" panose="020F0502020204030203" pitchFamily="34" charset="0"/>
              <a:ea typeface="Lato" panose="020F0502020204030203" pitchFamily="34" charset="0"/>
              <a:cs typeface="Lato" panose="020F0502020204030203" pitchFamily="34" charset="0"/>
            </a:endParaRPr>
          </a:p>
          <a:p>
            <a:pPr lvl="1">
              <a:lnSpc>
                <a:spcPct val="150000"/>
              </a:lnSpc>
            </a:pPr>
            <a:r>
              <a:rPr lang="en-US" sz="2000" dirty="0">
                <a:latin typeface="Lato" panose="020F0502020204030203" pitchFamily="34" charset="0"/>
                <a:ea typeface="Lato" panose="020F0502020204030203" pitchFamily="34" charset="0"/>
                <a:cs typeface="Lato" panose="020F0502020204030203" pitchFamily="34" charset="0"/>
              </a:rPr>
              <a:t>Furthermore Analysts estimate that by 2026, nearly 60% of all online visual content could be synthetically altered or generated.</a:t>
            </a:r>
          </a:p>
          <a:p>
            <a:pPr lvl="0">
              <a:lnSpc>
                <a:spcPct val="150000"/>
              </a:lnSpc>
            </a:pPr>
            <a:endParaRPr lang="en-PK" sz="1600" dirty="0">
              <a:latin typeface="Poppins" panose="00000500000000000000" pitchFamily="2" charset="0"/>
              <a:cs typeface="Poppins" panose="00000500000000000000" pitchFamily="2" charset="0"/>
            </a:endParaRPr>
          </a:p>
        </p:txBody>
      </p:sp>
      <p:sp>
        <p:nvSpPr>
          <p:cNvPr id="2" name="Google Shape;173;p18">
            <a:extLst>
              <a:ext uri="{FF2B5EF4-FFF2-40B4-BE49-F238E27FC236}">
                <a16:creationId xmlns:a16="http://schemas.microsoft.com/office/drawing/2014/main" id="{EB84977A-B0B0-6A11-6E64-C23714080AF6}"/>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2660701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60B0E40F-3030-573D-C839-59BA9B7BBA3B}"/>
            </a:ext>
          </a:extLst>
        </p:cNvPr>
        <p:cNvGrpSpPr/>
        <p:nvPr/>
      </p:nvGrpSpPr>
      <p:grpSpPr>
        <a:xfrm>
          <a:off x="0" y="0"/>
          <a:ext cx="0" cy="0"/>
          <a:chOff x="0" y="0"/>
          <a:chExt cx="0" cy="0"/>
        </a:xfrm>
      </p:grpSpPr>
      <p:pic>
        <p:nvPicPr>
          <p:cNvPr id="8" name="Google Shape;112;p15" descr="image.png">
            <a:extLst>
              <a:ext uri="{FF2B5EF4-FFF2-40B4-BE49-F238E27FC236}">
                <a16:creationId xmlns:a16="http://schemas.microsoft.com/office/drawing/2014/main" id="{124AC76C-2163-0892-7FF3-437D632908F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8" name="Google Shape;98;p14" descr="image.png">
            <a:extLst>
              <a:ext uri="{FF2B5EF4-FFF2-40B4-BE49-F238E27FC236}">
                <a16:creationId xmlns:a16="http://schemas.microsoft.com/office/drawing/2014/main" id="{DE53E4E1-6C02-265F-BC5D-2F9E488600A3}"/>
              </a:ext>
            </a:extLst>
          </p:cNvPr>
          <p:cNvPicPr preferRelativeResize="0"/>
          <p:nvPr/>
        </p:nvPicPr>
        <p:blipFill rotWithShape="1">
          <a:blip r:embed="rId4">
            <a:alphaModFix/>
          </a:blip>
          <a:srcRect/>
          <a:stretch/>
        </p:blipFill>
        <p:spPr>
          <a:xfrm>
            <a:off x="886888" y="2221323"/>
            <a:ext cx="4803768" cy="1814583"/>
          </a:xfrm>
          <a:prstGeom prst="rect">
            <a:avLst/>
          </a:prstGeom>
          <a:noFill/>
          <a:ln>
            <a:noFill/>
          </a:ln>
        </p:spPr>
      </p:pic>
      <p:sp>
        <p:nvSpPr>
          <p:cNvPr id="100" name="Google Shape;100;p14">
            <a:extLst>
              <a:ext uri="{FF2B5EF4-FFF2-40B4-BE49-F238E27FC236}">
                <a16:creationId xmlns:a16="http://schemas.microsoft.com/office/drawing/2014/main" id="{A46DE2C0-A7D8-454F-240F-98930E08F4FF}"/>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Problem Statement</a:t>
            </a:r>
            <a:endParaRPr dirty="0"/>
          </a:p>
        </p:txBody>
      </p:sp>
      <p:sp>
        <p:nvSpPr>
          <p:cNvPr id="101" name="Google Shape;101;p14">
            <a:extLst>
              <a:ext uri="{FF2B5EF4-FFF2-40B4-BE49-F238E27FC236}">
                <a16:creationId xmlns:a16="http://schemas.microsoft.com/office/drawing/2014/main" id="{23D696CB-B8CB-A80F-BE0F-18264F99D11C}"/>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a:extLst>
              <a:ext uri="{FF2B5EF4-FFF2-40B4-BE49-F238E27FC236}">
                <a16:creationId xmlns:a16="http://schemas.microsoft.com/office/drawing/2014/main" id="{5C44A5B9-EB3A-1FCA-F510-C9A76E644C1A}"/>
              </a:ext>
            </a:extLst>
          </p:cNvPr>
          <p:cNvSpPr txBox="1"/>
          <p:nvPr/>
        </p:nvSpPr>
        <p:spPr>
          <a:xfrm>
            <a:off x="762000" y="1457994"/>
            <a:ext cx="10668000" cy="323165"/>
          </a:xfrm>
          <a:prstGeom prst="rect">
            <a:avLst/>
          </a:prstGeom>
          <a:noFill/>
          <a:ln>
            <a:noFill/>
          </a:ln>
        </p:spPr>
        <p:txBody>
          <a:bodyPr spcFirstLastPara="1" wrap="square" lIns="0" tIns="0" rIns="0" bIns="0" anchor="t" anchorCtr="0">
            <a:spAutoFit/>
          </a:bodyPr>
          <a:lstStyle/>
          <a:p>
            <a:pPr lvl="0">
              <a:lnSpc>
                <a:spcPct val="150000"/>
              </a:lnSpc>
            </a:pPr>
            <a:r>
              <a:rPr lang="en-US" dirty="0">
                <a:latin typeface="Poppins" panose="00000500000000000000" pitchFamily="2" charset="0"/>
                <a:cs typeface="Poppins" panose="00000500000000000000" pitchFamily="2" charset="0"/>
              </a:rPr>
              <a:t>Meet </a:t>
            </a:r>
            <a:r>
              <a:rPr lang="en-US" b="1" dirty="0">
                <a:latin typeface="Poppins" panose="00000500000000000000" pitchFamily="2" charset="0"/>
                <a:cs typeface="Poppins" panose="00000500000000000000" pitchFamily="2" charset="0"/>
              </a:rPr>
              <a:t>Ahmad</a:t>
            </a:r>
            <a:r>
              <a:rPr lang="en-US" dirty="0">
                <a:latin typeface="Poppins" panose="00000500000000000000" pitchFamily="2" charset="0"/>
                <a:cs typeface="Poppins" panose="00000500000000000000" pitchFamily="2" charset="0"/>
              </a:rPr>
              <a:t>, a Digital Forensic Specialist. He is the first line of defense, but he is currently fighting an impossible battle  .</a:t>
            </a:r>
            <a:endParaRPr dirty="0">
              <a:latin typeface="Poppins" panose="00000500000000000000" pitchFamily="2" charset="0"/>
              <a:cs typeface="Poppins" panose="00000500000000000000" pitchFamily="2" charset="0"/>
            </a:endParaRPr>
          </a:p>
        </p:txBody>
      </p:sp>
      <p:sp>
        <p:nvSpPr>
          <p:cNvPr id="104" name="Google Shape;104;p14">
            <a:extLst>
              <a:ext uri="{FF2B5EF4-FFF2-40B4-BE49-F238E27FC236}">
                <a16:creationId xmlns:a16="http://schemas.microsoft.com/office/drawing/2014/main" id="{2EA7B311-2FA4-866F-3718-D343F3E557BC}"/>
              </a:ext>
            </a:extLst>
          </p:cNvPr>
          <p:cNvSpPr txBox="1"/>
          <p:nvPr/>
        </p:nvSpPr>
        <p:spPr>
          <a:xfrm>
            <a:off x="1085498" y="2362987"/>
            <a:ext cx="4406547" cy="246221"/>
          </a:xfrm>
          <a:prstGeom prst="rect">
            <a:avLst/>
          </a:prstGeom>
          <a:noFill/>
          <a:ln>
            <a:noFill/>
          </a:ln>
        </p:spPr>
        <p:txBody>
          <a:bodyPr spcFirstLastPara="1" wrap="square" lIns="0" tIns="0" rIns="0" bIns="0" anchor="t" anchorCtr="0">
            <a:spAutoFit/>
          </a:bodyPr>
          <a:lstStyle/>
          <a:p>
            <a:r>
              <a:rPr lang="en-US" sz="1600" b="1" dirty="0">
                <a:solidFill>
                  <a:srgbClr val="DC2626"/>
                </a:solidFill>
                <a:latin typeface="Poppins" panose="00000500000000000000" pitchFamily="2" charset="0"/>
                <a:cs typeface="Poppins" panose="00000500000000000000" pitchFamily="2" charset="0"/>
              </a:rPr>
              <a:t>The Naked Eye Limitation</a:t>
            </a:r>
          </a:p>
        </p:txBody>
      </p:sp>
      <p:sp>
        <p:nvSpPr>
          <p:cNvPr id="105" name="Google Shape;105;p14">
            <a:extLst>
              <a:ext uri="{FF2B5EF4-FFF2-40B4-BE49-F238E27FC236}">
                <a16:creationId xmlns:a16="http://schemas.microsoft.com/office/drawing/2014/main" id="{E33BC385-0ED0-DB58-29D5-D581F4946E88}"/>
              </a:ext>
            </a:extLst>
          </p:cNvPr>
          <p:cNvSpPr txBox="1"/>
          <p:nvPr/>
        </p:nvSpPr>
        <p:spPr>
          <a:xfrm>
            <a:off x="1232253" y="2720162"/>
            <a:ext cx="4406547" cy="1107996"/>
          </a:xfrm>
          <a:prstGeom prst="rect">
            <a:avLst/>
          </a:prstGeom>
          <a:noFill/>
          <a:ln>
            <a:noFill/>
          </a:ln>
        </p:spPr>
        <p:txBody>
          <a:bodyPr spcFirstLastPara="1" wrap="square" lIns="0" tIns="0" rIns="0" bIns="0" anchor="t" anchorCtr="0">
            <a:spAutoFit/>
          </a:bodyPr>
          <a:lstStyle/>
          <a:p>
            <a:pPr lvl="0">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Modern AI forgeries are flawless. Human detection through pixel inspection is no longer effective.</a:t>
            </a:r>
            <a:endParaRPr sz="1600" dirty="0">
              <a:latin typeface="Lato" panose="020F0502020204030203" pitchFamily="34" charset="0"/>
              <a:ea typeface="Lato" panose="020F0502020204030203" pitchFamily="34" charset="0"/>
              <a:cs typeface="Lato" panose="020F0502020204030203" pitchFamily="34" charset="0"/>
            </a:endParaRPr>
          </a:p>
        </p:txBody>
      </p:sp>
      <p:pic>
        <p:nvPicPr>
          <p:cNvPr id="22" name="Google Shape;98;p14" descr="image.png">
            <a:extLst>
              <a:ext uri="{FF2B5EF4-FFF2-40B4-BE49-F238E27FC236}">
                <a16:creationId xmlns:a16="http://schemas.microsoft.com/office/drawing/2014/main" id="{75572F6F-2796-78C7-91BA-C66DC95E0AD0}"/>
              </a:ext>
            </a:extLst>
          </p:cNvPr>
          <p:cNvPicPr preferRelativeResize="0"/>
          <p:nvPr/>
        </p:nvPicPr>
        <p:blipFill rotWithShape="1">
          <a:blip r:embed="rId4">
            <a:alphaModFix/>
          </a:blip>
          <a:srcRect/>
          <a:stretch/>
        </p:blipFill>
        <p:spPr>
          <a:xfrm>
            <a:off x="6302734" y="2224016"/>
            <a:ext cx="4803768" cy="1814583"/>
          </a:xfrm>
          <a:prstGeom prst="rect">
            <a:avLst/>
          </a:prstGeom>
          <a:noFill/>
          <a:ln>
            <a:noFill/>
          </a:ln>
        </p:spPr>
      </p:pic>
      <p:sp>
        <p:nvSpPr>
          <p:cNvPr id="23" name="Google Shape;104;p14">
            <a:extLst>
              <a:ext uri="{FF2B5EF4-FFF2-40B4-BE49-F238E27FC236}">
                <a16:creationId xmlns:a16="http://schemas.microsoft.com/office/drawing/2014/main" id="{97A1D735-9099-164E-D05C-4378EC963156}"/>
              </a:ext>
            </a:extLst>
          </p:cNvPr>
          <p:cNvSpPr txBox="1"/>
          <p:nvPr/>
        </p:nvSpPr>
        <p:spPr>
          <a:xfrm>
            <a:off x="6501344" y="2365680"/>
            <a:ext cx="4406547" cy="246221"/>
          </a:xfrm>
          <a:prstGeom prst="rect">
            <a:avLst/>
          </a:prstGeom>
          <a:noFill/>
          <a:ln>
            <a:noFill/>
          </a:ln>
        </p:spPr>
        <p:txBody>
          <a:bodyPr spcFirstLastPara="1" wrap="square" lIns="0" tIns="0" rIns="0" bIns="0" anchor="t" anchorCtr="0">
            <a:spAutoFit/>
          </a:bodyPr>
          <a:lstStyle/>
          <a:p>
            <a:r>
              <a:rPr lang="en-US" sz="1600" b="1" dirty="0">
                <a:solidFill>
                  <a:srgbClr val="9D7F43"/>
                </a:solidFill>
                <a:latin typeface="Poppins" panose="00000500000000000000" pitchFamily="2" charset="0"/>
                <a:cs typeface="Poppins" panose="00000500000000000000" pitchFamily="2" charset="0"/>
              </a:rPr>
              <a:t>The Weight of Responsibility</a:t>
            </a:r>
          </a:p>
        </p:txBody>
      </p:sp>
      <p:sp>
        <p:nvSpPr>
          <p:cNvPr id="24" name="Google Shape;105;p14">
            <a:extLst>
              <a:ext uri="{FF2B5EF4-FFF2-40B4-BE49-F238E27FC236}">
                <a16:creationId xmlns:a16="http://schemas.microsoft.com/office/drawing/2014/main" id="{3DC92436-8665-E44B-5F1C-B8AE02C6490D}"/>
              </a:ext>
            </a:extLst>
          </p:cNvPr>
          <p:cNvSpPr txBox="1"/>
          <p:nvPr/>
        </p:nvSpPr>
        <p:spPr>
          <a:xfrm>
            <a:off x="6648099" y="2722855"/>
            <a:ext cx="4406547" cy="1107996"/>
          </a:xfrm>
          <a:prstGeom prst="rect">
            <a:avLst/>
          </a:prstGeom>
          <a:noFill/>
          <a:ln>
            <a:noFill/>
          </a:ln>
        </p:spPr>
        <p:txBody>
          <a:bodyPr spcFirstLastPara="1" wrap="square" lIns="0" tIns="0" rIns="0" bIns="0" anchor="t" anchorCtr="0">
            <a:spAutoFit/>
          </a:bodyPr>
          <a:lstStyle/>
          <a:p>
            <a:pPr lvl="0">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Verifying a fake as "Real" cements fraudulent narratives into official records. There is zero room for human error.</a:t>
            </a:r>
            <a:endParaRPr sz="1600" dirty="0">
              <a:latin typeface="Lato" panose="020F0502020204030203" pitchFamily="34" charset="0"/>
              <a:ea typeface="Lato" panose="020F0502020204030203" pitchFamily="34" charset="0"/>
              <a:cs typeface="Lato" panose="020F0502020204030203" pitchFamily="34" charset="0"/>
            </a:endParaRPr>
          </a:p>
        </p:txBody>
      </p:sp>
      <p:pic>
        <p:nvPicPr>
          <p:cNvPr id="28" name="Google Shape;98;p14" descr="image.png">
            <a:extLst>
              <a:ext uri="{FF2B5EF4-FFF2-40B4-BE49-F238E27FC236}">
                <a16:creationId xmlns:a16="http://schemas.microsoft.com/office/drawing/2014/main" id="{81FB824F-0B3D-920E-5031-6F605496334D}"/>
              </a:ext>
            </a:extLst>
          </p:cNvPr>
          <p:cNvPicPr preferRelativeResize="0"/>
          <p:nvPr/>
        </p:nvPicPr>
        <p:blipFill rotWithShape="1">
          <a:blip r:embed="rId4">
            <a:alphaModFix/>
          </a:blip>
          <a:srcRect/>
          <a:stretch/>
        </p:blipFill>
        <p:spPr>
          <a:xfrm>
            <a:off x="6324602" y="4333124"/>
            <a:ext cx="4803768" cy="1814583"/>
          </a:xfrm>
          <a:prstGeom prst="rect">
            <a:avLst/>
          </a:prstGeom>
          <a:noFill/>
          <a:ln>
            <a:noFill/>
          </a:ln>
        </p:spPr>
      </p:pic>
      <p:sp>
        <p:nvSpPr>
          <p:cNvPr id="29" name="Google Shape;104;p14">
            <a:extLst>
              <a:ext uri="{FF2B5EF4-FFF2-40B4-BE49-F238E27FC236}">
                <a16:creationId xmlns:a16="http://schemas.microsoft.com/office/drawing/2014/main" id="{6DB6A55A-04DD-180E-2BFE-6AC693258C1A}"/>
              </a:ext>
            </a:extLst>
          </p:cNvPr>
          <p:cNvSpPr txBox="1"/>
          <p:nvPr/>
        </p:nvSpPr>
        <p:spPr>
          <a:xfrm>
            <a:off x="6523212" y="4474788"/>
            <a:ext cx="4406547" cy="246221"/>
          </a:xfrm>
          <a:prstGeom prst="rect">
            <a:avLst/>
          </a:prstGeom>
          <a:noFill/>
          <a:ln>
            <a:noFill/>
          </a:ln>
        </p:spPr>
        <p:txBody>
          <a:bodyPr spcFirstLastPara="1" wrap="square" lIns="0" tIns="0" rIns="0" bIns="0" anchor="t" anchorCtr="0">
            <a:spAutoFit/>
          </a:bodyPr>
          <a:lstStyle/>
          <a:p>
            <a:r>
              <a:rPr lang="en-US" sz="1600" b="1" dirty="0">
                <a:solidFill>
                  <a:srgbClr val="DC2626"/>
                </a:solidFill>
                <a:latin typeface="Poppins" panose="00000500000000000000" pitchFamily="2" charset="0"/>
                <a:cs typeface="Poppins" panose="00000500000000000000" pitchFamily="2" charset="0"/>
              </a:rPr>
              <a:t>The Trust Crisis</a:t>
            </a:r>
          </a:p>
        </p:txBody>
      </p:sp>
      <p:sp>
        <p:nvSpPr>
          <p:cNvPr id="30" name="Google Shape;105;p14">
            <a:extLst>
              <a:ext uri="{FF2B5EF4-FFF2-40B4-BE49-F238E27FC236}">
                <a16:creationId xmlns:a16="http://schemas.microsoft.com/office/drawing/2014/main" id="{9553D2BD-99A3-A38B-BAAD-B2A8068D80E2}"/>
              </a:ext>
            </a:extLst>
          </p:cNvPr>
          <p:cNvSpPr txBox="1"/>
          <p:nvPr/>
        </p:nvSpPr>
        <p:spPr>
          <a:xfrm>
            <a:off x="6669967" y="4831963"/>
            <a:ext cx="4406547" cy="1107996"/>
          </a:xfrm>
          <a:prstGeom prst="rect">
            <a:avLst/>
          </a:prstGeom>
          <a:noFill/>
          <a:ln>
            <a:noFill/>
          </a:ln>
        </p:spPr>
        <p:txBody>
          <a:bodyPr spcFirstLastPara="1" wrap="square" lIns="0" tIns="0" rIns="0" bIns="0" anchor="t" anchorCtr="0">
            <a:spAutoFit/>
          </a:bodyPr>
          <a:lstStyle/>
          <a:p>
            <a:pPr lvl="0">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Relying on standard photo viewers leaves experts completely vulnerable to sophisticated AI forgeries.</a:t>
            </a:r>
            <a:endParaRPr sz="1600" dirty="0">
              <a:latin typeface="Lato" panose="020F0502020204030203" pitchFamily="34" charset="0"/>
              <a:ea typeface="Lato" panose="020F0502020204030203" pitchFamily="34" charset="0"/>
              <a:cs typeface="Lato" panose="020F0502020204030203" pitchFamily="34" charset="0"/>
            </a:endParaRPr>
          </a:p>
        </p:txBody>
      </p:sp>
      <p:pic>
        <p:nvPicPr>
          <p:cNvPr id="31" name="Google Shape;98;p14" descr="image.png">
            <a:extLst>
              <a:ext uri="{FF2B5EF4-FFF2-40B4-BE49-F238E27FC236}">
                <a16:creationId xmlns:a16="http://schemas.microsoft.com/office/drawing/2014/main" id="{85569E31-BEDB-A2B1-F09C-AD7ED2F660A1}"/>
              </a:ext>
            </a:extLst>
          </p:cNvPr>
          <p:cNvPicPr preferRelativeResize="0"/>
          <p:nvPr/>
        </p:nvPicPr>
        <p:blipFill rotWithShape="1">
          <a:blip r:embed="rId4">
            <a:alphaModFix/>
          </a:blip>
          <a:srcRect/>
          <a:stretch/>
        </p:blipFill>
        <p:spPr>
          <a:xfrm>
            <a:off x="886888" y="4333124"/>
            <a:ext cx="4803768" cy="1814583"/>
          </a:xfrm>
          <a:prstGeom prst="rect">
            <a:avLst/>
          </a:prstGeom>
          <a:noFill/>
          <a:ln>
            <a:noFill/>
          </a:ln>
        </p:spPr>
      </p:pic>
      <p:sp>
        <p:nvSpPr>
          <p:cNvPr id="96" name="Google Shape;104;p14">
            <a:extLst>
              <a:ext uri="{FF2B5EF4-FFF2-40B4-BE49-F238E27FC236}">
                <a16:creationId xmlns:a16="http://schemas.microsoft.com/office/drawing/2014/main" id="{0107E402-E6CC-E693-3D81-3C54510EBF60}"/>
              </a:ext>
            </a:extLst>
          </p:cNvPr>
          <p:cNvSpPr txBox="1"/>
          <p:nvPr/>
        </p:nvSpPr>
        <p:spPr>
          <a:xfrm>
            <a:off x="1085498" y="4474788"/>
            <a:ext cx="4406547" cy="246221"/>
          </a:xfrm>
          <a:prstGeom prst="rect">
            <a:avLst/>
          </a:prstGeom>
          <a:noFill/>
          <a:ln>
            <a:noFill/>
          </a:ln>
        </p:spPr>
        <p:txBody>
          <a:bodyPr spcFirstLastPara="1" wrap="square" lIns="0" tIns="0" rIns="0" bIns="0" anchor="t" anchorCtr="0">
            <a:spAutoFit/>
          </a:bodyPr>
          <a:lstStyle/>
          <a:p>
            <a:r>
              <a:rPr lang="en-US" sz="1600" b="1" dirty="0">
                <a:solidFill>
                  <a:srgbClr val="9D7F43"/>
                </a:solidFill>
                <a:latin typeface="Poppins" panose="00000500000000000000" pitchFamily="2" charset="0"/>
                <a:cs typeface="Poppins" panose="00000500000000000000" pitchFamily="2" charset="0"/>
              </a:rPr>
              <a:t>The Technology Void</a:t>
            </a:r>
          </a:p>
        </p:txBody>
      </p:sp>
      <p:sp>
        <p:nvSpPr>
          <p:cNvPr id="108" name="Google Shape;105;p14">
            <a:extLst>
              <a:ext uri="{FF2B5EF4-FFF2-40B4-BE49-F238E27FC236}">
                <a16:creationId xmlns:a16="http://schemas.microsoft.com/office/drawing/2014/main" id="{24315F5D-ACFF-9806-B9B8-4B5DBE8F3229}"/>
              </a:ext>
            </a:extLst>
          </p:cNvPr>
          <p:cNvSpPr txBox="1"/>
          <p:nvPr/>
        </p:nvSpPr>
        <p:spPr>
          <a:xfrm>
            <a:off x="1232253" y="4831963"/>
            <a:ext cx="4406547" cy="738664"/>
          </a:xfrm>
          <a:prstGeom prst="rect">
            <a:avLst/>
          </a:prstGeom>
          <a:noFill/>
          <a:ln>
            <a:noFill/>
          </a:ln>
        </p:spPr>
        <p:txBody>
          <a:bodyPr spcFirstLastPara="1" wrap="square" lIns="0" tIns="0" rIns="0" bIns="0" anchor="t" anchorCtr="0">
            <a:spAutoFit/>
          </a:bodyPr>
          <a:lstStyle/>
          <a:p>
            <a:pPr lvl="0">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Experts are increasingly forced to guess. In digital forensics, guessing is a systemic failure.</a:t>
            </a:r>
            <a:endParaRPr sz="1600" dirty="0">
              <a:latin typeface="Lato" panose="020F0502020204030203" pitchFamily="34" charset="0"/>
              <a:ea typeface="Lato" panose="020F0502020204030203" pitchFamily="34" charset="0"/>
              <a:cs typeface="Lato" panose="020F0502020204030203" pitchFamily="34" charset="0"/>
            </a:endParaRPr>
          </a:p>
        </p:txBody>
      </p:sp>
      <p:sp>
        <p:nvSpPr>
          <p:cNvPr id="2" name="TextBox 1">
            <a:extLst>
              <a:ext uri="{FF2B5EF4-FFF2-40B4-BE49-F238E27FC236}">
                <a16:creationId xmlns:a16="http://schemas.microsoft.com/office/drawing/2014/main" id="{C4C7B735-DF58-79AB-E077-60EB5CFF7F9C}"/>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332027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60B0E40F-3030-573D-C839-59BA9B7BBA3B}"/>
            </a:ext>
          </a:extLst>
        </p:cNvPr>
        <p:cNvGrpSpPr/>
        <p:nvPr/>
      </p:nvGrpSpPr>
      <p:grpSpPr>
        <a:xfrm>
          <a:off x="0" y="0"/>
          <a:ext cx="0" cy="0"/>
          <a:chOff x="0" y="0"/>
          <a:chExt cx="0" cy="0"/>
        </a:xfrm>
      </p:grpSpPr>
      <p:pic>
        <p:nvPicPr>
          <p:cNvPr id="8" name="Google Shape;112;p15" descr="image.png">
            <a:extLst>
              <a:ext uri="{FF2B5EF4-FFF2-40B4-BE49-F238E27FC236}">
                <a16:creationId xmlns:a16="http://schemas.microsoft.com/office/drawing/2014/main" id="{124AC76C-2163-0892-7FF3-437D632908F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0" name="Google Shape;100;p14">
            <a:extLst>
              <a:ext uri="{FF2B5EF4-FFF2-40B4-BE49-F238E27FC236}">
                <a16:creationId xmlns:a16="http://schemas.microsoft.com/office/drawing/2014/main" id="{A46DE2C0-A7D8-454F-240F-98930E08F4FF}"/>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Problem Statement</a:t>
            </a:r>
            <a:endParaRPr dirty="0"/>
          </a:p>
        </p:txBody>
      </p:sp>
      <p:sp>
        <p:nvSpPr>
          <p:cNvPr id="101" name="Google Shape;101;p14">
            <a:extLst>
              <a:ext uri="{FF2B5EF4-FFF2-40B4-BE49-F238E27FC236}">
                <a16:creationId xmlns:a16="http://schemas.microsoft.com/office/drawing/2014/main" id="{23D696CB-B8CB-A80F-BE0F-18264F99D11C}"/>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a:extLst>
              <a:ext uri="{FF2B5EF4-FFF2-40B4-BE49-F238E27FC236}">
                <a16:creationId xmlns:a16="http://schemas.microsoft.com/office/drawing/2014/main" id="{5C44A5B9-EB3A-1FCA-F510-C9A76E644C1A}"/>
              </a:ext>
            </a:extLst>
          </p:cNvPr>
          <p:cNvSpPr txBox="1"/>
          <p:nvPr/>
        </p:nvSpPr>
        <p:spPr>
          <a:xfrm>
            <a:off x="938743" y="1932127"/>
            <a:ext cx="10668000" cy="1661993"/>
          </a:xfrm>
          <a:prstGeom prst="rect">
            <a:avLst/>
          </a:prstGeom>
          <a:noFill/>
          <a:ln>
            <a:noFill/>
          </a:ln>
        </p:spPr>
        <p:txBody>
          <a:bodyPr spcFirstLastPara="1" wrap="square" lIns="0" tIns="0" rIns="0" bIns="0" anchor="t" anchorCtr="0">
            <a:spAutoFit/>
          </a:bodyPr>
          <a:lstStyle/>
          <a:p>
            <a:pPr lvl="0">
              <a:lnSpc>
                <a:spcPct val="150000"/>
              </a:lnSpc>
            </a:pPr>
            <a:r>
              <a:rPr lang="en-US" sz="1800" dirty="0">
                <a:latin typeface="Poppins" panose="00000500000000000000" pitchFamily="2" charset="0"/>
                <a:cs typeface="Poppins" panose="00000500000000000000" pitchFamily="2" charset="0"/>
              </a:rPr>
              <a:t>To understand why is it difficult to differentiate between real </a:t>
            </a:r>
            <a:r>
              <a:rPr lang="en-US" sz="1800" dirty="0" err="1">
                <a:latin typeface="Poppins" panose="00000500000000000000" pitchFamily="2" charset="0"/>
                <a:cs typeface="Poppins" panose="00000500000000000000" pitchFamily="2" charset="0"/>
              </a:rPr>
              <a:t>anf</a:t>
            </a:r>
            <a:r>
              <a:rPr lang="en-US" sz="1800" dirty="0">
                <a:latin typeface="Poppins" panose="00000500000000000000" pitchFamily="2" charset="0"/>
                <a:cs typeface="Poppins" panose="00000500000000000000" pitchFamily="2" charset="0"/>
              </a:rPr>
              <a:t> fake images. Let’s say there is this person named </a:t>
            </a:r>
            <a:r>
              <a:rPr lang="en-US" sz="1800" b="1" dirty="0">
                <a:latin typeface="Poppins" panose="00000500000000000000" pitchFamily="2" charset="0"/>
                <a:cs typeface="Poppins" panose="00000500000000000000" pitchFamily="2" charset="0"/>
              </a:rPr>
              <a:t>Ahmad</a:t>
            </a:r>
            <a:r>
              <a:rPr lang="en-US" sz="1800" dirty="0">
                <a:latin typeface="Poppins" panose="00000500000000000000" pitchFamily="2" charset="0"/>
                <a:cs typeface="Poppins" panose="00000500000000000000" pitchFamily="2" charset="0"/>
              </a:rPr>
              <a:t>, who is a Digital Forensic Specialist. Meaning his job is to </a:t>
            </a:r>
            <a:r>
              <a:rPr lang="en-US" sz="1800" dirty="0"/>
              <a:t>investigates cybercrimes by collecting, preserving, and analyzing digital evidence like human face portraits. </a:t>
            </a:r>
            <a:r>
              <a:rPr lang="en-US" sz="1800" dirty="0">
                <a:latin typeface="Poppins" panose="00000500000000000000" pitchFamily="2" charset="0"/>
                <a:cs typeface="Poppins" panose="00000500000000000000" pitchFamily="2" charset="0"/>
              </a:rPr>
              <a:t>He is the first line of defense, but he is facing some problems.</a:t>
            </a:r>
            <a:endParaRPr sz="1800" dirty="0">
              <a:latin typeface="Poppins" panose="00000500000000000000" pitchFamily="2" charset="0"/>
              <a:cs typeface="Poppins" panose="00000500000000000000" pitchFamily="2" charset="0"/>
            </a:endParaRPr>
          </a:p>
        </p:txBody>
      </p:sp>
      <p:sp>
        <p:nvSpPr>
          <p:cNvPr id="105" name="Google Shape;105;p14">
            <a:extLst>
              <a:ext uri="{FF2B5EF4-FFF2-40B4-BE49-F238E27FC236}">
                <a16:creationId xmlns:a16="http://schemas.microsoft.com/office/drawing/2014/main" id="{E33BC385-0ED0-DB58-29D5-D581F4946E88}"/>
              </a:ext>
            </a:extLst>
          </p:cNvPr>
          <p:cNvSpPr txBox="1"/>
          <p:nvPr/>
        </p:nvSpPr>
        <p:spPr>
          <a:xfrm>
            <a:off x="938743" y="4810561"/>
            <a:ext cx="10314514" cy="830997"/>
          </a:xfrm>
          <a:prstGeom prst="rect">
            <a:avLst/>
          </a:prstGeom>
          <a:noFill/>
          <a:ln>
            <a:noFill/>
          </a:ln>
        </p:spPr>
        <p:txBody>
          <a:bodyPr spcFirstLastPara="1" wrap="square" lIns="0" tIns="0" rIns="0" bIns="0" anchor="t" anchorCtr="0">
            <a:spAutoFit/>
          </a:bodyPr>
          <a:lstStyle/>
          <a:p>
            <a:pPr lvl="0">
              <a:lnSpc>
                <a:spcPct val="150000"/>
              </a:lnSpc>
            </a:pPr>
            <a:r>
              <a:rPr lang="en-US" sz="1800" dirty="0">
                <a:latin typeface="Poppins" panose="00000500000000000000" pitchFamily="2" charset="0"/>
                <a:cs typeface="Poppins" panose="00000500000000000000" pitchFamily="2" charset="0"/>
              </a:rPr>
              <a:t>This person Ahmad, he spends hours zooming into pixels looking for flaws. But modern AI is now beyond human detection</a:t>
            </a:r>
            <a:endParaRPr sz="1800" dirty="0">
              <a:latin typeface="Poppins" panose="00000500000000000000" pitchFamily="2" charset="0"/>
              <a:cs typeface="Poppins" panose="00000500000000000000" pitchFamily="2" charset="0"/>
            </a:endParaRPr>
          </a:p>
        </p:txBody>
      </p:sp>
      <p:sp>
        <p:nvSpPr>
          <p:cNvPr id="2" name="Google Shape;173;p18">
            <a:extLst>
              <a:ext uri="{FF2B5EF4-FFF2-40B4-BE49-F238E27FC236}">
                <a16:creationId xmlns:a16="http://schemas.microsoft.com/office/drawing/2014/main" id="{2F1C73D4-5E9D-20C2-529B-AFADB4EE4041}"/>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2754335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D2B48F55-BE43-78C5-6598-5A90036380C1}"/>
            </a:ext>
          </a:extLst>
        </p:cNvPr>
        <p:cNvGrpSpPr/>
        <p:nvPr/>
      </p:nvGrpSpPr>
      <p:grpSpPr>
        <a:xfrm>
          <a:off x="0" y="0"/>
          <a:ext cx="0" cy="0"/>
          <a:chOff x="0" y="0"/>
          <a:chExt cx="0" cy="0"/>
        </a:xfrm>
      </p:grpSpPr>
      <p:pic>
        <p:nvPicPr>
          <p:cNvPr id="8" name="Google Shape;112;p15" descr="image.png">
            <a:extLst>
              <a:ext uri="{FF2B5EF4-FFF2-40B4-BE49-F238E27FC236}">
                <a16:creationId xmlns:a16="http://schemas.microsoft.com/office/drawing/2014/main" id="{5BC43316-2ED1-FA36-2E89-448BF1FE2DA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0" name="Google Shape;100;p14">
            <a:extLst>
              <a:ext uri="{FF2B5EF4-FFF2-40B4-BE49-F238E27FC236}">
                <a16:creationId xmlns:a16="http://schemas.microsoft.com/office/drawing/2014/main" id="{E5F77DDA-5C0A-784D-3EC3-56F8A5A0DA6A}"/>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Problem Statement</a:t>
            </a:r>
            <a:endParaRPr dirty="0"/>
          </a:p>
        </p:txBody>
      </p:sp>
      <p:sp>
        <p:nvSpPr>
          <p:cNvPr id="101" name="Google Shape;101;p14">
            <a:extLst>
              <a:ext uri="{FF2B5EF4-FFF2-40B4-BE49-F238E27FC236}">
                <a16:creationId xmlns:a16="http://schemas.microsoft.com/office/drawing/2014/main" id="{E440819D-C2D9-D4D5-EB82-C8D1685B3BF1}"/>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 name="Google Shape;105;p14">
            <a:extLst>
              <a:ext uri="{FF2B5EF4-FFF2-40B4-BE49-F238E27FC236}">
                <a16:creationId xmlns:a16="http://schemas.microsoft.com/office/drawing/2014/main" id="{F90284A5-0FD3-5C80-705D-F968E5C0B9DE}"/>
              </a:ext>
            </a:extLst>
          </p:cNvPr>
          <p:cNvSpPr txBox="1"/>
          <p:nvPr/>
        </p:nvSpPr>
        <p:spPr>
          <a:xfrm>
            <a:off x="634999" y="2526231"/>
            <a:ext cx="10922000" cy="1246495"/>
          </a:xfrm>
          <a:prstGeom prst="rect">
            <a:avLst/>
          </a:prstGeom>
          <a:noFill/>
          <a:ln>
            <a:noFill/>
          </a:ln>
        </p:spPr>
        <p:txBody>
          <a:bodyPr spcFirstLastPara="1" wrap="square" lIns="0" tIns="0" rIns="0" bIns="0" anchor="t" anchorCtr="0">
            <a:spAutoFit/>
          </a:bodyPr>
          <a:lstStyle/>
          <a:p>
            <a:pPr lvl="0">
              <a:lnSpc>
                <a:spcPct val="150000"/>
              </a:lnSpc>
            </a:pPr>
            <a:r>
              <a:rPr lang="en-US" sz="1800" dirty="0">
                <a:latin typeface="Poppins" panose="00000500000000000000" pitchFamily="2" charset="0"/>
                <a:cs typeface="Poppins" panose="00000500000000000000" pitchFamily="2" charset="0"/>
              </a:rPr>
              <a:t>If Ahmad verifies a fake image as "Real," he will cause an fake image to be added into official record. Same for Real image if he verifies it as fake then it will cause his cyber team to lose an authentic evidence. There is no room for error.</a:t>
            </a:r>
            <a:endParaRPr sz="1800" dirty="0">
              <a:latin typeface="Poppins" panose="00000500000000000000" pitchFamily="2" charset="0"/>
              <a:cs typeface="Poppins" panose="00000500000000000000" pitchFamily="2" charset="0"/>
            </a:endParaRPr>
          </a:p>
        </p:txBody>
      </p:sp>
      <p:sp>
        <p:nvSpPr>
          <p:cNvPr id="30" name="Google Shape;105;p14">
            <a:extLst>
              <a:ext uri="{FF2B5EF4-FFF2-40B4-BE49-F238E27FC236}">
                <a16:creationId xmlns:a16="http://schemas.microsoft.com/office/drawing/2014/main" id="{FE8A47F5-7193-D1C1-3E12-C4194A1B2F1D}"/>
              </a:ext>
            </a:extLst>
          </p:cNvPr>
          <p:cNvSpPr txBox="1"/>
          <p:nvPr/>
        </p:nvSpPr>
        <p:spPr>
          <a:xfrm>
            <a:off x="726194" y="4355583"/>
            <a:ext cx="10850389" cy="830997"/>
          </a:xfrm>
          <a:prstGeom prst="rect">
            <a:avLst/>
          </a:prstGeom>
          <a:noFill/>
          <a:ln>
            <a:noFill/>
          </a:ln>
        </p:spPr>
        <p:txBody>
          <a:bodyPr spcFirstLastPara="1" wrap="square" lIns="0" tIns="0" rIns="0" bIns="0" anchor="t" anchorCtr="0">
            <a:spAutoFit/>
          </a:bodyPr>
          <a:lstStyle/>
          <a:p>
            <a:pPr lvl="0">
              <a:lnSpc>
                <a:spcPct val="150000"/>
              </a:lnSpc>
            </a:pPr>
            <a:r>
              <a:rPr lang="en-US" sz="1800" dirty="0">
                <a:latin typeface="Poppins" panose="00000500000000000000" pitchFamily="2" charset="0"/>
                <a:cs typeface="Poppins" panose="00000500000000000000" pitchFamily="2" charset="0"/>
              </a:rPr>
              <a:t>It is not that Ahmad is not an expert, but he is losing confidence. because He he is currently guessing and in forensics, guessing is a systemic failure.</a:t>
            </a:r>
            <a:endParaRPr sz="1800" dirty="0">
              <a:latin typeface="Poppins" panose="00000500000000000000" pitchFamily="2" charset="0"/>
              <a:cs typeface="Poppins" panose="00000500000000000000" pitchFamily="2" charset="0"/>
            </a:endParaRPr>
          </a:p>
        </p:txBody>
      </p:sp>
      <p:sp>
        <p:nvSpPr>
          <p:cNvPr id="108" name="Google Shape;105;p14">
            <a:extLst>
              <a:ext uri="{FF2B5EF4-FFF2-40B4-BE49-F238E27FC236}">
                <a16:creationId xmlns:a16="http://schemas.microsoft.com/office/drawing/2014/main" id="{0B1AADCA-CBBD-4D39-E7BB-8D2AD40FAADE}"/>
              </a:ext>
            </a:extLst>
          </p:cNvPr>
          <p:cNvSpPr txBox="1"/>
          <p:nvPr/>
        </p:nvSpPr>
        <p:spPr>
          <a:xfrm>
            <a:off x="821266" y="1610977"/>
            <a:ext cx="10549467" cy="415498"/>
          </a:xfrm>
          <a:prstGeom prst="rect">
            <a:avLst/>
          </a:prstGeom>
          <a:noFill/>
          <a:ln>
            <a:noFill/>
          </a:ln>
        </p:spPr>
        <p:txBody>
          <a:bodyPr spcFirstLastPara="1" wrap="square" lIns="0" tIns="0" rIns="0" bIns="0" anchor="t" anchorCtr="0">
            <a:spAutoFit/>
          </a:bodyPr>
          <a:lstStyle/>
          <a:p>
            <a:pPr lvl="0">
              <a:lnSpc>
                <a:spcPct val="150000"/>
              </a:lnSpc>
            </a:pPr>
            <a:r>
              <a:rPr lang="en-US" sz="1800" dirty="0">
                <a:latin typeface="Poppins" panose="00000500000000000000" pitchFamily="2" charset="0"/>
                <a:cs typeface="Poppins" panose="00000500000000000000" pitchFamily="2" charset="0"/>
              </a:rPr>
              <a:t>Currently Ahmad has </a:t>
            </a:r>
            <a:r>
              <a:rPr lang="en-US" sz="1800" b="1" dirty="0">
                <a:latin typeface="Poppins" panose="00000500000000000000" pitchFamily="2" charset="0"/>
                <a:cs typeface="Poppins" panose="00000500000000000000" pitchFamily="2" charset="0"/>
              </a:rPr>
              <a:t>no specialized tools</a:t>
            </a:r>
            <a:r>
              <a:rPr lang="en-US" sz="1800" dirty="0">
                <a:latin typeface="Poppins" panose="00000500000000000000" pitchFamily="2" charset="0"/>
                <a:cs typeface="Poppins" panose="00000500000000000000" pitchFamily="2" charset="0"/>
              </a:rPr>
              <a:t>. He relies on standard photo viewers</a:t>
            </a:r>
            <a:endParaRPr sz="1800" dirty="0">
              <a:latin typeface="Poppins" panose="00000500000000000000" pitchFamily="2" charset="0"/>
              <a:cs typeface="Poppins" panose="00000500000000000000" pitchFamily="2" charset="0"/>
            </a:endParaRPr>
          </a:p>
        </p:txBody>
      </p:sp>
      <p:sp>
        <p:nvSpPr>
          <p:cNvPr id="2" name="Google Shape;102;p14">
            <a:extLst>
              <a:ext uri="{FF2B5EF4-FFF2-40B4-BE49-F238E27FC236}">
                <a16:creationId xmlns:a16="http://schemas.microsoft.com/office/drawing/2014/main" id="{9D8AF1A1-24CC-645E-3AF9-5B034FE30D3D}"/>
              </a:ext>
            </a:extLst>
          </p:cNvPr>
          <p:cNvSpPr txBox="1"/>
          <p:nvPr/>
        </p:nvSpPr>
        <p:spPr>
          <a:xfrm>
            <a:off x="726194" y="5769437"/>
            <a:ext cx="11201400" cy="415498"/>
          </a:xfrm>
          <a:prstGeom prst="rect">
            <a:avLst/>
          </a:prstGeom>
          <a:noFill/>
          <a:ln>
            <a:noFill/>
          </a:ln>
        </p:spPr>
        <p:txBody>
          <a:bodyPr spcFirstLastPara="1" wrap="square" lIns="0" tIns="0" rIns="0" bIns="0" anchor="t" anchorCtr="0">
            <a:spAutoFit/>
          </a:bodyPr>
          <a:lstStyle/>
          <a:p>
            <a:pPr>
              <a:lnSpc>
                <a:spcPct val="150000"/>
              </a:lnSpc>
            </a:pPr>
            <a:r>
              <a:rPr lang="en-US" sz="1800" dirty="0">
                <a:latin typeface="Poppins" panose="00000500000000000000" pitchFamily="2" charset="0"/>
                <a:cs typeface="Poppins" panose="00000500000000000000" pitchFamily="2" charset="0"/>
              </a:rPr>
              <a:t>Some of you might be wondering why are fake images even considered a problem. </a:t>
            </a:r>
          </a:p>
        </p:txBody>
      </p:sp>
      <p:sp>
        <p:nvSpPr>
          <p:cNvPr id="3" name="Google Shape;173;p18">
            <a:extLst>
              <a:ext uri="{FF2B5EF4-FFF2-40B4-BE49-F238E27FC236}">
                <a16:creationId xmlns:a16="http://schemas.microsoft.com/office/drawing/2014/main" id="{ACA8E856-0E2E-6115-95DE-9B3E92214746}"/>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231469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3" name="Google Shape;113;p15"/>
          <p:cNvSpPr txBox="1"/>
          <p:nvPr/>
        </p:nvSpPr>
        <p:spPr>
          <a:xfrm>
            <a:off x="762000" y="571500"/>
            <a:ext cx="1120140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a:ea typeface="Poppins"/>
                <a:cs typeface="Poppins"/>
                <a:sym typeface="Poppins"/>
              </a:rPr>
              <a:t>Project Introduction</a:t>
            </a:r>
            <a:endParaRPr/>
          </a:p>
        </p:txBody>
      </p:sp>
      <p:sp>
        <p:nvSpPr>
          <p:cNvPr id="114" name="Google Shape;114;p15"/>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5"/>
          <p:cNvSpPr txBox="1"/>
          <p:nvPr/>
        </p:nvSpPr>
        <p:spPr>
          <a:xfrm>
            <a:off x="617112" y="1790700"/>
            <a:ext cx="10957775" cy="4093428"/>
          </a:xfrm>
          <a:prstGeom prst="rect">
            <a:avLst/>
          </a:prstGeom>
          <a:noFill/>
          <a:ln>
            <a:noFill/>
          </a:ln>
        </p:spPr>
        <p:txBody>
          <a:bodyPr spcFirstLastPara="1" wrap="square" lIns="0" tIns="0" rIns="0" bIns="0" anchor="t" anchorCtr="0">
            <a:spAutoFit/>
          </a:bodyPr>
          <a:lstStyle/>
          <a:p>
            <a:r>
              <a:rPr lang="en-US" sz="1600" dirty="0">
                <a:latin typeface="Poppins" panose="00000500000000000000" pitchFamily="2" charset="0"/>
                <a:cs typeface="Poppins" panose="00000500000000000000" pitchFamily="2" charset="0"/>
              </a:rPr>
              <a:t>For professionals like Ahmad, who did not even know a solution was possible, </a:t>
            </a:r>
            <a:r>
              <a:rPr lang="en-US" sz="1600" b="1" dirty="0">
                <a:latin typeface="Poppins" panose="00000500000000000000" pitchFamily="2" charset="0"/>
                <a:cs typeface="Poppins" panose="00000500000000000000" pitchFamily="2" charset="0"/>
              </a:rPr>
              <a:t>Synthetica</a:t>
            </a:r>
            <a:r>
              <a:rPr lang="en-US" sz="1600" dirty="0">
                <a:latin typeface="Poppins" panose="00000500000000000000" pitchFamily="2" charset="0"/>
                <a:cs typeface="Poppins" panose="00000500000000000000" pitchFamily="2" charset="0"/>
              </a:rPr>
              <a:t> serves as the first line of defense.</a:t>
            </a:r>
            <a:br>
              <a:rPr lang="en-US" sz="2000" dirty="0">
                <a:latin typeface="+mn-lt"/>
                <a:ea typeface="Lato" panose="020F0502020204030203" pitchFamily="34" charset="0"/>
                <a:cs typeface="Lato" panose="020F0502020204030203" pitchFamily="34" charset="0"/>
              </a:rPr>
            </a:br>
            <a:endParaRPr lang="en-US" sz="2000" dirty="0">
              <a:latin typeface="+mn-lt"/>
              <a:ea typeface="Lato" panose="020F0502020204030203" pitchFamily="34" charset="0"/>
              <a:cs typeface="Lato" panose="020F0502020204030203" pitchFamily="34" charset="0"/>
            </a:endParaRPr>
          </a:p>
          <a:p>
            <a:endParaRPr lang="en-US" sz="1800" b="1" dirty="0">
              <a:solidFill>
                <a:srgbClr val="1E3A8A"/>
              </a:solidFill>
              <a:latin typeface="+mn-lt"/>
              <a:cs typeface="Poppins" panose="00000500000000000000" pitchFamily="2" charset="0"/>
            </a:endParaRPr>
          </a:p>
          <a:p>
            <a:pPr marL="285750" indent="-285750">
              <a:buFont typeface="Arial" panose="020B0604020202020204" pitchFamily="34" charset="0"/>
              <a:buChar char="•"/>
            </a:pPr>
            <a:r>
              <a:rPr lang="en-US" sz="2000" b="1" dirty="0">
                <a:solidFill>
                  <a:srgbClr val="1E3A8A"/>
                </a:solidFill>
                <a:latin typeface="Poppins" panose="00000500000000000000" pitchFamily="2" charset="0"/>
                <a:cs typeface="Poppins" panose="00000500000000000000" pitchFamily="2" charset="0"/>
              </a:rPr>
              <a:t>From Guesswork to Science: </a:t>
            </a:r>
            <a:r>
              <a:rPr lang="en-US" sz="1800" dirty="0">
                <a:latin typeface="Lato" panose="020F0502020204030203" pitchFamily="34" charset="0"/>
                <a:ea typeface="Lato" panose="020F0502020204030203" pitchFamily="34" charset="0"/>
                <a:cs typeface="Lato" panose="020F0502020204030203" pitchFamily="34" charset="0"/>
              </a:rPr>
              <a:t>I</a:t>
            </a:r>
            <a:r>
              <a:rPr lang="en-US" sz="1800" dirty="0">
                <a:latin typeface="Arial" panose="020B0604020202020204" pitchFamily="34" charset="0"/>
                <a:ea typeface="Lato" panose="020F0502020204030203" pitchFamily="34" charset="0"/>
                <a:cs typeface="Arial" panose="020B0604020202020204" pitchFamily="34" charset="0"/>
              </a:rPr>
              <a:t>t is a high-performance detective engine designed to tell the investigator exactly what they cannot see: Is this image Real or Fake</a:t>
            </a:r>
            <a:r>
              <a:rPr lang="en-US" sz="1600" dirty="0">
                <a:latin typeface="Arial" panose="020B0604020202020204" pitchFamily="34" charset="0"/>
                <a:ea typeface="Lato" panose="020F0502020204030203" pitchFamily="34" charset="0"/>
                <a:cs typeface="Arial" panose="020B0604020202020204" pitchFamily="34" charset="0"/>
              </a:rPr>
              <a:t>.</a:t>
            </a:r>
            <a:endParaRPr lang="en-US" sz="1600" b="1" dirty="0">
              <a:solidFill>
                <a:srgbClr val="1E3A8A"/>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1800" b="1" dirty="0">
              <a:solidFill>
                <a:srgbClr val="1E3A8A"/>
              </a:solidFill>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000" b="1" dirty="0">
                <a:solidFill>
                  <a:srgbClr val="1E3A8A"/>
                </a:solidFill>
                <a:latin typeface="Poppins" panose="00000500000000000000" pitchFamily="2" charset="0"/>
                <a:cs typeface="Poppins" panose="00000500000000000000" pitchFamily="2" charset="0"/>
              </a:rPr>
              <a:t>A New Standard of Truth:</a:t>
            </a:r>
            <a:r>
              <a:rPr lang="en-US" sz="2000" dirty="0">
                <a:solidFill>
                  <a:srgbClr val="1E3A8A"/>
                </a:solidFill>
                <a:latin typeface="Poppins" panose="00000500000000000000" pitchFamily="2" charset="0"/>
                <a:cs typeface="Poppins" panose="00000500000000000000" pitchFamily="2" charset="0"/>
              </a:rPr>
              <a:t> </a:t>
            </a:r>
            <a:r>
              <a:rPr lang="en-US" sz="1800" dirty="0"/>
              <a:t>Delivers a 98.46% validated accuracy rate, establishing a scientific foundation for forensic reporting.</a:t>
            </a:r>
          </a:p>
          <a:p>
            <a:pPr marL="285750" indent="-285750">
              <a:buFont typeface="Arial" panose="020B0604020202020204" pitchFamily="34" charset="0"/>
              <a:buChar char="•"/>
            </a:pPr>
            <a:endParaRPr lang="en-US" sz="16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000" b="1" dirty="0">
                <a:solidFill>
                  <a:srgbClr val="1E3A8A"/>
                </a:solidFill>
                <a:latin typeface="Poppins" panose="00000500000000000000" pitchFamily="2" charset="0"/>
                <a:cs typeface="Poppins" panose="00000500000000000000" pitchFamily="2" charset="0"/>
              </a:rPr>
              <a:t>Immediate Accessibility: </a:t>
            </a:r>
            <a:r>
              <a:rPr lang="en-US" sz="1800" dirty="0"/>
              <a:t>Accessible by web, the portal processes uploads and generates </a:t>
            </a:r>
            <a:br>
              <a:rPr lang="en-US" sz="1800" dirty="0"/>
            </a:br>
            <a:r>
              <a:rPr lang="en-US" sz="1800" dirty="0"/>
              <a:t>verdicts in under 14 seconds.</a:t>
            </a:r>
            <a:endParaRPr lang="en-US" sz="1800" dirty="0">
              <a:latin typeface="Poppins" panose="00000500000000000000" pitchFamily="2" charset="0"/>
              <a:cs typeface="Poppins" panose="00000500000000000000" pitchFamily="2" charset="0"/>
            </a:endParaRPr>
          </a:p>
          <a:p>
            <a:endParaRPr lang="en-US" sz="12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000" b="1" dirty="0">
                <a:solidFill>
                  <a:srgbClr val="1E3A8A"/>
                </a:solidFill>
                <a:latin typeface="Poppins" panose="00000500000000000000" pitchFamily="2" charset="0"/>
                <a:cs typeface="Poppins" panose="00000500000000000000" pitchFamily="2" charset="0"/>
              </a:rPr>
              <a:t>Empowering the Expert:</a:t>
            </a:r>
            <a:r>
              <a:rPr lang="en-US" sz="2000" dirty="0">
                <a:latin typeface="Lato" panose="020F0502020204030203" pitchFamily="34" charset="0"/>
                <a:ea typeface="Lato" panose="020F0502020204030203" pitchFamily="34" charset="0"/>
                <a:cs typeface="Lato" panose="020F0502020204030203" pitchFamily="34" charset="0"/>
              </a:rPr>
              <a:t> </a:t>
            </a:r>
            <a:r>
              <a:rPr lang="en-US" sz="1800" dirty="0">
                <a:ea typeface="Lato" panose="020F0502020204030203" pitchFamily="34" charset="0"/>
                <a:cs typeface="Lato" panose="020F0502020204030203" pitchFamily="34" charset="0"/>
              </a:rPr>
              <a:t>It gives him the "Digital Microscope" he was missing, allowing him to regain control over the integrity of his work.</a:t>
            </a:r>
            <a:endParaRPr lang="en-US" sz="1800" dirty="0">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7DC27185-4F14-FDD1-BC7B-2251C609759C}"/>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p:cNvGrpSpPr/>
        <p:nvPr/>
      </p:nvGrpSpPr>
      <p:grpSpPr>
        <a:xfrm>
          <a:off x="0" y="0"/>
          <a:ext cx="0" cy="0"/>
          <a:chOff x="0" y="0"/>
          <a:chExt cx="0" cy="0"/>
        </a:xfrm>
      </p:grpSpPr>
      <p:pic>
        <p:nvPicPr>
          <p:cNvPr id="112" name="Google Shape;112;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3" name="Google Shape;113;p15"/>
          <p:cNvSpPr txBox="1"/>
          <p:nvPr/>
        </p:nvSpPr>
        <p:spPr>
          <a:xfrm>
            <a:off x="762000" y="571500"/>
            <a:ext cx="1120140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a:ea typeface="Poppins"/>
                <a:cs typeface="Poppins"/>
                <a:sym typeface="Poppins"/>
              </a:rPr>
              <a:t>Project Introduction</a:t>
            </a:r>
            <a:endParaRPr/>
          </a:p>
        </p:txBody>
      </p:sp>
      <p:sp>
        <p:nvSpPr>
          <p:cNvPr id="114" name="Google Shape;114;p15"/>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5"/>
          <p:cNvSpPr txBox="1"/>
          <p:nvPr/>
        </p:nvSpPr>
        <p:spPr>
          <a:xfrm>
            <a:off x="617112" y="1790700"/>
            <a:ext cx="10957775" cy="4001095"/>
          </a:xfrm>
          <a:prstGeom prst="rect">
            <a:avLst/>
          </a:prstGeom>
          <a:noFill/>
          <a:ln>
            <a:noFill/>
          </a:ln>
        </p:spPr>
        <p:txBody>
          <a:bodyPr spcFirstLastPara="1" wrap="square" lIns="0" tIns="0" rIns="0" bIns="0" anchor="t" anchorCtr="0">
            <a:spAutoFit/>
          </a:bodyPr>
          <a:lstStyle/>
          <a:p>
            <a:r>
              <a:rPr lang="en-US" sz="2000" dirty="0">
                <a:latin typeface="Poppins" panose="00000500000000000000" pitchFamily="2" charset="0"/>
                <a:cs typeface="Poppins" panose="00000500000000000000" pitchFamily="2" charset="0"/>
              </a:rPr>
              <a:t>To solve this problem professionals like Ahmad, who did not even know a solution was possible we present for them  </a:t>
            </a:r>
            <a:r>
              <a:rPr lang="en-US" sz="2000" b="1" dirty="0">
                <a:latin typeface="Poppins" panose="00000500000000000000" pitchFamily="2" charset="0"/>
                <a:cs typeface="Poppins" panose="00000500000000000000" pitchFamily="2" charset="0"/>
              </a:rPr>
              <a:t>Synthetica</a:t>
            </a:r>
            <a:br>
              <a:rPr lang="en-US" sz="2000" b="1" dirty="0">
                <a:latin typeface="Poppins" panose="00000500000000000000" pitchFamily="2" charset="0"/>
                <a:cs typeface="Poppins" panose="00000500000000000000" pitchFamily="2" charset="0"/>
              </a:rPr>
            </a:br>
            <a:br>
              <a:rPr lang="en-US" sz="2000" b="1" dirty="0">
                <a:latin typeface="Poppins" panose="00000500000000000000" pitchFamily="2" charset="0"/>
                <a:cs typeface="Poppins" panose="00000500000000000000" pitchFamily="2" charset="0"/>
              </a:rPr>
            </a:br>
            <a:endParaRPr lang="en-US" sz="20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400" dirty="0">
                <a:latin typeface="Lato" panose="020F0502020204030203" pitchFamily="34" charset="0"/>
                <a:ea typeface="Lato" panose="020F0502020204030203" pitchFamily="34" charset="0"/>
                <a:cs typeface="Lato" panose="020F0502020204030203" pitchFamily="34" charset="0"/>
              </a:rPr>
              <a:t>Synthetica replaces the methods Ahmad’s using to manually check the images with a high-performance web application. It is a specialized tool designed to tell the investigator exactly what they cannot see: Is this image Real or Fake?</a:t>
            </a:r>
            <a:br>
              <a:rPr lang="en-US" sz="2000" dirty="0">
                <a:latin typeface="Poppins" panose="00000500000000000000" pitchFamily="2" charset="0"/>
                <a:cs typeface="Poppins" panose="00000500000000000000" pitchFamily="2" charset="0"/>
              </a:rPr>
            </a:br>
            <a:br>
              <a:rPr lang="en-US" sz="2000" dirty="0">
                <a:latin typeface="Poppins" panose="00000500000000000000" pitchFamily="2" charset="0"/>
                <a:cs typeface="Poppins" panose="00000500000000000000" pitchFamily="2" charset="0"/>
              </a:rPr>
            </a:br>
            <a:endParaRPr lang="en-US" sz="20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400" dirty="0">
                <a:latin typeface="Lato" panose="020F0502020204030203" pitchFamily="34" charset="0"/>
                <a:ea typeface="Lato" panose="020F0502020204030203" pitchFamily="34" charset="0"/>
                <a:cs typeface="Lato" panose="020F0502020204030203" pitchFamily="34" charset="0"/>
              </a:rPr>
              <a:t>This detection system will provide an instant classification with a validated accuracy of </a:t>
            </a:r>
            <a:r>
              <a:rPr lang="en-US" sz="2400" b="1" dirty="0">
                <a:latin typeface="Lato" panose="020F0502020204030203" pitchFamily="34" charset="0"/>
                <a:ea typeface="Lato" panose="020F0502020204030203" pitchFamily="34" charset="0"/>
                <a:cs typeface="Lato" panose="020F0502020204030203" pitchFamily="34" charset="0"/>
              </a:rPr>
              <a:t>98.46%</a:t>
            </a:r>
            <a:r>
              <a:rPr lang="en-US" sz="2400" dirty="0">
                <a:latin typeface="Lato" panose="020F0502020204030203" pitchFamily="34" charset="0"/>
                <a:ea typeface="Lato" panose="020F0502020204030203" pitchFamily="34" charset="0"/>
                <a:cs typeface="Lato" panose="020F0502020204030203" pitchFamily="34" charset="0"/>
              </a:rPr>
              <a:t>, giving the investigator a scientific basis for their reports.</a:t>
            </a:r>
            <a:br>
              <a:rPr lang="en-US" sz="2000" dirty="0">
                <a:latin typeface="Poppins" panose="00000500000000000000" pitchFamily="2" charset="0"/>
                <a:cs typeface="Poppins" panose="00000500000000000000" pitchFamily="2" charset="0"/>
              </a:rPr>
            </a:br>
            <a:endParaRPr lang="en-US" sz="2000" dirty="0">
              <a:latin typeface="Poppins" panose="00000500000000000000" pitchFamily="2" charset="0"/>
              <a:cs typeface="Poppins" panose="00000500000000000000" pitchFamily="2" charset="0"/>
            </a:endParaRPr>
          </a:p>
        </p:txBody>
      </p:sp>
      <p:sp>
        <p:nvSpPr>
          <p:cNvPr id="2" name="Google Shape;173;p18">
            <a:extLst>
              <a:ext uri="{FF2B5EF4-FFF2-40B4-BE49-F238E27FC236}">
                <a16:creationId xmlns:a16="http://schemas.microsoft.com/office/drawing/2014/main" id="{4C168CEF-92C3-223E-0C57-F398D3608EEC}"/>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a:extLst>
            <a:ext uri="{FF2B5EF4-FFF2-40B4-BE49-F238E27FC236}">
              <a16:creationId xmlns:a16="http://schemas.microsoft.com/office/drawing/2014/main" id="{2413226C-2A3B-0817-4100-F07D3F5D3A31}"/>
            </a:ext>
          </a:extLst>
        </p:cNvPr>
        <p:cNvGrpSpPr/>
        <p:nvPr/>
      </p:nvGrpSpPr>
      <p:grpSpPr>
        <a:xfrm>
          <a:off x="0" y="0"/>
          <a:ext cx="0" cy="0"/>
          <a:chOff x="0" y="0"/>
          <a:chExt cx="0" cy="0"/>
        </a:xfrm>
      </p:grpSpPr>
      <p:pic>
        <p:nvPicPr>
          <p:cNvPr id="112" name="Google Shape;112;p15" descr="image.png">
            <a:extLst>
              <a:ext uri="{FF2B5EF4-FFF2-40B4-BE49-F238E27FC236}">
                <a16:creationId xmlns:a16="http://schemas.microsoft.com/office/drawing/2014/main" id="{4AD42A05-38C4-BD8B-6B8E-592FF565012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3" name="Google Shape;113;p15">
            <a:extLst>
              <a:ext uri="{FF2B5EF4-FFF2-40B4-BE49-F238E27FC236}">
                <a16:creationId xmlns:a16="http://schemas.microsoft.com/office/drawing/2014/main" id="{8EADEC64-DAA8-78B4-12ED-A8E196DF112C}"/>
              </a:ext>
            </a:extLst>
          </p:cNvPr>
          <p:cNvSpPr txBox="1"/>
          <p:nvPr/>
        </p:nvSpPr>
        <p:spPr>
          <a:xfrm>
            <a:off x="762000" y="571500"/>
            <a:ext cx="11201400"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F172A"/>
                </a:solidFill>
                <a:latin typeface="Poppins"/>
                <a:ea typeface="Poppins"/>
                <a:cs typeface="Poppins"/>
                <a:sym typeface="Poppins"/>
              </a:rPr>
              <a:t>Project Introduction</a:t>
            </a:r>
            <a:endParaRPr/>
          </a:p>
        </p:txBody>
      </p:sp>
      <p:sp>
        <p:nvSpPr>
          <p:cNvPr id="114" name="Google Shape;114;p15">
            <a:extLst>
              <a:ext uri="{FF2B5EF4-FFF2-40B4-BE49-F238E27FC236}">
                <a16:creationId xmlns:a16="http://schemas.microsoft.com/office/drawing/2014/main" id="{AF57B2B6-F5AB-49E8-FEB5-E67521E80A2E}"/>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5">
            <a:extLst>
              <a:ext uri="{FF2B5EF4-FFF2-40B4-BE49-F238E27FC236}">
                <a16:creationId xmlns:a16="http://schemas.microsoft.com/office/drawing/2014/main" id="{E9EAA7F5-F871-E7E6-C82E-3E7B0858D4B2}"/>
              </a:ext>
            </a:extLst>
          </p:cNvPr>
          <p:cNvSpPr txBox="1"/>
          <p:nvPr/>
        </p:nvSpPr>
        <p:spPr>
          <a:xfrm>
            <a:off x="617112" y="1790700"/>
            <a:ext cx="10957775" cy="3724096"/>
          </a:xfrm>
          <a:prstGeom prst="rect">
            <a:avLst/>
          </a:prstGeom>
          <a:noFill/>
          <a:ln>
            <a:noFill/>
          </a:ln>
        </p:spPr>
        <p:txBody>
          <a:bodyPr spcFirstLastPara="1" wrap="square" lIns="0" tIns="0" rIns="0" bIns="0" anchor="t" anchorCtr="0">
            <a:spAutoFit/>
          </a:bodyPr>
          <a:lstStyle/>
          <a:p>
            <a:br>
              <a:rPr lang="en-US" sz="2200" dirty="0">
                <a:latin typeface="Poppins" panose="00000500000000000000" pitchFamily="2" charset="0"/>
                <a:cs typeface="Poppins" panose="00000500000000000000" pitchFamily="2" charset="0"/>
              </a:rPr>
            </a:br>
            <a:endParaRPr lang="en-US" sz="22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200" dirty="0">
                <a:latin typeface="Lato" panose="020F0502020204030203" pitchFamily="34" charset="0"/>
                <a:ea typeface="Lato" panose="020F0502020204030203" pitchFamily="34" charset="0"/>
                <a:cs typeface="Lato" panose="020F0502020204030203" pitchFamily="34" charset="0"/>
              </a:rPr>
              <a:t>This app will be deployed on Internet; it will provide professionals with a centralized portal where he can upload an image and receive an answer.</a:t>
            </a:r>
            <a:br>
              <a:rPr lang="en-US" sz="2200" dirty="0">
                <a:latin typeface="Poppins" panose="00000500000000000000" pitchFamily="2" charset="0"/>
                <a:cs typeface="Poppins" panose="00000500000000000000" pitchFamily="2" charset="0"/>
              </a:rPr>
            </a:br>
            <a:br>
              <a:rPr lang="en-US" sz="2200" dirty="0">
                <a:latin typeface="Poppins" panose="00000500000000000000" pitchFamily="2" charset="0"/>
                <a:cs typeface="Poppins" panose="00000500000000000000" pitchFamily="2" charset="0"/>
              </a:rPr>
            </a:br>
            <a:br>
              <a:rPr lang="en-US" sz="2200" dirty="0">
                <a:latin typeface="Poppins" panose="00000500000000000000" pitchFamily="2" charset="0"/>
                <a:cs typeface="Poppins" panose="00000500000000000000" pitchFamily="2" charset="0"/>
              </a:rPr>
            </a:br>
            <a:br>
              <a:rPr lang="en-US" sz="2200" dirty="0">
                <a:latin typeface="Poppins" panose="00000500000000000000" pitchFamily="2" charset="0"/>
                <a:cs typeface="Poppins" panose="00000500000000000000" pitchFamily="2" charset="0"/>
              </a:rPr>
            </a:br>
            <a:endParaRPr lang="en-US" sz="22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2200" dirty="0">
                <a:latin typeface="Lato" panose="020F0502020204030203" pitchFamily="34" charset="0"/>
                <a:ea typeface="Lato" panose="020F0502020204030203" pitchFamily="34" charset="0"/>
                <a:cs typeface="Lato" panose="020F0502020204030203" pitchFamily="34" charset="0"/>
              </a:rPr>
              <a:t>Some people will see this and consider this app Synthetica will replace Ahmad; instead, it will give him the “ability" he was missing, allowing him to regain control over the integrity of his work.</a:t>
            </a:r>
          </a:p>
        </p:txBody>
      </p:sp>
      <p:sp>
        <p:nvSpPr>
          <p:cNvPr id="2" name="Google Shape;173;p18">
            <a:extLst>
              <a:ext uri="{FF2B5EF4-FFF2-40B4-BE49-F238E27FC236}">
                <a16:creationId xmlns:a16="http://schemas.microsoft.com/office/drawing/2014/main" id="{08530056-1948-42AC-94FF-4E1EA38B2893}"/>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4183856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2050" name="Picture 2">
            <a:extLst>
              <a:ext uri="{FF2B5EF4-FFF2-40B4-BE49-F238E27FC236}">
                <a16:creationId xmlns:a16="http://schemas.microsoft.com/office/drawing/2014/main" id="{AB8E5E71-78E1-FAAD-FC56-693F70AC66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1342" y="1890195"/>
            <a:ext cx="9525000" cy="4296116"/>
          </a:xfrm>
          <a:prstGeom prst="rect">
            <a:avLst/>
          </a:prstGeom>
          <a:noFill/>
          <a:extLst>
            <a:ext uri="{909E8E84-426E-40DD-AFC4-6F175D3DCCD1}">
              <a14:hiddenFill xmlns:a14="http://schemas.microsoft.com/office/drawing/2010/main">
                <a:solidFill>
                  <a:srgbClr val="FFFFFF"/>
                </a:solidFill>
              </a14:hiddenFill>
            </a:ext>
          </a:extLst>
        </p:spPr>
      </p:pic>
      <p:sp>
        <p:nvSpPr>
          <p:cNvPr id="128" name="Google Shape;128;p16"/>
          <p:cNvSpPr txBox="1"/>
          <p:nvPr/>
        </p:nvSpPr>
        <p:spPr>
          <a:xfrm>
            <a:off x="733425" y="554831"/>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Aims &amp; Objectives</a:t>
            </a:r>
            <a:endParaRPr lang="en-US" dirty="0"/>
          </a:p>
        </p:txBody>
      </p:sp>
      <p:sp>
        <p:nvSpPr>
          <p:cNvPr id="129" name="Google Shape;129;p16"/>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24DA3F4A-D2AD-C34B-2F23-E1CC1E65330F}"/>
              </a:ext>
            </a:extLst>
          </p:cNvPr>
          <p:cNvSpPr txBox="1"/>
          <p:nvPr/>
        </p:nvSpPr>
        <p:spPr>
          <a:xfrm>
            <a:off x="2905593" y="1609141"/>
            <a:ext cx="6096000" cy="4801314"/>
          </a:xfrm>
          <a:prstGeom prst="rect">
            <a:avLst/>
          </a:prstGeom>
          <a:noFill/>
        </p:spPr>
        <p:txBody>
          <a:bodyPr wrap="square">
            <a:spAutoFit/>
          </a:bodyPr>
          <a:lstStyle/>
          <a:p>
            <a:pPr>
              <a:buNone/>
            </a:pPr>
            <a:br>
              <a:rPr lang="en-US" sz="1800" b="0" dirty="0">
                <a:effectLst/>
              </a:rPr>
            </a:br>
            <a:endParaRPr lang="en-US" sz="1800" b="0" dirty="0">
              <a:effectLst/>
            </a:endParaRPr>
          </a:p>
          <a:p>
            <a:r>
              <a:rPr lang="en-US" sz="1800" b="1" dirty="0">
                <a:solidFill>
                  <a:srgbClr val="334155"/>
                </a:solidFill>
                <a:latin typeface="Inter"/>
              </a:rPr>
              <a:t>Performance:</a:t>
            </a:r>
            <a:r>
              <a:rPr lang="en-US" sz="1800" dirty="0">
                <a:solidFill>
                  <a:srgbClr val="334155"/>
                </a:solidFill>
                <a:latin typeface="Inter"/>
              </a:rPr>
              <a:t> Zero latency via localized inference.</a:t>
            </a:r>
            <a:br>
              <a:rPr lang="en-US" sz="1800" b="1" i="0" u="none" strike="noStrike" dirty="0">
                <a:solidFill>
                  <a:srgbClr val="334155"/>
                </a:solidFill>
                <a:effectLst/>
                <a:latin typeface="Inter"/>
              </a:rPr>
            </a:br>
            <a:br>
              <a:rPr lang="en-US" sz="1800" b="1" i="0" u="none" strike="noStrike" dirty="0">
                <a:solidFill>
                  <a:srgbClr val="334155"/>
                </a:solidFill>
                <a:effectLst/>
                <a:latin typeface="Inter"/>
              </a:rPr>
            </a:br>
            <a:br>
              <a:rPr lang="en-US" sz="1800" b="1" i="0" u="none" strike="noStrike" dirty="0">
                <a:solidFill>
                  <a:srgbClr val="334155"/>
                </a:solidFill>
                <a:effectLst/>
                <a:latin typeface="Inter"/>
              </a:rPr>
            </a:br>
            <a:r>
              <a:rPr lang="en-US" sz="1800" b="1" i="0" u="none" strike="noStrike" dirty="0">
                <a:solidFill>
                  <a:srgbClr val="334155"/>
                </a:solidFill>
                <a:effectLst/>
                <a:latin typeface="Inter"/>
              </a:rPr>
              <a:t>Detection:</a:t>
            </a:r>
            <a:r>
              <a:rPr lang="en-US" sz="1800" b="0" i="0" u="none" strike="noStrike" dirty="0">
                <a:solidFill>
                  <a:srgbClr val="334155"/>
                </a:solidFill>
                <a:effectLst/>
                <a:latin typeface="Inter"/>
              </a:rPr>
              <a:t> Achieve &gt;98% accuracy.</a:t>
            </a:r>
            <a:endParaRPr lang="en-US" sz="1800" b="0" dirty="0">
              <a:effectLst/>
            </a:endParaRPr>
          </a:p>
          <a:p>
            <a:pPr>
              <a:buNone/>
            </a:pPr>
            <a:br>
              <a:rPr lang="en-US" sz="1800" b="0" dirty="0">
                <a:effectLst/>
              </a:rPr>
            </a:br>
            <a:endParaRPr lang="en-US" sz="1800" b="0" dirty="0">
              <a:effectLst/>
            </a:endParaRPr>
          </a:p>
          <a:p>
            <a:pPr rtl="0">
              <a:buNone/>
            </a:pPr>
            <a:r>
              <a:rPr lang="en-US" sz="1800" b="1" i="0" u="none" strike="noStrike" dirty="0">
                <a:solidFill>
                  <a:srgbClr val="334155"/>
                </a:solidFill>
                <a:effectLst/>
                <a:latin typeface="Inter"/>
              </a:rPr>
              <a:t>Pipeline:</a:t>
            </a:r>
            <a:r>
              <a:rPr lang="en-US" sz="1800" b="0" i="0" u="none" strike="noStrike" dirty="0">
                <a:solidFill>
                  <a:srgbClr val="334155"/>
                </a:solidFill>
                <a:effectLst/>
                <a:latin typeface="Inter"/>
              </a:rPr>
              <a:t> Implement a Double-Tier system for result reliability</a:t>
            </a:r>
            <a:endParaRPr lang="en-US" sz="1800" b="0" dirty="0">
              <a:effectLst/>
            </a:endParaRPr>
          </a:p>
          <a:p>
            <a:pPr>
              <a:buNone/>
            </a:pPr>
            <a:br>
              <a:rPr lang="en-US" sz="1800" b="0" dirty="0">
                <a:effectLst/>
              </a:rPr>
            </a:br>
            <a:endParaRPr lang="en-US" sz="1800" b="0" dirty="0">
              <a:effectLst/>
            </a:endParaRPr>
          </a:p>
          <a:p>
            <a:pPr rtl="0">
              <a:buNone/>
            </a:pPr>
            <a:r>
              <a:rPr lang="en-US" sz="1800" b="1" i="0" u="none" strike="noStrike" dirty="0">
                <a:solidFill>
                  <a:srgbClr val="334155"/>
                </a:solidFill>
                <a:effectLst/>
                <a:latin typeface="Inter"/>
              </a:rPr>
              <a:t>Explainability:</a:t>
            </a:r>
            <a:r>
              <a:rPr lang="en-US" sz="1800" b="0" i="0" u="none" strike="noStrike" dirty="0">
                <a:solidFill>
                  <a:srgbClr val="334155"/>
                </a:solidFill>
                <a:effectLst/>
                <a:latin typeface="Inter"/>
              </a:rPr>
              <a:t> Generate Grad-CAM visual heatmaps.</a:t>
            </a:r>
            <a:endParaRPr lang="en-US" sz="1800" b="0" dirty="0">
              <a:effectLst/>
            </a:endParaRPr>
          </a:p>
          <a:p>
            <a:pPr>
              <a:buNone/>
            </a:pPr>
            <a:br>
              <a:rPr lang="en-US" sz="1800" b="0" dirty="0">
                <a:effectLst/>
              </a:rPr>
            </a:br>
            <a:endParaRPr lang="en-US" sz="1800" b="0" dirty="0">
              <a:effectLst/>
            </a:endParaRPr>
          </a:p>
          <a:p>
            <a:pPr rtl="0">
              <a:buNone/>
            </a:pPr>
            <a:r>
              <a:rPr lang="en-US" sz="1800" b="1" i="0" u="none" strike="noStrike" dirty="0">
                <a:solidFill>
                  <a:srgbClr val="334155"/>
                </a:solidFill>
                <a:effectLst/>
                <a:latin typeface="Inter"/>
              </a:rPr>
              <a:t>Persistence:</a:t>
            </a:r>
            <a:r>
              <a:rPr lang="en-US" sz="1800" b="0" i="0" u="none" strike="noStrike" dirty="0">
                <a:solidFill>
                  <a:srgbClr val="334155"/>
                </a:solidFill>
                <a:effectLst/>
                <a:latin typeface="Inter"/>
              </a:rPr>
              <a:t> Cloud-based forensic audit logs.</a:t>
            </a:r>
            <a:endParaRPr lang="en-US" sz="1800" b="0" dirty="0">
              <a:effectLst/>
            </a:endParaRPr>
          </a:p>
          <a:p>
            <a:pPr>
              <a:buNone/>
            </a:pPr>
            <a:br>
              <a:rPr lang="en-US" sz="1800" dirty="0"/>
            </a:br>
            <a:endParaRPr lang="en-PK" sz="1800" dirty="0"/>
          </a:p>
        </p:txBody>
      </p:sp>
      <p:sp>
        <p:nvSpPr>
          <p:cNvPr id="5" name="TextBox 4">
            <a:extLst>
              <a:ext uri="{FF2B5EF4-FFF2-40B4-BE49-F238E27FC236}">
                <a16:creationId xmlns:a16="http://schemas.microsoft.com/office/drawing/2014/main" id="{D98BD527-3A90-3997-8CA4-362F9FBCB51F}"/>
              </a:ext>
            </a:extLst>
          </p:cNvPr>
          <p:cNvSpPr txBox="1"/>
          <p:nvPr/>
        </p:nvSpPr>
        <p:spPr>
          <a:xfrm>
            <a:off x="3048000" y="3277934"/>
            <a:ext cx="6096000" cy="307777"/>
          </a:xfrm>
          <a:prstGeom prst="rect">
            <a:avLst/>
          </a:prstGeom>
          <a:noFill/>
        </p:spPr>
        <p:txBody>
          <a:bodyPr wrap="square">
            <a:spAutoFit/>
          </a:bodyPr>
          <a:lstStyle/>
          <a:p>
            <a:r>
              <a:rPr lang="en-PK" b="0" dirty="0">
                <a:effectLst/>
              </a:rPr>
              <a:t> </a:t>
            </a:r>
            <a:endParaRPr lang="en-PK" dirty="0"/>
          </a:p>
        </p:txBody>
      </p:sp>
      <p:pic>
        <p:nvPicPr>
          <p:cNvPr id="2052" name="Picture 4">
            <a:extLst>
              <a:ext uri="{FF2B5EF4-FFF2-40B4-BE49-F238E27FC236}">
                <a16:creationId xmlns:a16="http://schemas.microsoft.com/office/drawing/2014/main" id="{052EC9A1-94FF-9279-D6F2-8864BBF163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979" y="2213102"/>
            <a:ext cx="284101" cy="30777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BEF307A8-09A1-33B4-8451-9EF1125C6A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5979" y="2999261"/>
            <a:ext cx="319614" cy="30777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80989260-485F-2F43-F6A1-7E2C7B27D5D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8343" y="3824305"/>
            <a:ext cx="319614" cy="30777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1EE94BE1-E144-3DF8-DEF4-F32798718C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8343" y="4630471"/>
            <a:ext cx="301857" cy="343522"/>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8241C320-8342-68BD-DE71-E78F85A114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0587" y="5433626"/>
            <a:ext cx="319613" cy="27699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69A8B52-FEAE-C0B4-5F97-351436CAA641}"/>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pic>
        <p:nvPicPr>
          <p:cNvPr id="127" name="Google Shape;127;p16" descr="image.png"/>
          <p:cNvPicPr preferRelativeResize="0"/>
          <p:nvPr/>
        </p:nvPicPr>
        <p:blipFill rotWithShape="1">
          <a:blip r:embed="rId3">
            <a:alphaModFix/>
          </a:blip>
          <a:srcRect/>
          <a:stretch/>
        </p:blipFill>
        <p:spPr>
          <a:xfrm>
            <a:off x="95693" y="0"/>
            <a:ext cx="12192000" cy="6858000"/>
          </a:xfrm>
          <a:prstGeom prst="rect">
            <a:avLst/>
          </a:prstGeom>
          <a:noFill/>
          <a:ln>
            <a:noFill/>
          </a:ln>
        </p:spPr>
      </p:pic>
      <p:sp>
        <p:nvSpPr>
          <p:cNvPr id="128" name="Google Shape;128;p16"/>
          <p:cNvSpPr txBox="1"/>
          <p:nvPr/>
        </p:nvSpPr>
        <p:spPr>
          <a:xfrm>
            <a:off x="733425" y="554831"/>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Aims &amp; Objectives</a:t>
            </a:r>
            <a:endParaRPr lang="en-US" dirty="0"/>
          </a:p>
        </p:txBody>
      </p:sp>
      <p:sp>
        <p:nvSpPr>
          <p:cNvPr id="129" name="Google Shape;129;p16"/>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6"/>
          <p:cNvSpPr txBox="1"/>
          <p:nvPr/>
        </p:nvSpPr>
        <p:spPr>
          <a:xfrm>
            <a:off x="604179" y="4009251"/>
            <a:ext cx="10432415" cy="646331"/>
          </a:xfrm>
          <a:prstGeom prst="rect">
            <a:avLst/>
          </a:prstGeom>
          <a:noFill/>
          <a:ln>
            <a:noFill/>
          </a:ln>
        </p:spPr>
        <p:txBody>
          <a:bodyPr spcFirstLastPara="1" wrap="square" lIns="0" tIns="0" rIns="0" bIns="0" anchor="t" anchorCtr="0">
            <a:spAutoFit/>
          </a:bodyPr>
          <a:lstStyle/>
          <a:p>
            <a:pPr lvl="0">
              <a:lnSpc>
                <a:spcPct val="150000"/>
              </a:lnSpc>
            </a:pPr>
            <a:r>
              <a:rPr lang="en-US" sz="2800" b="1" i="0" u="none" strike="noStrike" cap="none" dirty="0">
                <a:solidFill>
                  <a:srgbClr val="1E3A8A"/>
                </a:solidFill>
                <a:latin typeface="Lato"/>
                <a:ea typeface="Lato"/>
                <a:cs typeface="Lato"/>
                <a:sym typeface="Lato"/>
              </a:rPr>
              <a:t>Detection</a:t>
            </a:r>
            <a:r>
              <a:rPr lang="en-US" sz="2800" b="0" i="0" u="none" strike="noStrike" cap="none" dirty="0">
                <a:solidFill>
                  <a:schemeClr val="tx1"/>
                </a:solidFill>
                <a:latin typeface="Lato"/>
                <a:ea typeface="Lato"/>
                <a:cs typeface="Lato"/>
                <a:sym typeface="Lato"/>
              </a:rPr>
              <a:t> Achieving </a:t>
            </a:r>
            <a:r>
              <a:rPr lang="en-US" sz="2800" dirty="0">
                <a:solidFill>
                  <a:schemeClr val="tx1"/>
                </a:solidFill>
                <a:latin typeface="Lato"/>
                <a:ea typeface="Lato"/>
                <a:cs typeface="Lato"/>
                <a:sym typeface="Lato"/>
              </a:rPr>
              <a:t>accuracy more than </a:t>
            </a:r>
            <a:r>
              <a:rPr lang="en-US" sz="2800" b="0" i="0" u="none" strike="noStrike" cap="none" dirty="0">
                <a:solidFill>
                  <a:schemeClr val="tx1"/>
                </a:solidFill>
                <a:latin typeface="Lato"/>
                <a:ea typeface="Lato"/>
                <a:cs typeface="Lato"/>
                <a:sym typeface="Lato"/>
              </a:rPr>
              <a:t>98%</a:t>
            </a:r>
            <a:endParaRPr sz="2800" dirty="0">
              <a:solidFill>
                <a:schemeClr val="tx1"/>
              </a:solidFill>
            </a:endParaRPr>
          </a:p>
        </p:txBody>
      </p:sp>
      <p:sp>
        <p:nvSpPr>
          <p:cNvPr id="131" name="Google Shape;131;p16"/>
          <p:cNvSpPr txBox="1"/>
          <p:nvPr/>
        </p:nvSpPr>
        <p:spPr>
          <a:xfrm>
            <a:off x="514726" y="5018127"/>
            <a:ext cx="10915273" cy="110799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dirty="0">
                <a:solidFill>
                  <a:srgbClr val="1E3A8A"/>
                </a:solidFill>
                <a:latin typeface="Poppins" panose="00000500000000000000" pitchFamily="2" charset="0"/>
                <a:ea typeface="Lato"/>
                <a:cs typeface="Poppins" panose="00000500000000000000" pitchFamily="2" charset="0"/>
                <a:sym typeface="Lato"/>
              </a:rPr>
              <a:t>Next is Pipeline which means</a:t>
            </a:r>
            <a:r>
              <a:rPr lang="en-US" sz="2400" b="0" i="0" u="none" strike="noStrike" cap="none" dirty="0">
                <a:solidFill>
                  <a:srgbClr val="334155"/>
                </a:solidFill>
                <a:latin typeface="Poppins" panose="00000500000000000000" pitchFamily="2" charset="0"/>
                <a:ea typeface="Lato"/>
                <a:cs typeface="Poppins" panose="00000500000000000000" pitchFamily="2" charset="0"/>
                <a:sym typeface="Lato"/>
              </a:rPr>
              <a:t> </a:t>
            </a:r>
            <a:r>
              <a:rPr lang="en-US" sz="2400" b="0" i="0" u="none" strike="noStrike" cap="none" dirty="0">
                <a:solidFill>
                  <a:schemeClr val="tx1"/>
                </a:solidFill>
                <a:latin typeface="Lato"/>
                <a:ea typeface="Lato"/>
                <a:cs typeface="Lato"/>
                <a:sym typeface="Lato"/>
              </a:rPr>
              <a:t>Implementing multiple models and pipelines to countercheck image for the best answer</a:t>
            </a:r>
            <a:endParaRPr sz="2400" dirty="0">
              <a:solidFill>
                <a:schemeClr val="tx1"/>
              </a:solidFill>
            </a:endParaRPr>
          </a:p>
        </p:txBody>
      </p:sp>
      <p:sp>
        <p:nvSpPr>
          <p:cNvPr id="134" name="Google Shape;134;p16"/>
          <p:cNvSpPr txBox="1"/>
          <p:nvPr/>
        </p:nvSpPr>
        <p:spPr>
          <a:xfrm>
            <a:off x="733425" y="1455300"/>
            <a:ext cx="10668000" cy="221599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dirty="0">
                <a:solidFill>
                  <a:srgbClr val="1E3A8A"/>
                </a:solidFill>
                <a:latin typeface="Poppins" panose="00000500000000000000" pitchFamily="2" charset="0"/>
                <a:ea typeface="Lato"/>
                <a:cs typeface="Poppins" panose="00000500000000000000" pitchFamily="2" charset="0"/>
                <a:sym typeface="Lato"/>
              </a:rPr>
              <a:t>Our main aim and objective before creating this site was</a:t>
            </a:r>
            <a:br>
              <a:rPr lang="en-US" sz="2400" b="1" i="0" u="none" strike="noStrike" cap="none" dirty="0">
                <a:solidFill>
                  <a:srgbClr val="1E3A8A"/>
                </a:solidFill>
                <a:latin typeface="Poppins" panose="00000500000000000000" pitchFamily="2" charset="0"/>
                <a:ea typeface="Lato"/>
                <a:cs typeface="Poppins" panose="00000500000000000000" pitchFamily="2" charset="0"/>
                <a:sym typeface="Lato"/>
              </a:rPr>
            </a:br>
            <a:br>
              <a:rPr lang="en-US" sz="2400" b="1" i="0" u="none" strike="noStrike" cap="none" dirty="0">
                <a:solidFill>
                  <a:srgbClr val="1E3A8A"/>
                </a:solidFill>
                <a:latin typeface="Poppins" panose="00000500000000000000" pitchFamily="2" charset="0"/>
                <a:ea typeface="Lato"/>
                <a:cs typeface="Poppins" panose="00000500000000000000" pitchFamily="2" charset="0"/>
                <a:sym typeface="Lato"/>
              </a:rPr>
            </a:br>
            <a:r>
              <a:rPr lang="en-US" sz="2400" b="1" i="0" u="none" strike="noStrike" cap="none" dirty="0">
                <a:solidFill>
                  <a:srgbClr val="1E3A8A"/>
                </a:solidFill>
                <a:latin typeface="Poppins" panose="00000500000000000000" pitchFamily="2" charset="0"/>
                <a:ea typeface="Lato"/>
                <a:cs typeface="Poppins" panose="00000500000000000000" pitchFamily="2" charset="0"/>
                <a:sym typeface="Lato"/>
              </a:rPr>
              <a:t> Performance</a:t>
            </a:r>
            <a:r>
              <a:rPr lang="en-US" sz="2400" b="1" i="0" u="none" strike="noStrike" cap="none" dirty="0">
                <a:solidFill>
                  <a:schemeClr val="tx1"/>
                </a:solidFill>
                <a:latin typeface="Poppins" panose="00000500000000000000" pitchFamily="2" charset="0"/>
                <a:ea typeface="Lato"/>
                <a:cs typeface="Poppins" panose="00000500000000000000" pitchFamily="2" charset="0"/>
                <a:sym typeface="Lato"/>
              </a:rPr>
              <a:t>  </a:t>
            </a:r>
            <a:r>
              <a:rPr lang="en-US" sz="2400" i="0" u="none" strike="noStrike" cap="none" dirty="0">
                <a:solidFill>
                  <a:schemeClr val="tx1"/>
                </a:solidFill>
                <a:latin typeface="Poppins" panose="00000500000000000000" pitchFamily="2" charset="0"/>
                <a:ea typeface="Lato"/>
                <a:cs typeface="Poppins" panose="00000500000000000000" pitchFamily="2" charset="0"/>
                <a:sym typeface="Lato"/>
              </a:rPr>
              <a:t>meaning using locally installed models so user can access answer without his much time wasted</a:t>
            </a:r>
            <a:endParaRPr sz="2400" dirty="0">
              <a:solidFill>
                <a:schemeClr val="tx1"/>
              </a:solidFill>
            </a:endParaRPr>
          </a:p>
        </p:txBody>
      </p:sp>
      <p:sp>
        <p:nvSpPr>
          <p:cNvPr id="2" name="Google Shape;173;p18">
            <a:extLst>
              <a:ext uri="{FF2B5EF4-FFF2-40B4-BE49-F238E27FC236}">
                <a16:creationId xmlns:a16="http://schemas.microsoft.com/office/drawing/2014/main" id="{216FC8BB-71DD-2E33-3F7D-53D92D25C35A}"/>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a:extLst>
            <a:ext uri="{FF2B5EF4-FFF2-40B4-BE49-F238E27FC236}">
              <a16:creationId xmlns:a16="http://schemas.microsoft.com/office/drawing/2014/main" id="{D13A2353-CF23-7981-90C8-2DDA10BB2346}"/>
            </a:ext>
          </a:extLst>
        </p:cNvPr>
        <p:cNvGrpSpPr/>
        <p:nvPr/>
      </p:nvGrpSpPr>
      <p:grpSpPr>
        <a:xfrm>
          <a:off x="0" y="0"/>
          <a:ext cx="0" cy="0"/>
          <a:chOff x="0" y="0"/>
          <a:chExt cx="0" cy="0"/>
        </a:xfrm>
      </p:grpSpPr>
      <p:pic>
        <p:nvPicPr>
          <p:cNvPr id="127" name="Google Shape;127;p16" descr="image.png">
            <a:extLst>
              <a:ext uri="{FF2B5EF4-FFF2-40B4-BE49-F238E27FC236}">
                <a16:creationId xmlns:a16="http://schemas.microsoft.com/office/drawing/2014/main" id="{BABE8C12-0A39-6012-32C6-7C24903063E1}"/>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8" name="Google Shape;128;p16">
            <a:extLst>
              <a:ext uri="{FF2B5EF4-FFF2-40B4-BE49-F238E27FC236}">
                <a16:creationId xmlns:a16="http://schemas.microsoft.com/office/drawing/2014/main" id="{855D786B-9DFF-C7E5-A25C-733FF6DF6040}"/>
              </a:ext>
            </a:extLst>
          </p:cNvPr>
          <p:cNvSpPr txBox="1"/>
          <p:nvPr/>
        </p:nvSpPr>
        <p:spPr>
          <a:xfrm>
            <a:off x="733425" y="554831"/>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Aims &amp; Objectives</a:t>
            </a:r>
            <a:endParaRPr lang="en-US" dirty="0"/>
          </a:p>
        </p:txBody>
      </p:sp>
      <p:sp>
        <p:nvSpPr>
          <p:cNvPr id="129" name="Google Shape;129;p16">
            <a:extLst>
              <a:ext uri="{FF2B5EF4-FFF2-40B4-BE49-F238E27FC236}">
                <a16:creationId xmlns:a16="http://schemas.microsoft.com/office/drawing/2014/main" id="{E4A9B5D7-DC3D-F7F3-2251-C63D47862A0A}"/>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6">
            <a:extLst>
              <a:ext uri="{FF2B5EF4-FFF2-40B4-BE49-F238E27FC236}">
                <a16:creationId xmlns:a16="http://schemas.microsoft.com/office/drawing/2014/main" id="{91663816-A323-51BC-CE69-26570D2CC6B5}"/>
              </a:ext>
            </a:extLst>
          </p:cNvPr>
          <p:cNvSpPr txBox="1"/>
          <p:nvPr/>
        </p:nvSpPr>
        <p:spPr>
          <a:xfrm>
            <a:off x="514727" y="2272010"/>
            <a:ext cx="10915273" cy="110799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dirty="0">
                <a:solidFill>
                  <a:srgbClr val="1E3A8A"/>
                </a:solidFill>
                <a:latin typeface="Poppins" panose="00000500000000000000" pitchFamily="2" charset="0"/>
                <a:ea typeface="Lato"/>
                <a:cs typeface="Poppins" panose="00000500000000000000" pitchFamily="2" charset="0"/>
                <a:sym typeface="Lato"/>
              </a:rPr>
              <a:t>Explainability</a:t>
            </a:r>
            <a:r>
              <a:rPr lang="en-US" sz="2400" b="1" dirty="0">
                <a:solidFill>
                  <a:srgbClr val="1E3A8A"/>
                </a:solidFill>
                <a:latin typeface="Poppins" panose="00000500000000000000" pitchFamily="2" charset="0"/>
                <a:ea typeface="Lato"/>
                <a:cs typeface="Poppins" panose="00000500000000000000" pitchFamily="2" charset="0"/>
                <a:sym typeface="Lato"/>
              </a:rPr>
              <a:t> meaning </a:t>
            </a:r>
            <a:r>
              <a:rPr lang="en-US" sz="2400" b="0" i="0" u="none" strike="noStrike" cap="none" dirty="0">
                <a:solidFill>
                  <a:schemeClr val="tx1"/>
                </a:solidFill>
                <a:latin typeface="Lato"/>
                <a:ea typeface="Lato"/>
                <a:cs typeface="Lato"/>
                <a:sym typeface="Lato"/>
              </a:rPr>
              <a:t>Utilizing </a:t>
            </a:r>
            <a:r>
              <a:rPr lang="en-US" sz="2400" dirty="0">
                <a:solidFill>
                  <a:schemeClr val="tx1"/>
                </a:solidFill>
                <a:latin typeface="Lato"/>
                <a:ea typeface="Lato"/>
                <a:cs typeface="Lato"/>
                <a:sym typeface="Lato"/>
              </a:rPr>
              <a:t>heatmap technology</a:t>
            </a:r>
            <a:r>
              <a:rPr lang="en-US" sz="2400" b="0" i="0" u="none" strike="noStrike" cap="none" dirty="0">
                <a:solidFill>
                  <a:schemeClr val="tx1"/>
                </a:solidFill>
                <a:latin typeface="Lato"/>
                <a:ea typeface="Lato"/>
                <a:cs typeface="Lato"/>
                <a:sym typeface="Lato"/>
              </a:rPr>
              <a:t> to highlight exactly where the AI detects fake artifacts</a:t>
            </a:r>
            <a:endParaRPr sz="2400" dirty="0">
              <a:solidFill>
                <a:schemeClr val="tx1"/>
              </a:solidFill>
            </a:endParaRPr>
          </a:p>
        </p:txBody>
      </p:sp>
      <p:sp>
        <p:nvSpPr>
          <p:cNvPr id="135" name="Google Shape;135;p16">
            <a:extLst>
              <a:ext uri="{FF2B5EF4-FFF2-40B4-BE49-F238E27FC236}">
                <a16:creationId xmlns:a16="http://schemas.microsoft.com/office/drawing/2014/main" id="{93CFC7F8-A6B5-51ED-D8A8-1E42F482324A}"/>
              </a:ext>
            </a:extLst>
          </p:cNvPr>
          <p:cNvSpPr txBox="1"/>
          <p:nvPr/>
        </p:nvSpPr>
        <p:spPr>
          <a:xfrm>
            <a:off x="443629" y="4152900"/>
            <a:ext cx="11201401" cy="110799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dirty="0">
                <a:solidFill>
                  <a:srgbClr val="1E3A8A"/>
                </a:solidFill>
                <a:latin typeface="Poppins" panose="00000500000000000000" pitchFamily="2" charset="0"/>
                <a:ea typeface="Lato"/>
                <a:cs typeface="Poppins" panose="00000500000000000000" pitchFamily="2" charset="0"/>
                <a:sym typeface="Lato"/>
              </a:rPr>
              <a:t>Persistence is to</a:t>
            </a:r>
            <a:r>
              <a:rPr lang="en-US" sz="2400" b="0" i="0" u="none" strike="noStrike" cap="none" dirty="0">
                <a:solidFill>
                  <a:srgbClr val="334155"/>
                </a:solidFill>
                <a:latin typeface="Poppins" panose="00000500000000000000" pitchFamily="2" charset="0"/>
                <a:ea typeface="Lato"/>
                <a:cs typeface="Poppins" panose="00000500000000000000" pitchFamily="2" charset="0"/>
                <a:sym typeface="Lato"/>
              </a:rPr>
              <a:t> </a:t>
            </a:r>
            <a:r>
              <a:rPr lang="en-US" sz="2400" b="0" i="0" u="none" strike="noStrike" cap="none" dirty="0">
                <a:solidFill>
                  <a:schemeClr val="tx1"/>
                </a:solidFill>
                <a:latin typeface="Lato"/>
                <a:ea typeface="Lato"/>
                <a:cs typeface="Lato"/>
                <a:sym typeface="Lato"/>
              </a:rPr>
              <a:t>Design a robust cloud system to store forensic audit logs, image results and timestamps.</a:t>
            </a:r>
            <a:endParaRPr sz="2400" dirty="0">
              <a:solidFill>
                <a:schemeClr val="tx1"/>
              </a:solidFill>
            </a:endParaRPr>
          </a:p>
        </p:txBody>
      </p:sp>
      <p:sp>
        <p:nvSpPr>
          <p:cNvPr id="2" name="Google Shape;173;p18">
            <a:extLst>
              <a:ext uri="{FF2B5EF4-FFF2-40B4-BE49-F238E27FC236}">
                <a16:creationId xmlns:a16="http://schemas.microsoft.com/office/drawing/2014/main" id="{1A9401EB-9251-6C5A-AF26-90E96B5D1A32}"/>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2828044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7" name="Google Shape;147;p17" descr="image.png"/>
          <p:cNvPicPr preferRelativeResize="0"/>
          <p:nvPr/>
        </p:nvPicPr>
        <p:blipFill rotWithShape="1">
          <a:blip r:embed="rId3">
            <a:alphaModFix/>
          </a:blip>
          <a:srcRect/>
          <a:stretch/>
        </p:blipFill>
        <p:spPr>
          <a:xfrm>
            <a:off x="761999" y="1506350"/>
            <a:ext cx="10139463" cy="1530406"/>
          </a:xfrm>
          <a:prstGeom prst="rect">
            <a:avLst/>
          </a:prstGeom>
          <a:noFill/>
          <a:ln>
            <a:noFill/>
          </a:ln>
        </p:spPr>
      </p:pic>
      <p:pic>
        <p:nvPicPr>
          <p:cNvPr id="148" name="Google Shape;148;p17" descr="image.png"/>
          <p:cNvPicPr preferRelativeResize="0"/>
          <p:nvPr/>
        </p:nvPicPr>
        <p:blipFill rotWithShape="1">
          <a:blip r:embed="rId3">
            <a:alphaModFix/>
          </a:blip>
          <a:srcRect/>
          <a:stretch/>
        </p:blipFill>
        <p:spPr>
          <a:xfrm>
            <a:off x="762000" y="3216683"/>
            <a:ext cx="10139462" cy="1530406"/>
          </a:xfrm>
          <a:prstGeom prst="rect">
            <a:avLst/>
          </a:prstGeom>
          <a:noFill/>
          <a:ln>
            <a:noFill/>
          </a:ln>
        </p:spPr>
      </p:pic>
      <p:pic>
        <p:nvPicPr>
          <p:cNvPr id="149" name="Google Shape;149;p17" descr="image.png"/>
          <p:cNvPicPr preferRelativeResize="0"/>
          <p:nvPr/>
        </p:nvPicPr>
        <p:blipFill rotWithShape="1">
          <a:blip r:embed="rId4">
            <a:alphaModFix/>
          </a:blip>
          <a:srcRect/>
          <a:stretch/>
        </p:blipFill>
        <p:spPr>
          <a:xfrm>
            <a:off x="742676" y="4956683"/>
            <a:ext cx="10118785" cy="1530405"/>
          </a:xfrm>
          <a:prstGeom prst="rect">
            <a:avLst/>
          </a:prstGeom>
          <a:noFill/>
          <a:ln>
            <a:noFill/>
          </a:ln>
        </p:spPr>
      </p:pic>
      <p:sp>
        <p:nvSpPr>
          <p:cNvPr id="150" name="Google Shape;150;p17"/>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Key Features</a:t>
            </a:r>
            <a:endParaRPr dirty="0"/>
          </a:p>
        </p:txBody>
      </p:sp>
      <p:sp>
        <p:nvSpPr>
          <p:cNvPr id="151" name="Google Shape;151;p17"/>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7"/>
          <p:cNvSpPr txBox="1"/>
          <p:nvPr/>
        </p:nvSpPr>
        <p:spPr>
          <a:xfrm>
            <a:off x="1057274" y="1776843"/>
            <a:ext cx="9434162" cy="230832"/>
          </a:xfrm>
          <a:prstGeom prst="rect">
            <a:avLst/>
          </a:prstGeom>
          <a:noFill/>
          <a:ln>
            <a:noFill/>
          </a:ln>
        </p:spPr>
        <p:txBody>
          <a:bodyPr spcFirstLastPara="1" wrap="square" lIns="285750" tIns="0" rIns="0" bIns="0" anchor="t" anchorCtr="0">
            <a:spAutoFit/>
          </a:bodyPr>
          <a:lstStyle/>
          <a:p>
            <a:pPr lvl="0"/>
            <a:r>
              <a:rPr lang="en-US" sz="1500" b="1" dirty="0">
                <a:solidFill>
                  <a:srgbClr val="1E3A8A"/>
                </a:solidFill>
                <a:latin typeface="Poppins" panose="00000500000000000000" pitchFamily="2" charset="0"/>
                <a:cs typeface="Poppins" panose="00000500000000000000" pitchFamily="2" charset="0"/>
              </a:rPr>
              <a:t>Beyond the "Black Box" (Explainable AI)</a:t>
            </a:r>
            <a:endParaRPr sz="1500" dirty="0">
              <a:solidFill>
                <a:srgbClr val="1E3A8A"/>
              </a:solidFill>
              <a:latin typeface="Poppins" panose="00000500000000000000" pitchFamily="2" charset="0"/>
              <a:cs typeface="Poppins" panose="00000500000000000000" pitchFamily="2" charset="0"/>
            </a:endParaRPr>
          </a:p>
        </p:txBody>
      </p:sp>
      <p:sp>
        <p:nvSpPr>
          <p:cNvPr id="153" name="Google Shape;153;p17"/>
          <p:cNvSpPr txBox="1"/>
          <p:nvPr/>
        </p:nvSpPr>
        <p:spPr>
          <a:xfrm>
            <a:off x="1123197" y="2134665"/>
            <a:ext cx="9482992" cy="784830"/>
          </a:xfrm>
          <a:prstGeom prst="rect">
            <a:avLst/>
          </a:prstGeom>
          <a:noFill/>
          <a:ln>
            <a:noFill/>
          </a:ln>
        </p:spPr>
        <p:txBody>
          <a:bodyPr spcFirstLastPara="1" wrap="square" lIns="0" tIns="0" rIns="0" bIns="0" anchor="t" anchorCtr="0">
            <a:spAutoFit/>
          </a:bodyPr>
          <a:lstStyle/>
          <a:p>
            <a:pPr lvl="0">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Moves </a:t>
            </a:r>
            <a:r>
              <a:rPr lang="en-US" sz="1800" dirty="0">
                <a:latin typeface="Lato" panose="020F0502020204030203" pitchFamily="34" charset="0"/>
                <a:ea typeface="Lato" panose="020F0502020204030203" pitchFamily="34" charset="0"/>
                <a:cs typeface="Lato" panose="020F0502020204030203" pitchFamily="34" charset="0"/>
              </a:rPr>
              <a:t>beyond</a:t>
            </a:r>
            <a:r>
              <a:rPr lang="en-US" sz="1600" dirty="0">
                <a:latin typeface="Lato" panose="020F0502020204030203" pitchFamily="34" charset="0"/>
                <a:ea typeface="Lato" panose="020F0502020204030203" pitchFamily="34" charset="0"/>
                <a:cs typeface="Lato" panose="020F0502020204030203" pitchFamily="34" charset="0"/>
              </a:rPr>
              <a:t> binary detection by providing visual Grad-CAM heatmaps and easy to understand graphs to explicitly prove where and how an image was manipulated.</a:t>
            </a:r>
            <a:endParaRPr sz="1600" dirty="0">
              <a:latin typeface="Lato" panose="020F0502020204030203" pitchFamily="34" charset="0"/>
              <a:ea typeface="Lato" panose="020F0502020204030203" pitchFamily="34" charset="0"/>
              <a:cs typeface="Lato" panose="020F0502020204030203" pitchFamily="34" charset="0"/>
            </a:endParaRPr>
          </a:p>
        </p:txBody>
      </p:sp>
      <p:sp>
        <p:nvSpPr>
          <p:cNvPr id="154" name="Google Shape;154;p17"/>
          <p:cNvSpPr txBox="1"/>
          <p:nvPr/>
        </p:nvSpPr>
        <p:spPr>
          <a:xfrm>
            <a:off x="1017272" y="3451332"/>
            <a:ext cx="9844189" cy="230832"/>
          </a:xfrm>
          <a:prstGeom prst="rect">
            <a:avLst/>
          </a:prstGeom>
          <a:noFill/>
          <a:ln>
            <a:noFill/>
          </a:ln>
        </p:spPr>
        <p:txBody>
          <a:bodyPr spcFirstLastPara="1" wrap="square" lIns="333375" tIns="0" rIns="0" bIns="0" anchor="t" anchorCtr="0">
            <a:spAutoFit/>
          </a:bodyPr>
          <a:lstStyle/>
          <a:p>
            <a:pPr lvl="0"/>
            <a:r>
              <a:rPr lang="en-US" sz="1500" b="1" dirty="0">
                <a:solidFill>
                  <a:srgbClr val="1E3A8A"/>
                </a:solidFill>
                <a:latin typeface="Poppins" panose="00000500000000000000" pitchFamily="2" charset="0"/>
                <a:cs typeface="Poppins" panose="00000500000000000000" pitchFamily="2" charset="0"/>
              </a:rPr>
              <a:t>Sovereign Balanced Ensemble (SBE)</a:t>
            </a:r>
            <a:endParaRPr sz="1500" dirty="0">
              <a:solidFill>
                <a:srgbClr val="1E3A8A"/>
              </a:solidFill>
              <a:latin typeface="Poppins" panose="00000500000000000000" pitchFamily="2" charset="0"/>
              <a:cs typeface="Poppins" panose="00000500000000000000" pitchFamily="2" charset="0"/>
            </a:endParaRPr>
          </a:p>
        </p:txBody>
      </p:sp>
      <p:sp>
        <p:nvSpPr>
          <p:cNvPr id="155" name="Google Shape;155;p17"/>
          <p:cNvSpPr txBox="1"/>
          <p:nvPr/>
        </p:nvSpPr>
        <p:spPr>
          <a:xfrm>
            <a:off x="1057275" y="3810670"/>
            <a:ext cx="9548914" cy="738664"/>
          </a:xfrm>
          <a:prstGeom prst="rect">
            <a:avLst/>
          </a:prstGeom>
          <a:noFill/>
          <a:ln>
            <a:noFill/>
          </a:ln>
        </p:spPr>
        <p:txBody>
          <a:bodyPr spcFirstLastPara="1" wrap="square" lIns="0" tIns="0" rIns="0" bIns="0" anchor="t" anchorCtr="0">
            <a:spAutoFit/>
          </a:bodyPr>
          <a:lstStyle/>
          <a:p>
            <a:pPr lvl="0">
              <a:lnSpc>
                <a:spcPct val="150000"/>
              </a:lnSpc>
            </a:pPr>
            <a:r>
              <a:rPr lang="en-US" sz="1600" dirty="0">
                <a:latin typeface="Lato" panose="020F0502020204030203" pitchFamily="34" charset="0"/>
                <a:ea typeface="Lato" panose="020F0502020204030203" pitchFamily="34" charset="0"/>
                <a:cs typeface="Lato" panose="020F0502020204030203" pitchFamily="34" charset="0"/>
              </a:rPr>
              <a:t>Calculates a highly robust final verdict using a refined mathematical formula combining the models and different libraries</a:t>
            </a:r>
            <a:endParaRPr sz="1600" dirty="0">
              <a:latin typeface="Lato" panose="020F0502020204030203" pitchFamily="34" charset="0"/>
              <a:ea typeface="Lato" panose="020F0502020204030203" pitchFamily="34" charset="0"/>
              <a:cs typeface="Lato" panose="020F0502020204030203" pitchFamily="34" charset="0"/>
            </a:endParaRPr>
          </a:p>
        </p:txBody>
      </p:sp>
      <p:sp>
        <p:nvSpPr>
          <p:cNvPr id="156" name="Google Shape;156;p17"/>
          <p:cNvSpPr txBox="1"/>
          <p:nvPr/>
        </p:nvSpPr>
        <p:spPr>
          <a:xfrm>
            <a:off x="1097277" y="5196325"/>
            <a:ext cx="9764184" cy="230832"/>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sz="1500" b="1" i="0" u="none" strike="noStrike" cap="none" dirty="0">
                <a:solidFill>
                  <a:srgbClr val="1E3A8A"/>
                </a:solidFill>
                <a:latin typeface="Poppins"/>
                <a:ea typeface="Poppins"/>
                <a:cs typeface="Poppins"/>
                <a:sym typeface="Poppins"/>
              </a:rPr>
              <a:t>Cross-Platform Availability</a:t>
            </a:r>
            <a:endParaRPr dirty="0"/>
          </a:p>
        </p:txBody>
      </p:sp>
      <p:sp>
        <p:nvSpPr>
          <p:cNvPr id="157" name="Google Shape;157;p17"/>
          <p:cNvSpPr txBox="1"/>
          <p:nvPr/>
        </p:nvSpPr>
        <p:spPr>
          <a:xfrm>
            <a:off x="1114649" y="5531954"/>
            <a:ext cx="9299381" cy="73866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dirty="0">
                <a:solidFill>
                  <a:schemeClr val="tx1"/>
                </a:solidFill>
                <a:latin typeface="Lato"/>
                <a:ea typeface="Lato"/>
                <a:cs typeface="Lato"/>
                <a:sym typeface="Lato"/>
              </a:rPr>
              <a:t>Features a responsive web architecture ensuring full functionality across both high-end desktop workstations and Android mobile devices.</a:t>
            </a:r>
            <a:endParaRPr sz="1600" dirty="0">
              <a:solidFill>
                <a:schemeClr val="tx1"/>
              </a:solidFill>
            </a:endParaRPr>
          </a:p>
        </p:txBody>
      </p:sp>
      <p:pic>
        <p:nvPicPr>
          <p:cNvPr id="160" name="Google Shape;160;p17" descr="image.png"/>
          <p:cNvPicPr preferRelativeResize="0"/>
          <p:nvPr/>
        </p:nvPicPr>
        <p:blipFill rotWithShape="1">
          <a:blip r:embed="rId5">
            <a:alphaModFix/>
          </a:blip>
          <a:srcRect/>
          <a:stretch/>
        </p:blipFill>
        <p:spPr>
          <a:xfrm>
            <a:off x="991354" y="5196325"/>
            <a:ext cx="223081" cy="237375"/>
          </a:xfrm>
          <a:prstGeom prst="rect">
            <a:avLst/>
          </a:prstGeom>
          <a:noFill/>
          <a:ln>
            <a:noFill/>
          </a:ln>
        </p:spPr>
      </p:pic>
      <p:pic>
        <p:nvPicPr>
          <p:cNvPr id="2050" name="Picture 2">
            <a:extLst>
              <a:ext uri="{FF2B5EF4-FFF2-40B4-BE49-F238E27FC236}">
                <a16:creationId xmlns:a16="http://schemas.microsoft.com/office/drawing/2014/main" id="{F3B3D196-BDAF-684D-6CEC-F7ABFD982B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686" y="1776843"/>
            <a:ext cx="257175" cy="2381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87509848-FBB7-4796-13B7-B2E802D7D1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8686" y="3491935"/>
            <a:ext cx="285750" cy="2381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803F6A7-5B75-7AC5-62AA-0EAA335CC18A}"/>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5"/>
        <p:cNvGrpSpPr/>
        <p:nvPr/>
      </p:nvGrpSpPr>
      <p:grpSpPr>
        <a:xfrm>
          <a:off x="0" y="0"/>
          <a:ext cx="0" cy="0"/>
          <a:chOff x="0" y="0"/>
          <a:chExt cx="0" cy="0"/>
        </a:xfrm>
      </p:grpSpPr>
      <p:sp>
        <p:nvSpPr>
          <p:cNvPr id="150" name="Google Shape;150;p17"/>
          <p:cNvSpPr txBox="1"/>
          <p:nvPr/>
        </p:nvSpPr>
        <p:spPr>
          <a:xfrm>
            <a:off x="762000" y="247463"/>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Key Features</a:t>
            </a:r>
            <a:endParaRPr dirty="0"/>
          </a:p>
        </p:txBody>
      </p:sp>
      <p:sp>
        <p:nvSpPr>
          <p:cNvPr id="151" name="Google Shape;151;p17"/>
          <p:cNvSpPr/>
          <p:nvPr/>
        </p:nvSpPr>
        <p:spPr>
          <a:xfrm>
            <a:off x="762000" y="811127"/>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7"/>
          <p:cNvSpPr txBox="1"/>
          <p:nvPr/>
        </p:nvSpPr>
        <p:spPr>
          <a:xfrm>
            <a:off x="498354" y="1492716"/>
            <a:ext cx="9434162" cy="276999"/>
          </a:xfrm>
          <a:prstGeom prst="rect">
            <a:avLst/>
          </a:prstGeom>
          <a:noFill/>
          <a:ln>
            <a:noFill/>
          </a:ln>
        </p:spPr>
        <p:txBody>
          <a:bodyPr spcFirstLastPara="1" wrap="square" lIns="285750" tIns="0" rIns="0" bIns="0" anchor="t" anchorCtr="0">
            <a:spAutoFit/>
          </a:bodyPr>
          <a:lstStyle/>
          <a:p>
            <a:pPr lvl="0"/>
            <a:r>
              <a:rPr lang="en-US" sz="1800" b="1" dirty="0">
                <a:solidFill>
                  <a:srgbClr val="1E3A8A"/>
                </a:solidFill>
                <a:latin typeface="Poppins" panose="00000500000000000000" pitchFamily="2" charset="0"/>
                <a:cs typeface="Poppins" panose="00000500000000000000" pitchFamily="2" charset="0"/>
              </a:rPr>
              <a:t>Beyond the "Black Box" (Explainable AI)</a:t>
            </a:r>
            <a:endParaRPr sz="1800" dirty="0">
              <a:solidFill>
                <a:srgbClr val="1E3A8A"/>
              </a:solidFill>
              <a:latin typeface="Poppins" panose="00000500000000000000" pitchFamily="2" charset="0"/>
              <a:cs typeface="Poppins" panose="00000500000000000000" pitchFamily="2" charset="0"/>
            </a:endParaRPr>
          </a:p>
        </p:txBody>
      </p:sp>
      <p:sp>
        <p:nvSpPr>
          <p:cNvPr id="153" name="Google Shape;153;p17"/>
          <p:cNvSpPr txBox="1"/>
          <p:nvPr/>
        </p:nvSpPr>
        <p:spPr>
          <a:xfrm>
            <a:off x="762000" y="2043976"/>
            <a:ext cx="10915131" cy="923330"/>
          </a:xfrm>
          <a:prstGeom prst="rect">
            <a:avLst/>
          </a:prstGeom>
          <a:noFill/>
          <a:ln>
            <a:noFill/>
          </a:ln>
        </p:spPr>
        <p:txBody>
          <a:bodyPr spcFirstLastPara="1" wrap="square" lIns="0" tIns="0" rIns="0" bIns="0" anchor="t" anchorCtr="0">
            <a:spAutoFit/>
          </a:bodyPr>
          <a:lstStyle/>
          <a:p>
            <a:pPr lvl="0">
              <a:lnSpc>
                <a:spcPct val="150000"/>
              </a:lnSpc>
            </a:pPr>
            <a:r>
              <a:rPr lang="en-US" sz="2000" dirty="0">
                <a:latin typeface="Lato" panose="020F0502020204030203" pitchFamily="34" charset="0"/>
                <a:ea typeface="Lato" panose="020F0502020204030203" pitchFamily="34" charset="0"/>
                <a:cs typeface="Lato" panose="020F0502020204030203" pitchFamily="34" charset="0"/>
              </a:rPr>
              <a:t>First key feature and novelty of our app is visual heatmaps and easy to understand graphs to prove where and how an image was manipulated.</a:t>
            </a:r>
            <a:endParaRPr sz="2000" dirty="0">
              <a:latin typeface="Lato" panose="020F0502020204030203" pitchFamily="34" charset="0"/>
              <a:ea typeface="Lato" panose="020F0502020204030203" pitchFamily="34" charset="0"/>
              <a:cs typeface="Lato" panose="020F0502020204030203" pitchFamily="34" charset="0"/>
            </a:endParaRPr>
          </a:p>
        </p:txBody>
      </p:sp>
      <p:sp>
        <p:nvSpPr>
          <p:cNvPr id="154" name="Google Shape;154;p17"/>
          <p:cNvSpPr txBox="1"/>
          <p:nvPr/>
        </p:nvSpPr>
        <p:spPr>
          <a:xfrm>
            <a:off x="165750" y="3429000"/>
            <a:ext cx="9844189" cy="276999"/>
          </a:xfrm>
          <a:prstGeom prst="rect">
            <a:avLst/>
          </a:prstGeom>
          <a:noFill/>
          <a:ln>
            <a:noFill/>
          </a:ln>
        </p:spPr>
        <p:txBody>
          <a:bodyPr spcFirstLastPara="1" wrap="square" lIns="333375" tIns="0" rIns="0" bIns="0" anchor="t" anchorCtr="0">
            <a:spAutoFit/>
          </a:bodyPr>
          <a:lstStyle/>
          <a:p>
            <a:pPr lvl="0"/>
            <a:r>
              <a:rPr lang="en-US" sz="1800" b="1" dirty="0">
                <a:solidFill>
                  <a:srgbClr val="1E3A8A"/>
                </a:solidFill>
                <a:latin typeface="Poppins" panose="00000500000000000000" pitchFamily="2" charset="0"/>
                <a:cs typeface="Poppins" panose="00000500000000000000" pitchFamily="2" charset="0"/>
              </a:rPr>
              <a:t>Sovereign Balanced Ensemble (SBE)</a:t>
            </a:r>
            <a:endParaRPr sz="1800" dirty="0">
              <a:solidFill>
                <a:srgbClr val="1E3A8A"/>
              </a:solidFill>
              <a:latin typeface="Poppins" panose="00000500000000000000" pitchFamily="2" charset="0"/>
              <a:cs typeface="Poppins" panose="00000500000000000000" pitchFamily="2" charset="0"/>
            </a:endParaRPr>
          </a:p>
        </p:txBody>
      </p:sp>
      <p:sp>
        <p:nvSpPr>
          <p:cNvPr id="155" name="Google Shape;155;p17"/>
          <p:cNvSpPr txBox="1"/>
          <p:nvPr/>
        </p:nvSpPr>
        <p:spPr>
          <a:xfrm>
            <a:off x="677639" y="3890695"/>
            <a:ext cx="11370122" cy="2769989"/>
          </a:xfrm>
          <a:prstGeom prst="rect">
            <a:avLst/>
          </a:prstGeom>
          <a:noFill/>
          <a:ln>
            <a:noFill/>
          </a:ln>
        </p:spPr>
        <p:txBody>
          <a:bodyPr spcFirstLastPara="1" wrap="square" lIns="0" tIns="0" rIns="0" bIns="0" anchor="t" anchorCtr="0">
            <a:spAutoFit/>
          </a:bodyPr>
          <a:lstStyle/>
          <a:p>
            <a:pPr lvl="0">
              <a:lnSpc>
                <a:spcPct val="150000"/>
              </a:lnSpc>
            </a:pPr>
            <a:r>
              <a:rPr lang="en-US" sz="2000" dirty="0">
                <a:latin typeface="Lato" panose="020F0502020204030203" pitchFamily="34" charset="0"/>
                <a:ea typeface="Lato" panose="020F0502020204030203" pitchFamily="34" charset="0"/>
                <a:cs typeface="Lato" panose="020F0502020204030203" pitchFamily="34" charset="0"/>
              </a:rPr>
              <a:t>Second is that our app calculates a final verdict using a mathematical formula combining the different models and the libraries to countercheck the answer. We could have used the current model such as Gemini, </a:t>
            </a:r>
            <a:r>
              <a:rPr lang="en-US" sz="2000" dirty="0" err="1">
                <a:latin typeface="Lato" panose="020F0502020204030203" pitchFamily="34" charset="0"/>
                <a:ea typeface="Lato" panose="020F0502020204030203" pitchFamily="34" charset="0"/>
                <a:cs typeface="Lato" panose="020F0502020204030203" pitchFamily="34" charset="0"/>
              </a:rPr>
              <a:t>Chatgpt</a:t>
            </a:r>
            <a:r>
              <a:rPr lang="en-US" sz="2000" dirty="0">
                <a:latin typeface="Lato" panose="020F0502020204030203" pitchFamily="34" charset="0"/>
                <a:ea typeface="Lato" panose="020F0502020204030203" pitchFamily="34" charset="0"/>
                <a:cs typeface="Lato" panose="020F0502020204030203" pitchFamily="34" charset="0"/>
              </a:rPr>
              <a:t> and Grok as an API. But the problem was that it would have increased the latency and user will have to wait more. So, we trained our own model, yes you heard it right we have trained our own model which is specialized for the task detecting fake images. Further in the presentation my team member will explain what these models and libraries are:</a:t>
            </a:r>
            <a:endParaRPr sz="2000" dirty="0">
              <a:latin typeface="Lato" panose="020F0502020204030203" pitchFamily="34" charset="0"/>
              <a:ea typeface="Lato" panose="020F0502020204030203" pitchFamily="34" charset="0"/>
              <a:cs typeface="Lato" panose="020F0502020204030203" pitchFamily="34" charset="0"/>
            </a:endParaRPr>
          </a:p>
        </p:txBody>
      </p:sp>
      <p:sp>
        <p:nvSpPr>
          <p:cNvPr id="2" name="Google Shape;173;p18">
            <a:extLst>
              <a:ext uri="{FF2B5EF4-FFF2-40B4-BE49-F238E27FC236}">
                <a16:creationId xmlns:a16="http://schemas.microsoft.com/office/drawing/2014/main" id="{6F1F5210-3D85-9DB4-CB71-9AD1F0BC619F}"/>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5">
          <a:extLst>
            <a:ext uri="{FF2B5EF4-FFF2-40B4-BE49-F238E27FC236}">
              <a16:creationId xmlns:a16="http://schemas.microsoft.com/office/drawing/2014/main" id="{49F39D9F-8811-2AB5-2177-D5D3B22ED0BD}"/>
            </a:ext>
          </a:extLst>
        </p:cNvPr>
        <p:cNvGrpSpPr/>
        <p:nvPr/>
      </p:nvGrpSpPr>
      <p:grpSpPr>
        <a:xfrm>
          <a:off x="0" y="0"/>
          <a:ext cx="0" cy="0"/>
          <a:chOff x="0" y="0"/>
          <a:chExt cx="0" cy="0"/>
        </a:xfrm>
      </p:grpSpPr>
      <p:sp>
        <p:nvSpPr>
          <p:cNvPr id="150" name="Google Shape;150;p17">
            <a:extLst>
              <a:ext uri="{FF2B5EF4-FFF2-40B4-BE49-F238E27FC236}">
                <a16:creationId xmlns:a16="http://schemas.microsoft.com/office/drawing/2014/main" id="{44D6B583-FD5F-0892-10D0-89D9C148AAEB}"/>
              </a:ext>
            </a:extLst>
          </p:cNvPr>
          <p:cNvSpPr txBox="1"/>
          <p:nvPr/>
        </p:nvSpPr>
        <p:spPr>
          <a:xfrm>
            <a:off x="762000" y="247463"/>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Key Features</a:t>
            </a:r>
            <a:endParaRPr dirty="0"/>
          </a:p>
        </p:txBody>
      </p:sp>
      <p:sp>
        <p:nvSpPr>
          <p:cNvPr id="151" name="Google Shape;151;p17">
            <a:extLst>
              <a:ext uri="{FF2B5EF4-FFF2-40B4-BE49-F238E27FC236}">
                <a16:creationId xmlns:a16="http://schemas.microsoft.com/office/drawing/2014/main" id="{4930549D-90EB-1BCC-BBDF-ED3F0768FBA9}"/>
              </a:ext>
            </a:extLst>
          </p:cNvPr>
          <p:cNvSpPr/>
          <p:nvPr/>
        </p:nvSpPr>
        <p:spPr>
          <a:xfrm>
            <a:off x="762000" y="811127"/>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7">
            <a:extLst>
              <a:ext uri="{FF2B5EF4-FFF2-40B4-BE49-F238E27FC236}">
                <a16:creationId xmlns:a16="http://schemas.microsoft.com/office/drawing/2014/main" id="{689CB67B-E680-3C87-1553-A5C3ABB364B8}"/>
              </a:ext>
            </a:extLst>
          </p:cNvPr>
          <p:cNvSpPr txBox="1"/>
          <p:nvPr/>
        </p:nvSpPr>
        <p:spPr>
          <a:xfrm>
            <a:off x="294571" y="2765825"/>
            <a:ext cx="9764184" cy="276999"/>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sz="1800" b="1" i="0" u="none" strike="noStrike" cap="none" dirty="0">
                <a:solidFill>
                  <a:srgbClr val="1E3A8A"/>
                </a:solidFill>
                <a:latin typeface="Poppins"/>
                <a:ea typeface="Poppins"/>
                <a:cs typeface="Poppins"/>
                <a:sym typeface="Poppins"/>
              </a:rPr>
              <a:t>Cross-Platform Availability</a:t>
            </a:r>
            <a:endParaRPr sz="1800" dirty="0"/>
          </a:p>
        </p:txBody>
      </p:sp>
      <p:sp>
        <p:nvSpPr>
          <p:cNvPr id="157" name="Google Shape;157;p17">
            <a:extLst>
              <a:ext uri="{FF2B5EF4-FFF2-40B4-BE49-F238E27FC236}">
                <a16:creationId xmlns:a16="http://schemas.microsoft.com/office/drawing/2014/main" id="{F0EB32AE-FC8E-666F-3BB5-43927F667027}"/>
              </a:ext>
            </a:extLst>
          </p:cNvPr>
          <p:cNvSpPr txBox="1"/>
          <p:nvPr/>
        </p:nvSpPr>
        <p:spPr>
          <a:xfrm>
            <a:off x="762000" y="3668360"/>
            <a:ext cx="11034889" cy="13849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000" b="0" i="0" u="none" strike="noStrike" cap="none" dirty="0">
                <a:solidFill>
                  <a:schemeClr val="tx1"/>
                </a:solidFill>
                <a:latin typeface="Lato"/>
                <a:ea typeface="Lato"/>
                <a:cs typeface="Lato"/>
                <a:sym typeface="Lato"/>
              </a:rPr>
              <a:t>The last is that it </a:t>
            </a:r>
            <a:r>
              <a:rPr lang="en-US" sz="2000" dirty="0">
                <a:solidFill>
                  <a:schemeClr val="tx1"/>
                </a:solidFill>
                <a:latin typeface="Lato"/>
                <a:ea typeface="Lato"/>
                <a:cs typeface="Lato"/>
                <a:sym typeface="Lato"/>
              </a:rPr>
              <a:t>f</a:t>
            </a:r>
            <a:r>
              <a:rPr lang="en-US" sz="2000" b="0" i="0" u="none" strike="noStrike" cap="none" dirty="0">
                <a:solidFill>
                  <a:schemeClr val="tx1"/>
                </a:solidFill>
                <a:latin typeface="Lato"/>
                <a:ea typeface="Lato"/>
                <a:cs typeface="Lato"/>
                <a:sym typeface="Lato"/>
              </a:rPr>
              <a:t>eatures a responsive web architecture ensuring full functionality across both desktop workstations for working professional and Android mobile devices for common everyday users.</a:t>
            </a:r>
            <a:endParaRPr sz="2000" dirty="0">
              <a:solidFill>
                <a:schemeClr val="tx1"/>
              </a:solidFill>
            </a:endParaRPr>
          </a:p>
        </p:txBody>
      </p:sp>
      <p:sp>
        <p:nvSpPr>
          <p:cNvPr id="2" name="Google Shape;173;p18">
            <a:extLst>
              <a:ext uri="{FF2B5EF4-FFF2-40B4-BE49-F238E27FC236}">
                <a16:creationId xmlns:a16="http://schemas.microsoft.com/office/drawing/2014/main" id="{563BA33C-845A-F4AB-63AC-28F6EBD32B64}"/>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188170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6" name="Google Shape;166;p18" descr="image.png"/>
          <p:cNvPicPr preferRelativeResize="0"/>
          <p:nvPr/>
        </p:nvPicPr>
        <p:blipFill rotWithShape="1">
          <a:blip r:embed="rId4">
            <a:alphaModFix/>
          </a:blip>
          <a:srcRect/>
          <a:stretch/>
        </p:blipFill>
        <p:spPr>
          <a:xfrm>
            <a:off x="1020871" y="2717631"/>
            <a:ext cx="2857499" cy="1247775"/>
          </a:xfrm>
          <a:prstGeom prst="rect">
            <a:avLst/>
          </a:prstGeom>
          <a:noFill/>
          <a:ln>
            <a:noFill/>
          </a:ln>
        </p:spPr>
      </p:pic>
      <p:pic>
        <p:nvPicPr>
          <p:cNvPr id="167" name="Google Shape;167;p18" descr="image.png"/>
          <p:cNvPicPr preferRelativeResize="0"/>
          <p:nvPr/>
        </p:nvPicPr>
        <p:blipFill rotWithShape="1">
          <a:blip r:embed="rId4">
            <a:alphaModFix/>
          </a:blip>
          <a:srcRect/>
          <a:stretch/>
        </p:blipFill>
        <p:spPr>
          <a:xfrm>
            <a:off x="4370457" y="2717630"/>
            <a:ext cx="2857499" cy="1247775"/>
          </a:xfrm>
          <a:prstGeom prst="rect">
            <a:avLst/>
          </a:prstGeom>
          <a:noFill/>
          <a:ln>
            <a:noFill/>
          </a:ln>
        </p:spPr>
      </p:pic>
      <p:pic>
        <p:nvPicPr>
          <p:cNvPr id="168" name="Google Shape;168;p18" descr="image.png"/>
          <p:cNvPicPr preferRelativeResize="0"/>
          <p:nvPr/>
        </p:nvPicPr>
        <p:blipFill rotWithShape="1">
          <a:blip r:embed="rId4">
            <a:alphaModFix/>
          </a:blip>
          <a:srcRect/>
          <a:stretch/>
        </p:blipFill>
        <p:spPr>
          <a:xfrm>
            <a:off x="7744587" y="2722388"/>
            <a:ext cx="2857499" cy="1247776"/>
          </a:xfrm>
          <a:prstGeom prst="rect">
            <a:avLst/>
          </a:prstGeom>
          <a:noFill/>
          <a:ln>
            <a:noFill/>
          </a:ln>
        </p:spPr>
      </p:pic>
      <p:sp>
        <p:nvSpPr>
          <p:cNvPr id="169" name="Google Shape;169;p18"/>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Dataset Aggregation</a:t>
            </a:r>
          </a:p>
        </p:txBody>
      </p:sp>
      <p:sp>
        <p:nvSpPr>
          <p:cNvPr id="170" name="Google Shape;170;p18"/>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18"/>
          <p:cNvSpPr txBox="1"/>
          <p:nvPr/>
        </p:nvSpPr>
        <p:spPr>
          <a:xfrm>
            <a:off x="761999" y="1755428"/>
            <a:ext cx="10668000"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chemeClr val="tx1"/>
                </a:solidFill>
                <a:latin typeface="Poppins" panose="00000500000000000000" pitchFamily="2" charset="0"/>
                <a:ea typeface="Lato"/>
                <a:cs typeface="Poppins" panose="00000500000000000000" pitchFamily="2" charset="0"/>
                <a:sym typeface="Lato"/>
              </a:rPr>
              <a:t>Our system was trained on an aggregated </a:t>
            </a:r>
            <a:r>
              <a:rPr lang="en-US" sz="1500" b="1" i="0" u="none" strike="noStrike" cap="none" dirty="0">
                <a:solidFill>
                  <a:schemeClr val="tx1"/>
                </a:solidFill>
                <a:latin typeface="Poppins" panose="00000500000000000000" pitchFamily="2" charset="0"/>
                <a:ea typeface="Lato"/>
                <a:cs typeface="Poppins" panose="00000500000000000000" pitchFamily="2" charset="0"/>
                <a:sym typeface="Lato"/>
              </a:rPr>
              <a:t>master-set of 227,000 images</a:t>
            </a:r>
            <a:r>
              <a:rPr lang="en-US" sz="1500" b="0" i="0" u="none" strike="noStrike" cap="none" dirty="0">
                <a:solidFill>
                  <a:schemeClr val="tx1"/>
                </a:solidFill>
                <a:latin typeface="Poppins" panose="00000500000000000000" pitchFamily="2" charset="0"/>
                <a:ea typeface="Lato"/>
                <a:cs typeface="Poppins" panose="00000500000000000000" pitchFamily="2" charset="0"/>
                <a:sym typeface="Lato"/>
              </a:rPr>
              <a:t>, moving beyond small academic samples to ensure real-world robustness:</a:t>
            </a:r>
            <a:endParaRPr dirty="0">
              <a:solidFill>
                <a:schemeClr val="tx1"/>
              </a:solidFill>
              <a:latin typeface="Poppins" panose="00000500000000000000" pitchFamily="2" charset="0"/>
              <a:cs typeface="Poppins" panose="00000500000000000000" pitchFamily="2" charset="0"/>
            </a:endParaRPr>
          </a:p>
        </p:txBody>
      </p:sp>
      <p:sp>
        <p:nvSpPr>
          <p:cNvPr id="172" name="Google Shape;172;p18"/>
          <p:cNvSpPr txBox="1"/>
          <p:nvPr/>
        </p:nvSpPr>
        <p:spPr>
          <a:xfrm>
            <a:off x="761999" y="5595599"/>
            <a:ext cx="10668000"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1" dirty="0">
                <a:solidFill>
                  <a:schemeClr val="tx1"/>
                </a:solidFill>
                <a:latin typeface="Poppins" panose="00000500000000000000" pitchFamily="2" charset="0"/>
                <a:ea typeface="Lato"/>
                <a:cs typeface="Poppins" panose="00000500000000000000" pitchFamily="2" charset="0"/>
                <a:sym typeface="Lato"/>
              </a:rPr>
              <a:t>Filtering</a:t>
            </a:r>
            <a:r>
              <a:rPr lang="en-US" sz="1500" b="1" i="1" u="none" strike="noStrike" cap="none" dirty="0">
                <a:solidFill>
                  <a:schemeClr val="tx1"/>
                </a:solidFill>
                <a:latin typeface="Poppins" panose="00000500000000000000" pitchFamily="2" charset="0"/>
                <a:ea typeface="Lato"/>
                <a:cs typeface="Poppins" panose="00000500000000000000" pitchFamily="2" charset="0"/>
                <a:sym typeface="Lato"/>
              </a:rPr>
              <a:t> Process:</a:t>
            </a:r>
            <a:r>
              <a:rPr lang="en-US" sz="1500" b="0" i="1" u="none" strike="noStrike" cap="none" dirty="0">
                <a:solidFill>
                  <a:schemeClr val="tx1"/>
                </a:solidFill>
                <a:latin typeface="Poppins" panose="00000500000000000000" pitchFamily="2" charset="0"/>
                <a:ea typeface="Lato"/>
                <a:cs typeface="Poppins" panose="00000500000000000000" pitchFamily="2" charset="0"/>
                <a:sym typeface="Lato"/>
              </a:rPr>
              <a:t> Every image passed through a filter to remove duplicates and a recursive search to purge corrupted data tensors.</a:t>
            </a:r>
            <a:endParaRPr dirty="0">
              <a:solidFill>
                <a:schemeClr val="tx1"/>
              </a:solidFill>
              <a:latin typeface="Poppins" panose="00000500000000000000" pitchFamily="2" charset="0"/>
              <a:cs typeface="Poppins" panose="00000500000000000000" pitchFamily="2" charset="0"/>
            </a:endParaRPr>
          </a:p>
        </p:txBody>
      </p:sp>
      <p:sp>
        <p:nvSpPr>
          <p:cNvPr id="173" name="Google Shape;173;p18"/>
          <p:cNvSpPr txBox="1"/>
          <p:nvPr/>
        </p:nvSpPr>
        <p:spPr>
          <a:xfrm>
            <a:off x="1194199" y="2915989"/>
            <a:ext cx="2508379"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dirty="0">
                <a:solidFill>
                  <a:srgbClr val="9D7F43"/>
                </a:solidFill>
                <a:latin typeface="Poppins"/>
                <a:ea typeface="Poppins"/>
                <a:cs typeface="Poppins"/>
                <a:sym typeface="Poppins"/>
              </a:rPr>
              <a:t>20K</a:t>
            </a:r>
            <a:endParaRPr sz="1050" dirty="0">
              <a:solidFill>
                <a:srgbClr val="9D7F43"/>
              </a:solidFill>
            </a:endParaRPr>
          </a:p>
        </p:txBody>
      </p:sp>
      <p:sp>
        <p:nvSpPr>
          <p:cNvPr id="174" name="Google Shape;174;p18"/>
          <p:cNvSpPr txBox="1"/>
          <p:nvPr/>
        </p:nvSpPr>
        <p:spPr>
          <a:xfrm>
            <a:off x="1253923" y="3297260"/>
            <a:ext cx="2388932" cy="507831"/>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100" b="0" i="0" u="none" strike="noStrike" cap="none" dirty="0">
                <a:solidFill>
                  <a:srgbClr val="334155"/>
                </a:solidFill>
                <a:latin typeface="Lato"/>
                <a:ea typeface="Lato"/>
                <a:cs typeface="Lato"/>
                <a:sym typeface="Lato"/>
              </a:rPr>
              <a:t>GAN-based high-quality faces (Deepfake-vs-Real).</a:t>
            </a:r>
            <a:endParaRPr sz="1050" dirty="0"/>
          </a:p>
        </p:txBody>
      </p:sp>
      <p:sp>
        <p:nvSpPr>
          <p:cNvPr id="175" name="Google Shape;175;p18"/>
          <p:cNvSpPr txBox="1"/>
          <p:nvPr/>
        </p:nvSpPr>
        <p:spPr>
          <a:xfrm>
            <a:off x="4471906" y="2864993"/>
            <a:ext cx="2483642"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dirty="0">
                <a:solidFill>
                  <a:srgbClr val="FF0000"/>
                </a:solidFill>
                <a:latin typeface="Poppins"/>
                <a:ea typeface="Poppins"/>
                <a:cs typeface="Poppins"/>
                <a:sym typeface="Poppins"/>
              </a:rPr>
              <a:t>7K</a:t>
            </a:r>
            <a:endParaRPr sz="1050" dirty="0">
              <a:solidFill>
                <a:srgbClr val="FF0000"/>
              </a:solidFill>
            </a:endParaRPr>
          </a:p>
        </p:txBody>
      </p:sp>
      <p:sp>
        <p:nvSpPr>
          <p:cNvPr id="176" name="Google Shape;176;p18"/>
          <p:cNvSpPr txBox="1"/>
          <p:nvPr/>
        </p:nvSpPr>
        <p:spPr>
          <a:xfrm>
            <a:off x="4531040" y="3260809"/>
            <a:ext cx="2365374" cy="507831"/>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100" dirty="0">
                <a:solidFill>
                  <a:srgbClr val="334155"/>
                </a:solidFill>
                <a:latin typeface="Lato"/>
                <a:ea typeface="Lato"/>
                <a:cs typeface="Lato"/>
                <a:sym typeface="Lato"/>
              </a:rPr>
              <a:t>Real</a:t>
            </a:r>
            <a:r>
              <a:rPr lang="en-US" sz="1100" b="0" i="0" u="none" strike="noStrike" cap="none" dirty="0">
                <a:solidFill>
                  <a:srgbClr val="334155"/>
                </a:solidFill>
                <a:latin typeface="Lato"/>
                <a:ea typeface="Lato"/>
                <a:cs typeface="Lato"/>
                <a:sym typeface="Lato"/>
              </a:rPr>
              <a:t>-Edited Challenge Set for adversarial training.</a:t>
            </a:r>
            <a:endParaRPr sz="1100" dirty="0"/>
          </a:p>
        </p:txBody>
      </p:sp>
      <p:sp>
        <p:nvSpPr>
          <p:cNvPr id="177" name="Google Shape;177;p18"/>
          <p:cNvSpPr txBox="1"/>
          <p:nvPr/>
        </p:nvSpPr>
        <p:spPr>
          <a:xfrm>
            <a:off x="7683150" y="2887054"/>
            <a:ext cx="2980372"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dirty="0">
                <a:solidFill>
                  <a:srgbClr val="16A34A"/>
                </a:solidFill>
                <a:latin typeface="Poppins"/>
                <a:ea typeface="Poppins"/>
                <a:cs typeface="Poppins"/>
                <a:sym typeface="Poppins"/>
              </a:rPr>
              <a:t>200K</a:t>
            </a:r>
            <a:endParaRPr sz="1050" dirty="0"/>
          </a:p>
        </p:txBody>
      </p:sp>
      <p:pic>
        <p:nvPicPr>
          <p:cNvPr id="2" name="Google Shape;166;p18" descr="image.png">
            <a:extLst>
              <a:ext uri="{FF2B5EF4-FFF2-40B4-BE49-F238E27FC236}">
                <a16:creationId xmlns:a16="http://schemas.microsoft.com/office/drawing/2014/main" id="{362BF3B9-CC71-7B2D-9E6C-443A70B63201}"/>
              </a:ext>
            </a:extLst>
          </p:cNvPr>
          <p:cNvPicPr preferRelativeResize="0"/>
          <p:nvPr/>
        </p:nvPicPr>
        <p:blipFill rotWithShape="1">
          <a:blip r:embed="rId4">
            <a:alphaModFix/>
          </a:blip>
          <a:srcRect/>
          <a:stretch/>
        </p:blipFill>
        <p:spPr>
          <a:xfrm>
            <a:off x="2448388" y="4203174"/>
            <a:ext cx="6587950" cy="1247775"/>
          </a:xfrm>
          <a:prstGeom prst="rect">
            <a:avLst/>
          </a:prstGeom>
          <a:noFill/>
          <a:ln>
            <a:noFill/>
          </a:ln>
        </p:spPr>
      </p:pic>
      <p:sp>
        <p:nvSpPr>
          <p:cNvPr id="178" name="Google Shape;178;p18"/>
          <p:cNvSpPr txBox="1"/>
          <p:nvPr/>
        </p:nvSpPr>
        <p:spPr>
          <a:xfrm>
            <a:off x="2298332" y="4809532"/>
            <a:ext cx="6738006" cy="55399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dirty="0">
                <a:solidFill>
                  <a:srgbClr val="334155"/>
                </a:solidFill>
                <a:latin typeface="Lato"/>
                <a:ea typeface="Lato"/>
                <a:cs typeface="Lato"/>
                <a:sym typeface="Lato"/>
              </a:rPr>
              <a:t>Custom scraped Real and High-quality </a:t>
            </a:r>
            <a:r>
              <a:rPr lang="en-US" sz="1100" b="0" i="0" u="none" strike="noStrike" cap="none" dirty="0">
                <a:solidFill>
                  <a:srgbClr val="334155"/>
                </a:solidFill>
                <a:latin typeface="Lato"/>
                <a:ea typeface="Lato"/>
                <a:cs typeface="Lato"/>
                <a:sym typeface="Lato"/>
              </a:rPr>
              <a:t>AI-generated</a:t>
            </a:r>
            <a:r>
              <a:rPr lang="en-US" sz="1200" b="0" i="0" u="none" strike="noStrike" cap="none" dirty="0">
                <a:solidFill>
                  <a:srgbClr val="334155"/>
                </a:solidFill>
                <a:latin typeface="Lato"/>
                <a:ea typeface="Lato"/>
                <a:cs typeface="Lato"/>
                <a:sym typeface="Lato"/>
              </a:rPr>
              <a:t> visual content from </a:t>
            </a:r>
            <a:br>
              <a:rPr lang="en-US" sz="1200" b="0" i="0" u="none" strike="noStrike" cap="none" dirty="0">
                <a:solidFill>
                  <a:srgbClr val="334155"/>
                </a:solidFill>
                <a:latin typeface="Lato"/>
                <a:ea typeface="Lato"/>
                <a:cs typeface="Lato"/>
                <a:sym typeface="Lato"/>
              </a:rPr>
            </a:br>
            <a:r>
              <a:rPr lang="en-US" sz="1200" b="0" i="0" u="none" strike="noStrike" cap="none" dirty="0">
                <a:solidFill>
                  <a:srgbClr val="334155"/>
                </a:solidFill>
                <a:latin typeface="Lato"/>
                <a:ea typeface="Lato"/>
                <a:cs typeface="Lato"/>
                <a:sym typeface="Lato"/>
              </a:rPr>
              <a:t>the current High-end models.</a:t>
            </a:r>
            <a:endParaRPr sz="1200" dirty="0"/>
          </a:p>
        </p:txBody>
      </p:sp>
      <p:sp>
        <p:nvSpPr>
          <p:cNvPr id="3" name="Google Shape;173;p18">
            <a:extLst>
              <a:ext uri="{FF2B5EF4-FFF2-40B4-BE49-F238E27FC236}">
                <a16:creationId xmlns:a16="http://schemas.microsoft.com/office/drawing/2014/main" id="{6AE8D958-F4A9-FFFB-7B53-D97688A4B2CC}"/>
              </a:ext>
            </a:extLst>
          </p:cNvPr>
          <p:cNvSpPr txBox="1"/>
          <p:nvPr/>
        </p:nvSpPr>
        <p:spPr>
          <a:xfrm>
            <a:off x="4488173" y="4321316"/>
            <a:ext cx="2508379"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dirty="0">
                <a:solidFill>
                  <a:srgbClr val="1E3A8A"/>
                </a:solidFill>
                <a:latin typeface="Poppins"/>
                <a:ea typeface="Poppins"/>
                <a:cs typeface="Poppins"/>
                <a:sym typeface="Poppins"/>
              </a:rPr>
              <a:t>1</a:t>
            </a:r>
            <a:r>
              <a:rPr lang="en-US" sz="2400" b="1" i="0" u="none" strike="noStrike" cap="none" dirty="0">
                <a:solidFill>
                  <a:srgbClr val="1E3A8A"/>
                </a:solidFill>
                <a:latin typeface="Poppins"/>
                <a:ea typeface="Poppins"/>
                <a:cs typeface="Poppins"/>
                <a:sym typeface="Poppins"/>
              </a:rPr>
              <a:t>0K</a:t>
            </a:r>
            <a:endParaRPr sz="1100" dirty="0"/>
          </a:p>
        </p:txBody>
      </p:sp>
      <p:sp>
        <p:nvSpPr>
          <p:cNvPr id="4" name="Google Shape;176;p18">
            <a:extLst>
              <a:ext uri="{FF2B5EF4-FFF2-40B4-BE49-F238E27FC236}">
                <a16:creationId xmlns:a16="http://schemas.microsoft.com/office/drawing/2014/main" id="{1A6636E4-CC07-CFFE-AF9A-FE21D2F17A49}"/>
              </a:ext>
            </a:extLst>
          </p:cNvPr>
          <p:cNvSpPr txBox="1"/>
          <p:nvPr/>
        </p:nvSpPr>
        <p:spPr>
          <a:xfrm>
            <a:off x="7990649" y="3365236"/>
            <a:ext cx="2365374" cy="338554"/>
          </a:xfrm>
          <a:prstGeom prst="rect">
            <a:avLst/>
          </a:prstGeom>
          <a:noFill/>
          <a:ln>
            <a:noFill/>
          </a:ln>
        </p:spPr>
        <p:txBody>
          <a:bodyPr spcFirstLastPara="1" wrap="square" lIns="0" tIns="0" rIns="0" bIns="0" anchor="t" anchorCtr="0">
            <a:spAutoFit/>
          </a:bodyPr>
          <a:lstStyle/>
          <a:p>
            <a:pPr algn="ctr" fontAlgn="base"/>
            <a:r>
              <a:rPr lang="en-US" sz="1100" dirty="0">
                <a:solidFill>
                  <a:srgbClr val="334155"/>
                </a:solidFill>
                <a:latin typeface="Lato" panose="020F0502020204030203" pitchFamily="34" charset="0"/>
                <a:ea typeface="Lato" panose="020F0502020204030203" pitchFamily="34" charset="0"/>
                <a:cs typeface="Lato" panose="020F0502020204030203" pitchFamily="34" charset="0"/>
              </a:rPr>
              <a:t>Multisource Deepfake Image Dataset named as GRAVEX-200K</a:t>
            </a:r>
          </a:p>
        </p:txBody>
      </p:sp>
      <p:sp>
        <p:nvSpPr>
          <p:cNvPr id="5" name="TextBox 4">
            <a:extLst>
              <a:ext uri="{FF2B5EF4-FFF2-40B4-BE49-F238E27FC236}">
                <a16:creationId xmlns:a16="http://schemas.microsoft.com/office/drawing/2014/main" id="{21BE7228-23D3-CA4A-D732-59126614518D}"/>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pic>
        <p:nvPicPr>
          <p:cNvPr id="165" name="Google Shape;16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9" name="Google Shape;169;p18"/>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Dataset Aggregation</a:t>
            </a:r>
            <a:endParaRPr dirty="0"/>
          </a:p>
        </p:txBody>
      </p:sp>
      <p:sp>
        <p:nvSpPr>
          <p:cNvPr id="170" name="Google Shape;170;p18"/>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18"/>
          <p:cNvSpPr txBox="1"/>
          <p:nvPr/>
        </p:nvSpPr>
        <p:spPr>
          <a:xfrm>
            <a:off x="448424" y="1531534"/>
            <a:ext cx="10668000" cy="73866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dirty="0">
                <a:solidFill>
                  <a:schemeClr val="tx1"/>
                </a:solidFill>
                <a:latin typeface="Poppins" panose="00000500000000000000" pitchFamily="2" charset="0"/>
                <a:ea typeface="Lato"/>
                <a:cs typeface="Poppins" panose="00000500000000000000" pitchFamily="2" charset="0"/>
                <a:sym typeface="Lato"/>
              </a:rPr>
              <a:t>The quality of a good model depend on the quality of the dataset used to train the model. Our system was trained on dataset </a:t>
            </a:r>
            <a:r>
              <a:rPr lang="en-US" sz="1600" b="1" i="0" u="none" strike="noStrike" cap="none" dirty="0">
                <a:solidFill>
                  <a:schemeClr val="tx1"/>
                </a:solidFill>
                <a:latin typeface="Poppins" panose="00000500000000000000" pitchFamily="2" charset="0"/>
                <a:ea typeface="Lato"/>
                <a:cs typeface="Poppins" panose="00000500000000000000" pitchFamily="2" charset="0"/>
                <a:sym typeface="Lato"/>
              </a:rPr>
              <a:t>of 237 thousand images</a:t>
            </a:r>
            <a:r>
              <a:rPr lang="en-US" sz="1600" dirty="0">
                <a:solidFill>
                  <a:schemeClr val="tx1"/>
                </a:solidFill>
                <a:latin typeface="Poppins" panose="00000500000000000000" pitchFamily="2" charset="0"/>
                <a:ea typeface="Lato"/>
                <a:cs typeface="Poppins" panose="00000500000000000000" pitchFamily="2" charset="0"/>
                <a:sym typeface="Lato"/>
              </a:rPr>
              <a:t>.</a:t>
            </a:r>
            <a:endParaRPr sz="1600" dirty="0">
              <a:solidFill>
                <a:schemeClr val="tx1"/>
              </a:solidFill>
              <a:latin typeface="Poppins" panose="00000500000000000000" pitchFamily="2" charset="0"/>
              <a:cs typeface="Poppins" panose="00000500000000000000" pitchFamily="2" charset="0"/>
            </a:endParaRPr>
          </a:p>
        </p:txBody>
      </p:sp>
      <p:sp>
        <p:nvSpPr>
          <p:cNvPr id="172" name="Google Shape;172;p18"/>
          <p:cNvSpPr txBox="1"/>
          <p:nvPr/>
        </p:nvSpPr>
        <p:spPr>
          <a:xfrm>
            <a:off x="761999" y="5336828"/>
            <a:ext cx="10668000" cy="830997"/>
          </a:xfrm>
          <a:prstGeom prst="rect">
            <a:avLst/>
          </a:prstGeom>
          <a:noFill/>
          <a:ln>
            <a:noFill/>
          </a:ln>
        </p:spPr>
        <p:txBody>
          <a:bodyPr spcFirstLastPara="1" wrap="square" lIns="0" tIns="0" rIns="0" bIns="0" anchor="t" anchorCtr="0">
            <a:spAutoFit/>
          </a:bodyPr>
          <a:lstStyle/>
          <a:p>
            <a:pPr lvl="0">
              <a:lnSpc>
                <a:spcPct val="150000"/>
              </a:lnSpc>
            </a:pPr>
            <a:r>
              <a:rPr lang="en-US" sz="1800" i="1" dirty="0">
                <a:solidFill>
                  <a:schemeClr val="tx1"/>
                </a:solidFill>
                <a:latin typeface="Poppins" panose="00000500000000000000" pitchFamily="2" charset="0"/>
                <a:ea typeface="Lato"/>
                <a:cs typeface="Poppins" panose="00000500000000000000" pitchFamily="2" charset="0"/>
                <a:sym typeface="Lato"/>
              </a:rPr>
              <a:t>Every image was passed through a filter to remove duplicates and the images that have lower quality than 10kb. Real and fake images should be balanced.</a:t>
            </a:r>
            <a:endParaRPr sz="1800" dirty="0">
              <a:solidFill>
                <a:schemeClr val="tx1"/>
              </a:solidFill>
              <a:latin typeface="Poppins" panose="00000500000000000000" pitchFamily="2" charset="0"/>
              <a:cs typeface="Poppins" panose="00000500000000000000" pitchFamily="2" charset="0"/>
            </a:endParaRPr>
          </a:p>
        </p:txBody>
      </p:sp>
      <p:sp>
        <p:nvSpPr>
          <p:cNvPr id="173" name="Google Shape;173;p18"/>
          <p:cNvSpPr txBox="1"/>
          <p:nvPr/>
        </p:nvSpPr>
        <p:spPr>
          <a:xfrm>
            <a:off x="-257035" y="3030784"/>
            <a:ext cx="2980372" cy="4616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dirty="0">
                <a:solidFill>
                  <a:srgbClr val="1E3A8A"/>
                </a:solidFill>
                <a:latin typeface="Poppins"/>
                <a:ea typeface="Poppins"/>
                <a:cs typeface="Poppins"/>
                <a:sym typeface="Poppins"/>
              </a:rPr>
              <a:t>The    20K,</a:t>
            </a:r>
            <a:endParaRPr dirty="0"/>
          </a:p>
        </p:txBody>
      </p:sp>
      <p:sp>
        <p:nvSpPr>
          <p:cNvPr id="175" name="Google Shape;175;p18"/>
          <p:cNvSpPr txBox="1"/>
          <p:nvPr/>
        </p:nvSpPr>
        <p:spPr>
          <a:xfrm>
            <a:off x="1233151" y="2985795"/>
            <a:ext cx="2980372" cy="4616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dirty="0">
                <a:solidFill>
                  <a:srgbClr val="CA8A04"/>
                </a:solidFill>
                <a:latin typeface="Poppins"/>
                <a:ea typeface="Poppins"/>
                <a:cs typeface="Poppins"/>
                <a:sym typeface="Poppins"/>
              </a:rPr>
              <a:t>7K</a:t>
            </a:r>
            <a:endParaRPr dirty="0"/>
          </a:p>
        </p:txBody>
      </p:sp>
      <p:sp>
        <p:nvSpPr>
          <p:cNvPr id="177" name="Google Shape;177;p18"/>
          <p:cNvSpPr txBox="1"/>
          <p:nvPr/>
        </p:nvSpPr>
        <p:spPr>
          <a:xfrm>
            <a:off x="2748987" y="2968472"/>
            <a:ext cx="2980372" cy="4616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dirty="0">
                <a:solidFill>
                  <a:srgbClr val="16A34A"/>
                </a:solidFill>
                <a:latin typeface="Poppins"/>
                <a:ea typeface="Poppins"/>
                <a:cs typeface="Poppins"/>
                <a:sym typeface="Poppins"/>
              </a:rPr>
              <a:t> and   200K </a:t>
            </a:r>
            <a:endParaRPr dirty="0"/>
          </a:p>
        </p:txBody>
      </p:sp>
      <p:sp>
        <p:nvSpPr>
          <p:cNvPr id="2" name="Google Shape;171;p18">
            <a:extLst>
              <a:ext uri="{FF2B5EF4-FFF2-40B4-BE49-F238E27FC236}">
                <a16:creationId xmlns:a16="http://schemas.microsoft.com/office/drawing/2014/main" id="{7F91DF1B-3526-9D76-9F55-3F2AF389E6DD}"/>
              </a:ext>
            </a:extLst>
          </p:cNvPr>
          <p:cNvSpPr txBox="1"/>
          <p:nvPr/>
        </p:nvSpPr>
        <p:spPr>
          <a:xfrm>
            <a:off x="5319642" y="2888903"/>
            <a:ext cx="6743404" cy="4616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000" dirty="0">
                <a:solidFill>
                  <a:schemeClr val="tx1"/>
                </a:solidFill>
                <a:latin typeface="Poppins" panose="00000500000000000000" pitchFamily="2" charset="0"/>
                <a:ea typeface="Lato"/>
                <a:cs typeface="Poppins" panose="00000500000000000000" pitchFamily="2" charset="0"/>
                <a:sym typeface="Lato"/>
              </a:rPr>
              <a:t>Dataset was imported from a website named </a:t>
            </a:r>
            <a:r>
              <a:rPr lang="en-US" sz="2000" dirty="0" err="1">
                <a:solidFill>
                  <a:schemeClr val="tx1"/>
                </a:solidFill>
                <a:latin typeface="Poppins" panose="00000500000000000000" pitchFamily="2" charset="0"/>
                <a:ea typeface="Lato"/>
                <a:cs typeface="Poppins" panose="00000500000000000000" pitchFamily="2" charset="0"/>
                <a:sym typeface="Lato"/>
              </a:rPr>
              <a:t>kaggle</a:t>
            </a:r>
            <a:endParaRPr sz="2000" dirty="0">
              <a:solidFill>
                <a:schemeClr val="tx1"/>
              </a:solidFill>
              <a:latin typeface="Poppins" panose="00000500000000000000" pitchFamily="2" charset="0"/>
              <a:cs typeface="Poppins" panose="00000500000000000000" pitchFamily="2" charset="0"/>
            </a:endParaRPr>
          </a:p>
        </p:txBody>
      </p:sp>
      <p:sp>
        <p:nvSpPr>
          <p:cNvPr id="3" name="Google Shape;173;p18">
            <a:extLst>
              <a:ext uri="{FF2B5EF4-FFF2-40B4-BE49-F238E27FC236}">
                <a16:creationId xmlns:a16="http://schemas.microsoft.com/office/drawing/2014/main" id="{D3C1EDE3-50F0-1FBB-A906-CA15D3D6DC97}"/>
              </a:ext>
            </a:extLst>
          </p:cNvPr>
          <p:cNvSpPr txBox="1"/>
          <p:nvPr/>
        </p:nvSpPr>
        <p:spPr>
          <a:xfrm>
            <a:off x="309021" y="4066165"/>
            <a:ext cx="10946807"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dirty="0">
                <a:solidFill>
                  <a:srgbClr val="1E3A8A"/>
                </a:solidFill>
                <a:latin typeface="Poppins"/>
                <a:ea typeface="Poppins"/>
                <a:cs typeface="Poppins"/>
                <a:sym typeface="Poppins"/>
              </a:rPr>
              <a:t>The    </a:t>
            </a:r>
            <a:r>
              <a:rPr lang="en-US" sz="3000" b="1" dirty="0">
                <a:solidFill>
                  <a:srgbClr val="1E3A8A"/>
                </a:solidFill>
                <a:latin typeface="Poppins"/>
                <a:ea typeface="Poppins"/>
                <a:cs typeface="Poppins"/>
                <a:sym typeface="Poppins"/>
              </a:rPr>
              <a:t>1</a:t>
            </a:r>
            <a:r>
              <a:rPr lang="en-US" sz="3000" b="1" i="0" u="none" strike="noStrike" cap="none" dirty="0">
                <a:solidFill>
                  <a:srgbClr val="1E3A8A"/>
                </a:solidFill>
                <a:latin typeface="Poppins"/>
                <a:ea typeface="Poppins"/>
                <a:cs typeface="Poppins"/>
                <a:sym typeface="Poppins"/>
              </a:rPr>
              <a:t>0K dataset was created by myself using images from good models like </a:t>
            </a:r>
            <a:r>
              <a:rPr lang="en-US" sz="3000" b="1" i="0" u="none" strike="noStrike" cap="none" dirty="0" err="1">
                <a:solidFill>
                  <a:srgbClr val="1E3A8A"/>
                </a:solidFill>
                <a:latin typeface="Poppins"/>
                <a:ea typeface="Poppins"/>
                <a:cs typeface="Poppins"/>
                <a:sym typeface="Poppins"/>
              </a:rPr>
              <a:t>gemini</a:t>
            </a:r>
            <a:r>
              <a:rPr lang="en-US" sz="3000" b="1" i="0" u="none" strike="noStrike" cap="none" dirty="0">
                <a:solidFill>
                  <a:srgbClr val="1E3A8A"/>
                </a:solidFill>
                <a:latin typeface="Poppins"/>
                <a:ea typeface="Poppins"/>
                <a:cs typeface="Poppins"/>
                <a:sym typeface="Poppins"/>
              </a:rPr>
              <a:t>, sora </a:t>
            </a:r>
            <a:r>
              <a:rPr lang="en-US" sz="3000" b="1" i="0" u="none" strike="noStrike" cap="none" dirty="0" err="1">
                <a:solidFill>
                  <a:srgbClr val="1E3A8A"/>
                </a:solidFill>
                <a:latin typeface="Poppins"/>
                <a:ea typeface="Poppins"/>
                <a:cs typeface="Poppins"/>
                <a:sym typeface="Poppins"/>
              </a:rPr>
              <a:t>etc</a:t>
            </a:r>
            <a:endParaRPr dirty="0"/>
          </a:p>
        </p:txBody>
      </p:sp>
      <p:sp>
        <p:nvSpPr>
          <p:cNvPr id="4" name="Google Shape;173;p18">
            <a:extLst>
              <a:ext uri="{FF2B5EF4-FFF2-40B4-BE49-F238E27FC236}">
                <a16:creationId xmlns:a16="http://schemas.microsoft.com/office/drawing/2014/main" id="{C0800EFB-1BDC-2F29-5503-B8250793B02E}"/>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4" name="Google Shape;184;p19"/>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Preprocessing &amp; Selection</a:t>
            </a:r>
            <a:endParaRPr dirty="0"/>
          </a:p>
        </p:txBody>
      </p:sp>
      <p:sp>
        <p:nvSpPr>
          <p:cNvPr id="185" name="Google Shape;185;p19"/>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29EEC3DC-065D-6DF5-50FB-E790AA2A2A6B}"/>
              </a:ext>
            </a:extLst>
          </p:cNvPr>
          <p:cNvSpPr txBox="1"/>
          <p:nvPr/>
        </p:nvSpPr>
        <p:spPr>
          <a:xfrm>
            <a:off x="595489" y="1679405"/>
            <a:ext cx="11367911" cy="3170099"/>
          </a:xfrm>
          <a:prstGeom prst="rect">
            <a:avLst/>
          </a:prstGeom>
          <a:noFill/>
        </p:spPr>
        <p:txBody>
          <a:bodyPr wrap="square">
            <a:spAutoFit/>
          </a:bodyPr>
          <a:lstStyle/>
          <a:p>
            <a:pPr>
              <a:buNone/>
            </a:pPr>
            <a:r>
              <a:rPr lang="en-US" sz="1600" b="1" dirty="0">
                <a:solidFill>
                  <a:srgbClr val="1E3A8A"/>
                </a:solidFill>
                <a:latin typeface="Poppins" panose="00000500000000000000" pitchFamily="2" charset="0"/>
                <a:cs typeface="Poppins" panose="00000500000000000000" pitchFamily="2" charset="0"/>
              </a:rPr>
              <a:t>Model Selection: Xception Core</a:t>
            </a:r>
            <a:endParaRPr lang="en-US" sz="1600" dirty="0">
              <a:solidFill>
                <a:srgbClr val="1E3A8A"/>
              </a:solidFill>
              <a:latin typeface="Poppins" panose="00000500000000000000" pitchFamily="2" charset="0"/>
              <a:cs typeface="Poppins" panose="00000500000000000000" pitchFamily="2" charset="0"/>
            </a:endParaRPr>
          </a:p>
          <a:p>
            <a:pPr>
              <a:buFont typeface="Arial" panose="020B0604020202020204" pitchFamily="34" charset="0"/>
              <a:buChar char="•"/>
            </a:pPr>
            <a:r>
              <a:rPr lang="en-US" sz="1200" dirty="0"/>
              <a:t> </a:t>
            </a:r>
            <a:r>
              <a:rPr lang="en-US" dirty="0"/>
              <a:t>Powered by the </a:t>
            </a:r>
            <a:r>
              <a:rPr lang="en-US" b="1" dirty="0"/>
              <a:t>Xception architecture</a:t>
            </a:r>
            <a:r>
              <a:rPr lang="en-US" dirty="0"/>
              <a:t> which is an CNN.</a:t>
            </a:r>
          </a:p>
          <a:p>
            <a:pPr>
              <a:buFont typeface="Arial" panose="020B0604020202020204" pitchFamily="34" charset="0"/>
              <a:buChar char="•"/>
            </a:pPr>
            <a:r>
              <a:rPr lang="en-US" dirty="0"/>
              <a:t> Maps spatial (chin, eyes etc.) and cross-channel (colors) correlations separately, making it highly sensitive to unnatural pixel patterns.</a:t>
            </a:r>
            <a:br>
              <a:rPr lang="en-US" dirty="0"/>
            </a:br>
            <a:br>
              <a:rPr lang="en-US" dirty="0"/>
            </a:br>
            <a:br>
              <a:rPr lang="en-US" dirty="0"/>
            </a:br>
            <a:br>
              <a:rPr lang="en-US" sz="1200" dirty="0"/>
            </a:br>
            <a:br>
              <a:rPr lang="en-US" sz="1200" dirty="0"/>
            </a:br>
            <a:br>
              <a:rPr lang="en-US" sz="1200" dirty="0"/>
            </a:br>
            <a:br>
              <a:rPr lang="en-US" sz="1200" dirty="0"/>
            </a:br>
            <a:br>
              <a:rPr lang="en-US" sz="1200" dirty="0"/>
            </a:br>
            <a:br>
              <a:rPr lang="en-US" sz="1200" dirty="0"/>
            </a:br>
            <a:br>
              <a:rPr lang="en-US" sz="1200" dirty="0"/>
            </a:br>
            <a:r>
              <a:rPr lang="en-US" sz="1600" b="1" dirty="0">
                <a:solidFill>
                  <a:srgbClr val="1E3A8A"/>
                </a:solidFill>
                <a:latin typeface="Poppins" panose="00000500000000000000" pitchFamily="2" charset="0"/>
                <a:cs typeface="Poppins" panose="00000500000000000000" pitchFamily="2" charset="0"/>
              </a:rPr>
              <a:t>Cloud Fine-Tuning Environment</a:t>
            </a:r>
            <a:endParaRPr lang="en-US" sz="1600" dirty="0">
              <a:solidFill>
                <a:srgbClr val="1E3A8A"/>
              </a:solidFill>
            </a:endParaRPr>
          </a:p>
          <a:p>
            <a:pPr>
              <a:buFont typeface="Arial" panose="020B0604020202020204" pitchFamily="34" charset="0"/>
              <a:buChar char="•"/>
            </a:pPr>
            <a:r>
              <a:rPr lang="en-US" dirty="0"/>
              <a:t> Trained on high-VRAM </a:t>
            </a:r>
            <a:r>
              <a:rPr lang="en-US" b="1" dirty="0"/>
              <a:t>NVIDIA T4 Tensor Core GPUs </a:t>
            </a:r>
            <a:r>
              <a:rPr lang="en-US" dirty="0"/>
              <a:t>provided by Colab.</a:t>
            </a:r>
          </a:p>
          <a:p>
            <a:pPr>
              <a:buFont typeface="Arial" panose="020B0604020202020204" pitchFamily="34" charset="0"/>
              <a:buChar char="•"/>
            </a:pPr>
            <a:r>
              <a:rPr lang="en-US" dirty="0"/>
              <a:t> Unfrozen base layers adapted with low learning rates to catch microscopic frequency artifacts invisible to the human eye.</a:t>
            </a:r>
          </a:p>
        </p:txBody>
      </p:sp>
      <p:pic>
        <p:nvPicPr>
          <p:cNvPr id="2" name="Google Shape;166;p18" descr="image.png">
            <a:extLst>
              <a:ext uri="{FF2B5EF4-FFF2-40B4-BE49-F238E27FC236}">
                <a16:creationId xmlns:a16="http://schemas.microsoft.com/office/drawing/2014/main" id="{5278C9DB-ADEF-A3B8-71BC-2DF70B3F71F0}"/>
              </a:ext>
            </a:extLst>
          </p:cNvPr>
          <p:cNvPicPr preferRelativeResize="0"/>
          <p:nvPr/>
        </p:nvPicPr>
        <p:blipFill rotWithShape="1">
          <a:blip r:embed="rId4">
            <a:alphaModFix/>
          </a:blip>
          <a:srcRect/>
          <a:stretch/>
        </p:blipFill>
        <p:spPr>
          <a:xfrm>
            <a:off x="677322" y="2670548"/>
            <a:ext cx="2074083" cy="876286"/>
          </a:xfrm>
          <a:prstGeom prst="rect">
            <a:avLst/>
          </a:prstGeom>
          <a:noFill/>
          <a:ln>
            <a:noFill/>
          </a:ln>
        </p:spPr>
      </p:pic>
      <p:pic>
        <p:nvPicPr>
          <p:cNvPr id="7" name="Google Shape;166;p18" descr="image.png">
            <a:extLst>
              <a:ext uri="{FF2B5EF4-FFF2-40B4-BE49-F238E27FC236}">
                <a16:creationId xmlns:a16="http://schemas.microsoft.com/office/drawing/2014/main" id="{07D84932-5500-B2D2-876E-894A5A994A3D}"/>
              </a:ext>
            </a:extLst>
          </p:cNvPr>
          <p:cNvPicPr preferRelativeResize="0"/>
          <p:nvPr/>
        </p:nvPicPr>
        <p:blipFill rotWithShape="1">
          <a:blip r:embed="rId4">
            <a:alphaModFix/>
          </a:blip>
          <a:srcRect/>
          <a:stretch/>
        </p:blipFill>
        <p:spPr>
          <a:xfrm>
            <a:off x="8765572" y="2670548"/>
            <a:ext cx="2074083" cy="876286"/>
          </a:xfrm>
          <a:prstGeom prst="rect">
            <a:avLst/>
          </a:prstGeom>
          <a:noFill/>
          <a:ln>
            <a:noFill/>
          </a:ln>
        </p:spPr>
      </p:pic>
      <p:pic>
        <p:nvPicPr>
          <p:cNvPr id="8" name="Google Shape;166;p18" descr="image.png">
            <a:extLst>
              <a:ext uri="{FF2B5EF4-FFF2-40B4-BE49-F238E27FC236}">
                <a16:creationId xmlns:a16="http://schemas.microsoft.com/office/drawing/2014/main" id="{41358053-D8CE-CFA5-86C3-FDC8037BE202}"/>
              </a:ext>
            </a:extLst>
          </p:cNvPr>
          <p:cNvPicPr preferRelativeResize="0"/>
          <p:nvPr/>
        </p:nvPicPr>
        <p:blipFill rotWithShape="1">
          <a:blip r:embed="rId4">
            <a:alphaModFix/>
          </a:blip>
          <a:srcRect/>
          <a:stretch/>
        </p:blipFill>
        <p:spPr>
          <a:xfrm>
            <a:off x="6096000" y="2670548"/>
            <a:ext cx="2074083" cy="876286"/>
          </a:xfrm>
          <a:prstGeom prst="rect">
            <a:avLst/>
          </a:prstGeom>
          <a:noFill/>
          <a:ln>
            <a:noFill/>
          </a:ln>
        </p:spPr>
      </p:pic>
      <p:pic>
        <p:nvPicPr>
          <p:cNvPr id="9" name="Google Shape;166;p18" descr="image.png">
            <a:extLst>
              <a:ext uri="{FF2B5EF4-FFF2-40B4-BE49-F238E27FC236}">
                <a16:creationId xmlns:a16="http://schemas.microsoft.com/office/drawing/2014/main" id="{2065CF0D-9ADE-B9E3-B509-A2E9203972F8}"/>
              </a:ext>
            </a:extLst>
          </p:cNvPr>
          <p:cNvPicPr preferRelativeResize="0"/>
          <p:nvPr/>
        </p:nvPicPr>
        <p:blipFill rotWithShape="1">
          <a:blip r:embed="rId4">
            <a:alphaModFix/>
          </a:blip>
          <a:srcRect/>
          <a:stretch/>
        </p:blipFill>
        <p:spPr>
          <a:xfrm>
            <a:off x="3376652" y="2670549"/>
            <a:ext cx="2074083" cy="876286"/>
          </a:xfrm>
          <a:prstGeom prst="rect">
            <a:avLst/>
          </a:prstGeom>
          <a:noFill/>
          <a:ln>
            <a:noFill/>
          </a:ln>
        </p:spPr>
      </p:pic>
      <p:sp>
        <p:nvSpPr>
          <p:cNvPr id="10" name="Google Shape;173;p18">
            <a:extLst>
              <a:ext uri="{FF2B5EF4-FFF2-40B4-BE49-F238E27FC236}">
                <a16:creationId xmlns:a16="http://schemas.microsoft.com/office/drawing/2014/main" id="{9CA48B30-6E60-46D2-981E-B3B1502AF200}"/>
              </a:ext>
            </a:extLst>
          </p:cNvPr>
          <p:cNvSpPr txBox="1"/>
          <p:nvPr/>
        </p:nvSpPr>
        <p:spPr>
          <a:xfrm>
            <a:off x="6020053" y="2788633"/>
            <a:ext cx="2150030"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Face </a:t>
            </a:r>
            <a:br>
              <a:rPr lang="en-US" sz="1800" b="1" dirty="0">
                <a:solidFill>
                  <a:srgbClr val="16A34A"/>
                </a:solidFill>
                <a:latin typeface="Poppins"/>
                <a:ea typeface="Poppins"/>
                <a:cs typeface="Poppins"/>
                <a:sym typeface="Poppins"/>
              </a:rPr>
            </a:br>
            <a:r>
              <a:rPr lang="en-US" sz="1800" b="1" dirty="0">
                <a:solidFill>
                  <a:srgbClr val="16A34A"/>
                </a:solidFill>
                <a:latin typeface="Poppins"/>
                <a:ea typeface="Poppins"/>
                <a:cs typeface="Poppins"/>
                <a:sym typeface="Poppins"/>
              </a:rPr>
              <a:t>Geometry</a:t>
            </a:r>
            <a:endParaRPr lang="en-US" sz="1000" dirty="0">
              <a:solidFill>
                <a:srgbClr val="16A34A"/>
              </a:solidFill>
            </a:endParaRPr>
          </a:p>
        </p:txBody>
      </p:sp>
      <p:sp>
        <p:nvSpPr>
          <p:cNvPr id="11" name="Google Shape;173;p18">
            <a:extLst>
              <a:ext uri="{FF2B5EF4-FFF2-40B4-BE49-F238E27FC236}">
                <a16:creationId xmlns:a16="http://schemas.microsoft.com/office/drawing/2014/main" id="{4F75BA56-5033-3B49-6434-0E30CCA13C2A}"/>
              </a:ext>
            </a:extLst>
          </p:cNvPr>
          <p:cNvSpPr txBox="1"/>
          <p:nvPr/>
        </p:nvSpPr>
        <p:spPr>
          <a:xfrm>
            <a:off x="3158093" y="2930101"/>
            <a:ext cx="2508379"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dirty="0">
                <a:solidFill>
                  <a:srgbClr val="16A34A"/>
                </a:solidFill>
                <a:latin typeface="Poppins"/>
                <a:ea typeface="Poppins"/>
                <a:cs typeface="Poppins"/>
                <a:sym typeface="Poppins"/>
              </a:rPr>
              <a:t>Eyes</a:t>
            </a:r>
            <a:endParaRPr lang="en-US" sz="1100" dirty="0">
              <a:solidFill>
                <a:srgbClr val="16A34A"/>
              </a:solidFill>
            </a:endParaRPr>
          </a:p>
        </p:txBody>
      </p:sp>
      <p:sp>
        <p:nvSpPr>
          <p:cNvPr id="12" name="Google Shape;173;p18">
            <a:extLst>
              <a:ext uri="{FF2B5EF4-FFF2-40B4-BE49-F238E27FC236}">
                <a16:creationId xmlns:a16="http://schemas.microsoft.com/office/drawing/2014/main" id="{79FE88EB-6E89-7BA9-AFB7-ED3D324C3995}"/>
              </a:ext>
            </a:extLst>
          </p:cNvPr>
          <p:cNvSpPr txBox="1"/>
          <p:nvPr/>
        </p:nvSpPr>
        <p:spPr>
          <a:xfrm>
            <a:off x="8548423" y="2954802"/>
            <a:ext cx="2508379"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dirty="0">
                <a:solidFill>
                  <a:srgbClr val="16A34A"/>
                </a:solidFill>
                <a:latin typeface="Poppins"/>
                <a:ea typeface="Poppins"/>
                <a:cs typeface="Poppins"/>
                <a:sym typeface="Poppins"/>
              </a:rPr>
              <a:t>Lighting</a:t>
            </a:r>
            <a:endParaRPr sz="1050" dirty="0">
              <a:solidFill>
                <a:srgbClr val="16A34A"/>
              </a:solidFill>
            </a:endParaRPr>
          </a:p>
        </p:txBody>
      </p:sp>
      <p:sp>
        <p:nvSpPr>
          <p:cNvPr id="13" name="Google Shape;173;p18">
            <a:extLst>
              <a:ext uri="{FF2B5EF4-FFF2-40B4-BE49-F238E27FC236}">
                <a16:creationId xmlns:a16="http://schemas.microsoft.com/office/drawing/2014/main" id="{3BAD4C7A-C6D0-F2AD-F6B5-48494A471535}"/>
              </a:ext>
            </a:extLst>
          </p:cNvPr>
          <p:cNvSpPr txBox="1"/>
          <p:nvPr/>
        </p:nvSpPr>
        <p:spPr>
          <a:xfrm>
            <a:off x="461585" y="2930101"/>
            <a:ext cx="2508379"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dirty="0">
                <a:solidFill>
                  <a:srgbClr val="16A34A"/>
                </a:solidFill>
                <a:latin typeface="Poppins"/>
                <a:ea typeface="Poppins"/>
                <a:cs typeface="Poppins"/>
                <a:sym typeface="Poppins"/>
              </a:rPr>
              <a:t>Texture</a:t>
            </a:r>
            <a:endParaRPr sz="1100" dirty="0">
              <a:solidFill>
                <a:srgbClr val="16A34A"/>
              </a:solidFill>
            </a:endParaRPr>
          </a:p>
        </p:txBody>
      </p:sp>
      <p:pic>
        <p:nvPicPr>
          <p:cNvPr id="14" name="Google Shape;166;p18" descr="image.png">
            <a:extLst>
              <a:ext uri="{FF2B5EF4-FFF2-40B4-BE49-F238E27FC236}">
                <a16:creationId xmlns:a16="http://schemas.microsoft.com/office/drawing/2014/main" id="{22AF00DF-8B56-14FB-0E8B-4F3AA2BF3AE3}"/>
              </a:ext>
            </a:extLst>
          </p:cNvPr>
          <p:cNvPicPr preferRelativeResize="0"/>
          <p:nvPr/>
        </p:nvPicPr>
        <p:blipFill rotWithShape="1">
          <a:blip r:embed="rId4">
            <a:alphaModFix/>
          </a:blip>
          <a:srcRect/>
          <a:stretch/>
        </p:blipFill>
        <p:spPr>
          <a:xfrm>
            <a:off x="1292539" y="5145434"/>
            <a:ext cx="4391994" cy="1331501"/>
          </a:xfrm>
          <a:prstGeom prst="rect">
            <a:avLst/>
          </a:prstGeom>
          <a:noFill/>
          <a:ln>
            <a:noFill/>
          </a:ln>
        </p:spPr>
      </p:pic>
      <p:pic>
        <p:nvPicPr>
          <p:cNvPr id="15" name="Google Shape;166;p18" descr="image.png">
            <a:extLst>
              <a:ext uri="{FF2B5EF4-FFF2-40B4-BE49-F238E27FC236}">
                <a16:creationId xmlns:a16="http://schemas.microsoft.com/office/drawing/2014/main" id="{FBB888D6-0C82-37CD-C048-24DF4608DC5E}"/>
              </a:ext>
            </a:extLst>
          </p:cNvPr>
          <p:cNvPicPr preferRelativeResize="0"/>
          <p:nvPr/>
        </p:nvPicPr>
        <p:blipFill rotWithShape="1">
          <a:blip r:embed="rId4">
            <a:alphaModFix/>
          </a:blip>
          <a:srcRect/>
          <a:stretch/>
        </p:blipFill>
        <p:spPr>
          <a:xfrm>
            <a:off x="6352496" y="5139832"/>
            <a:ext cx="4391994" cy="1331501"/>
          </a:xfrm>
          <a:prstGeom prst="rect">
            <a:avLst/>
          </a:prstGeom>
          <a:noFill/>
          <a:ln>
            <a:noFill/>
          </a:ln>
        </p:spPr>
      </p:pic>
      <p:sp>
        <p:nvSpPr>
          <p:cNvPr id="16" name="Google Shape;173;p18">
            <a:extLst>
              <a:ext uri="{FF2B5EF4-FFF2-40B4-BE49-F238E27FC236}">
                <a16:creationId xmlns:a16="http://schemas.microsoft.com/office/drawing/2014/main" id="{EC2BE13C-1A84-5EE8-66D6-9A7BBBE10F5E}"/>
              </a:ext>
            </a:extLst>
          </p:cNvPr>
          <p:cNvSpPr txBox="1"/>
          <p:nvPr/>
        </p:nvSpPr>
        <p:spPr>
          <a:xfrm>
            <a:off x="1183357" y="5371835"/>
            <a:ext cx="2508379"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dirty="0">
                <a:solidFill>
                  <a:schemeClr val="tx1"/>
                </a:solidFill>
                <a:latin typeface="Poppins" panose="00000500000000000000" pitchFamily="2" charset="0"/>
                <a:cs typeface="Poppins" panose="00000500000000000000" pitchFamily="2" charset="0"/>
              </a:rPr>
              <a:t>Xception (Model 1)</a:t>
            </a:r>
            <a:endParaRPr sz="1600" b="1" dirty="0">
              <a:solidFill>
                <a:schemeClr val="tx1"/>
              </a:solidFill>
              <a:latin typeface="Poppins" panose="00000500000000000000" pitchFamily="2" charset="0"/>
              <a:cs typeface="Poppins" panose="00000500000000000000" pitchFamily="2" charset="0"/>
            </a:endParaRPr>
          </a:p>
        </p:txBody>
      </p:sp>
      <p:sp>
        <p:nvSpPr>
          <p:cNvPr id="18" name="Google Shape;173;p18">
            <a:extLst>
              <a:ext uri="{FF2B5EF4-FFF2-40B4-BE49-F238E27FC236}">
                <a16:creationId xmlns:a16="http://schemas.microsoft.com/office/drawing/2014/main" id="{FC5F12E4-2E21-8CD3-908F-1FD9DAD6161B}"/>
              </a:ext>
            </a:extLst>
          </p:cNvPr>
          <p:cNvSpPr txBox="1"/>
          <p:nvPr/>
        </p:nvSpPr>
        <p:spPr>
          <a:xfrm>
            <a:off x="6429887" y="5310804"/>
            <a:ext cx="2508379"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dirty="0">
                <a:solidFill>
                  <a:schemeClr val="tx1"/>
                </a:solidFill>
                <a:latin typeface="Poppins" panose="00000500000000000000" pitchFamily="2" charset="0"/>
                <a:cs typeface="Poppins" panose="00000500000000000000" pitchFamily="2" charset="0"/>
              </a:rPr>
              <a:t>Xception ++ (Model 2)</a:t>
            </a:r>
            <a:endParaRPr sz="1600" b="1" dirty="0">
              <a:solidFill>
                <a:schemeClr val="tx1"/>
              </a:solidFill>
              <a:latin typeface="Poppins" panose="00000500000000000000" pitchFamily="2" charset="0"/>
              <a:cs typeface="Poppins" panose="00000500000000000000" pitchFamily="2" charset="0"/>
            </a:endParaRPr>
          </a:p>
        </p:txBody>
      </p:sp>
      <p:sp>
        <p:nvSpPr>
          <p:cNvPr id="19" name="Google Shape;173;p18">
            <a:extLst>
              <a:ext uri="{FF2B5EF4-FFF2-40B4-BE49-F238E27FC236}">
                <a16:creationId xmlns:a16="http://schemas.microsoft.com/office/drawing/2014/main" id="{BB958B1D-3ED8-3446-A1D6-6CCA83802F38}"/>
              </a:ext>
            </a:extLst>
          </p:cNvPr>
          <p:cNvSpPr txBox="1"/>
          <p:nvPr/>
        </p:nvSpPr>
        <p:spPr>
          <a:xfrm>
            <a:off x="1557037" y="5790877"/>
            <a:ext cx="3639229" cy="492443"/>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600" dirty="0">
                <a:solidFill>
                  <a:schemeClr val="tx1"/>
                </a:solidFill>
                <a:latin typeface="Lato" panose="020F0502020204030203" pitchFamily="34" charset="0"/>
                <a:ea typeface="Lato" panose="020F0502020204030203" pitchFamily="34" charset="0"/>
                <a:cs typeface="Lato" panose="020F0502020204030203" pitchFamily="34" charset="0"/>
              </a:rPr>
              <a:t>It is a model trained on publicly available dataset</a:t>
            </a:r>
            <a:endParaRPr sz="1600"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0" name="Google Shape;173;p18">
            <a:extLst>
              <a:ext uri="{FF2B5EF4-FFF2-40B4-BE49-F238E27FC236}">
                <a16:creationId xmlns:a16="http://schemas.microsoft.com/office/drawing/2014/main" id="{77216D52-1909-7A55-A3C7-E2A4073AA0C1}"/>
              </a:ext>
            </a:extLst>
          </p:cNvPr>
          <p:cNvSpPr txBox="1"/>
          <p:nvPr/>
        </p:nvSpPr>
        <p:spPr>
          <a:xfrm>
            <a:off x="6586237" y="5712117"/>
            <a:ext cx="3639229" cy="492443"/>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1600" dirty="0">
                <a:solidFill>
                  <a:schemeClr val="tx1"/>
                </a:solidFill>
                <a:latin typeface="Lato" panose="020F0502020204030203" pitchFamily="34" charset="0"/>
                <a:ea typeface="Lato" panose="020F0502020204030203" pitchFamily="34" charset="0"/>
                <a:cs typeface="Lato" panose="020F0502020204030203" pitchFamily="34" charset="0"/>
              </a:rPr>
              <a:t>It is a model trained specially on high-quality self collected dataset</a:t>
            </a:r>
            <a:endParaRPr sz="1600"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5" name="TextBox 24">
            <a:extLst>
              <a:ext uri="{FF2B5EF4-FFF2-40B4-BE49-F238E27FC236}">
                <a16:creationId xmlns:a16="http://schemas.microsoft.com/office/drawing/2014/main" id="{5DBD38B2-A405-F9A2-E3EE-B818EFC48A24}"/>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25D9843E-79E1-458A-3F2A-5D79BF6FDE32}"/>
            </a:ext>
          </a:extLst>
        </p:cNvPr>
        <p:cNvGrpSpPr/>
        <p:nvPr/>
      </p:nvGrpSpPr>
      <p:grpSpPr>
        <a:xfrm>
          <a:off x="0" y="0"/>
          <a:ext cx="0" cy="0"/>
          <a:chOff x="0" y="0"/>
          <a:chExt cx="0" cy="0"/>
        </a:xfrm>
      </p:grpSpPr>
      <p:sp>
        <p:nvSpPr>
          <p:cNvPr id="184" name="Google Shape;184;p19">
            <a:extLst>
              <a:ext uri="{FF2B5EF4-FFF2-40B4-BE49-F238E27FC236}">
                <a16:creationId xmlns:a16="http://schemas.microsoft.com/office/drawing/2014/main" id="{43A5F23D-CAD3-F67A-40E0-EDA596F3248F}"/>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Preprocessing &amp; Selection</a:t>
            </a:r>
            <a:endParaRPr dirty="0"/>
          </a:p>
        </p:txBody>
      </p:sp>
      <p:sp>
        <p:nvSpPr>
          <p:cNvPr id="185" name="Google Shape;185;p19">
            <a:extLst>
              <a:ext uri="{FF2B5EF4-FFF2-40B4-BE49-F238E27FC236}">
                <a16:creationId xmlns:a16="http://schemas.microsoft.com/office/drawing/2014/main" id="{2AF6392E-5730-B475-AC4C-0F6907E655F4}"/>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64D75D8A-6271-3732-7CA7-9F6F99399A61}"/>
              </a:ext>
            </a:extLst>
          </p:cNvPr>
          <p:cNvSpPr txBox="1"/>
          <p:nvPr/>
        </p:nvSpPr>
        <p:spPr>
          <a:xfrm>
            <a:off x="595489" y="1679405"/>
            <a:ext cx="11367911" cy="3908762"/>
          </a:xfrm>
          <a:prstGeom prst="rect">
            <a:avLst/>
          </a:prstGeom>
          <a:noFill/>
        </p:spPr>
        <p:txBody>
          <a:bodyPr wrap="square">
            <a:spAutoFit/>
          </a:bodyPr>
          <a:lstStyle/>
          <a:p>
            <a:pPr>
              <a:buNone/>
            </a:pPr>
            <a:r>
              <a:rPr lang="en-US" sz="2400" b="1" dirty="0">
                <a:solidFill>
                  <a:srgbClr val="1E3A8A"/>
                </a:solidFill>
                <a:latin typeface="Poppins" panose="00000500000000000000" pitchFamily="2" charset="0"/>
                <a:cs typeface="Poppins" panose="00000500000000000000" pitchFamily="2" charset="0"/>
              </a:rPr>
              <a:t>Cloud Fine-Tuning Environment</a:t>
            </a:r>
            <a:br>
              <a:rPr lang="en-US" sz="2400" b="1" dirty="0">
                <a:solidFill>
                  <a:srgbClr val="1E3A8A"/>
                </a:solidFill>
                <a:latin typeface="Poppins" panose="00000500000000000000" pitchFamily="2" charset="0"/>
                <a:cs typeface="Poppins" panose="00000500000000000000" pitchFamily="2" charset="0"/>
              </a:rPr>
            </a:br>
            <a:endParaRPr lang="en-US" sz="2400" dirty="0">
              <a:solidFill>
                <a:srgbClr val="1E3A8A"/>
              </a:solidFill>
            </a:endParaRPr>
          </a:p>
          <a:p>
            <a:pPr>
              <a:buFont typeface="Arial" panose="020B0604020202020204" pitchFamily="34" charset="0"/>
              <a:buChar char="•"/>
            </a:pPr>
            <a:r>
              <a:rPr lang="en-US" sz="2000" dirty="0"/>
              <a:t> Our models were Trained on high-VRAM </a:t>
            </a:r>
            <a:r>
              <a:rPr lang="en-US" sz="2000" b="1" dirty="0"/>
              <a:t>NVIDIA T4 Tensor Core GPUs </a:t>
            </a:r>
            <a:r>
              <a:rPr lang="en-US" sz="2000" dirty="0"/>
              <a:t>provided by </a:t>
            </a:r>
            <a:r>
              <a:rPr lang="en-US" sz="2000" dirty="0" err="1"/>
              <a:t>Colab</a:t>
            </a:r>
            <a:r>
              <a:rPr lang="en-US" sz="2000" dirty="0"/>
              <a:t>. </a:t>
            </a:r>
            <a:r>
              <a:rPr lang="en-US" sz="2000" dirty="0" err="1"/>
              <a:t>Colab</a:t>
            </a:r>
            <a:r>
              <a:rPr lang="en-US" sz="2000" dirty="0"/>
              <a:t> is an environment provided by google for the training of AI models</a:t>
            </a:r>
            <a:br>
              <a:rPr lang="en-US" sz="2000" dirty="0"/>
            </a:br>
            <a:br>
              <a:rPr lang="en-US" sz="2000" dirty="0"/>
            </a:br>
            <a:endParaRPr lang="en-US" sz="2000" dirty="0"/>
          </a:p>
          <a:p>
            <a:pPr>
              <a:buFont typeface="Arial" panose="020B0604020202020204" pitchFamily="34" charset="0"/>
              <a:buChar char="•"/>
            </a:pPr>
            <a:r>
              <a:rPr lang="en-US" sz="2000" dirty="0"/>
              <a:t> We trained two models for our app:</a:t>
            </a:r>
            <a:br>
              <a:rPr lang="en-US" sz="2000" dirty="0"/>
            </a:br>
            <a:br>
              <a:rPr lang="en-US" sz="2000" dirty="0"/>
            </a:br>
            <a:r>
              <a:rPr lang="en-US" sz="2000" dirty="0"/>
              <a:t>Our first model was trained on publically provided Kaggle datasets. The second model was trained on custom built dataset. The purpose of training the second model is to improve the accuracy by using the fake images from the well-known high-quality models such as nano banana, sora and grok.</a:t>
            </a:r>
          </a:p>
        </p:txBody>
      </p:sp>
      <p:sp>
        <p:nvSpPr>
          <p:cNvPr id="5" name="Google Shape;173;p18">
            <a:extLst>
              <a:ext uri="{FF2B5EF4-FFF2-40B4-BE49-F238E27FC236}">
                <a16:creationId xmlns:a16="http://schemas.microsoft.com/office/drawing/2014/main" id="{718CE3BA-6569-66E4-F2FB-A3E707950877}"/>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3908251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CD9BE29B-E560-6BB9-A57C-FB20D022374C}"/>
            </a:ext>
          </a:extLst>
        </p:cNvPr>
        <p:cNvGrpSpPr/>
        <p:nvPr/>
      </p:nvGrpSpPr>
      <p:grpSpPr>
        <a:xfrm>
          <a:off x="0" y="0"/>
          <a:ext cx="0" cy="0"/>
          <a:chOff x="0" y="0"/>
          <a:chExt cx="0" cy="0"/>
        </a:xfrm>
      </p:grpSpPr>
      <p:pic>
        <p:nvPicPr>
          <p:cNvPr id="196" name="Google Shape;196;p20" descr="image.png">
            <a:extLst>
              <a:ext uri="{FF2B5EF4-FFF2-40B4-BE49-F238E27FC236}">
                <a16:creationId xmlns:a16="http://schemas.microsoft.com/office/drawing/2014/main" id="{66FDB5F6-D739-5BCA-52CF-BD730FFA0857}"/>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7" name="Google Shape;197;p20" descr="image.png">
            <a:extLst>
              <a:ext uri="{FF2B5EF4-FFF2-40B4-BE49-F238E27FC236}">
                <a16:creationId xmlns:a16="http://schemas.microsoft.com/office/drawing/2014/main" id="{0746390D-D987-1E9A-F970-C6B894DF1090}"/>
              </a:ext>
            </a:extLst>
          </p:cNvPr>
          <p:cNvPicPr preferRelativeResize="0"/>
          <p:nvPr/>
        </p:nvPicPr>
        <p:blipFill rotWithShape="1">
          <a:blip r:embed="rId4">
            <a:alphaModFix/>
          </a:blip>
          <a:srcRect/>
          <a:stretch/>
        </p:blipFill>
        <p:spPr>
          <a:xfrm>
            <a:off x="762000" y="2647950"/>
            <a:ext cx="5095875" cy="2933700"/>
          </a:xfrm>
          <a:prstGeom prst="rect">
            <a:avLst/>
          </a:prstGeom>
          <a:noFill/>
          <a:ln>
            <a:noFill/>
          </a:ln>
        </p:spPr>
      </p:pic>
      <p:pic>
        <p:nvPicPr>
          <p:cNvPr id="198" name="Google Shape;198;p20" descr="image.png">
            <a:extLst>
              <a:ext uri="{FF2B5EF4-FFF2-40B4-BE49-F238E27FC236}">
                <a16:creationId xmlns:a16="http://schemas.microsoft.com/office/drawing/2014/main" id="{9047D913-B040-255A-ECCE-A5B87752FB9B}"/>
              </a:ext>
            </a:extLst>
          </p:cNvPr>
          <p:cNvPicPr preferRelativeResize="0"/>
          <p:nvPr/>
        </p:nvPicPr>
        <p:blipFill rotWithShape="1">
          <a:blip r:embed="rId5">
            <a:alphaModFix/>
          </a:blip>
          <a:srcRect/>
          <a:stretch/>
        </p:blipFill>
        <p:spPr>
          <a:xfrm>
            <a:off x="6334125" y="2647950"/>
            <a:ext cx="5095875" cy="2933700"/>
          </a:xfrm>
          <a:prstGeom prst="rect">
            <a:avLst/>
          </a:prstGeom>
          <a:noFill/>
          <a:ln>
            <a:noFill/>
          </a:ln>
        </p:spPr>
      </p:pic>
      <p:sp>
        <p:nvSpPr>
          <p:cNvPr id="199" name="Google Shape;199;p20">
            <a:extLst>
              <a:ext uri="{FF2B5EF4-FFF2-40B4-BE49-F238E27FC236}">
                <a16:creationId xmlns:a16="http://schemas.microsoft.com/office/drawing/2014/main" id="{EFC51526-C857-EA41-DA30-12311D6A70DC}"/>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Smart Logic Gates</a:t>
            </a:r>
            <a:endParaRPr dirty="0"/>
          </a:p>
        </p:txBody>
      </p:sp>
      <p:sp>
        <p:nvSpPr>
          <p:cNvPr id="200" name="Google Shape;200;p20">
            <a:extLst>
              <a:ext uri="{FF2B5EF4-FFF2-40B4-BE49-F238E27FC236}">
                <a16:creationId xmlns:a16="http://schemas.microsoft.com/office/drawing/2014/main" id="{BA2A0061-C382-B3DD-52BA-22B88F173016}"/>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1" name="Google Shape;201;p20">
            <a:extLst>
              <a:ext uri="{FF2B5EF4-FFF2-40B4-BE49-F238E27FC236}">
                <a16:creationId xmlns:a16="http://schemas.microsoft.com/office/drawing/2014/main" id="{74A99801-9B51-6E2C-66B4-3D2C84E1A3C8}"/>
              </a:ext>
            </a:extLst>
          </p:cNvPr>
          <p:cNvSpPr txBox="1"/>
          <p:nvPr/>
        </p:nvSpPr>
        <p:spPr>
          <a:xfrm>
            <a:off x="762000" y="1885950"/>
            <a:ext cx="10668000" cy="34624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chemeClr val="tx1"/>
                </a:solidFill>
                <a:latin typeface="Poppins" panose="00000500000000000000" pitchFamily="2" charset="0"/>
                <a:ea typeface="Lato"/>
                <a:cs typeface="Poppins" panose="00000500000000000000" pitchFamily="2" charset="0"/>
                <a:sym typeface="Lato"/>
              </a:rPr>
              <a:t>To eliminate false positives and handle poor data quality, two critical "gates" were engineered into the system:</a:t>
            </a:r>
            <a:endParaRPr dirty="0">
              <a:solidFill>
                <a:schemeClr val="tx1"/>
              </a:solidFill>
              <a:latin typeface="Poppins" panose="00000500000000000000" pitchFamily="2" charset="0"/>
              <a:cs typeface="Poppins" panose="00000500000000000000" pitchFamily="2" charset="0"/>
            </a:endParaRPr>
          </a:p>
        </p:txBody>
      </p:sp>
      <p:pic>
        <p:nvPicPr>
          <p:cNvPr id="202" name="Google Shape;202;p20" descr="image.png">
            <a:extLst>
              <a:ext uri="{FF2B5EF4-FFF2-40B4-BE49-F238E27FC236}">
                <a16:creationId xmlns:a16="http://schemas.microsoft.com/office/drawing/2014/main" id="{989331B2-5F3F-0A23-609D-5D24F6074DB4}"/>
              </a:ext>
            </a:extLst>
          </p:cNvPr>
          <p:cNvPicPr preferRelativeResize="0"/>
          <p:nvPr/>
        </p:nvPicPr>
        <p:blipFill rotWithShape="1">
          <a:blip r:embed="rId6">
            <a:alphaModFix/>
          </a:blip>
          <a:srcRect/>
          <a:stretch/>
        </p:blipFill>
        <p:spPr>
          <a:xfrm>
            <a:off x="1057275" y="2943225"/>
            <a:ext cx="428625" cy="342900"/>
          </a:xfrm>
          <a:prstGeom prst="rect">
            <a:avLst/>
          </a:prstGeom>
          <a:noFill/>
          <a:ln>
            <a:noFill/>
          </a:ln>
        </p:spPr>
      </p:pic>
      <p:sp>
        <p:nvSpPr>
          <p:cNvPr id="203" name="Google Shape;203;p20">
            <a:extLst>
              <a:ext uri="{FF2B5EF4-FFF2-40B4-BE49-F238E27FC236}">
                <a16:creationId xmlns:a16="http://schemas.microsoft.com/office/drawing/2014/main" id="{BD35CA49-DFA1-CB9E-B1E7-2FFC5F998D38}"/>
              </a:ext>
            </a:extLst>
          </p:cNvPr>
          <p:cNvSpPr txBox="1"/>
          <p:nvPr/>
        </p:nvSpPr>
        <p:spPr>
          <a:xfrm>
            <a:off x="1057275" y="3429000"/>
            <a:ext cx="473059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1E3A8A"/>
                </a:solidFill>
                <a:latin typeface="Poppins"/>
                <a:ea typeface="Poppins"/>
                <a:cs typeface="Poppins"/>
                <a:sym typeface="Poppins"/>
              </a:rPr>
              <a:t>Non-Face Filter</a:t>
            </a:r>
            <a:endParaRPr dirty="0"/>
          </a:p>
        </p:txBody>
      </p:sp>
      <p:sp>
        <p:nvSpPr>
          <p:cNvPr id="204" name="Google Shape;204;p20">
            <a:extLst>
              <a:ext uri="{FF2B5EF4-FFF2-40B4-BE49-F238E27FC236}">
                <a16:creationId xmlns:a16="http://schemas.microsoft.com/office/drawing/2014/main" id="{29A8B4DD-0F1A-0615-E474-C934FAAF1392}"/>
              </a:ext>
            </a:extLst>
          </p:cNvPr>
          <p:cNvSpPr txBox="1"/>
          <p:nvPr/>
        </p:nvSpPr>
        <p:spPr>
          <a:xfrm>
            <a:off x="1057275" y="3952875"/>
            <a:ext cx="4505325" cy="13849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chemeClr val="tx1"/>
                </a:solidFill>
                <a:latin typeface="Lato"/>
                <a:ea typeface="Lato"/>
                <a:cs typeface="Lato"/>
                <a:sym typeface="Lato"/>
              </a:rPr>
              <a:t>Uses MTCNN-based detection. If the system fails to detect a high-confidence human face, it bypasses neural inference to classify the content as "Non-Photographic."</a:t>
            </a:r>
            <a:endParaRPr dirty="0">
              <a:solidFill>
                <a:schemeClr val="tx1"/>
              </a:solidFill>
            </a:endParaRPr>
          </a:p>
        </p:txBody>
      </p:sp>
      <p:pic>
        <p:nvPicPr>
          <p:cNvPr id="205" name="Google Shape;205;p20" descr="image.png">
            <a:extLst>
              <a:ext uri="{FF2B5EF4-FFF2-40B4-BE49-F238E27FC236}">
                <a16:creationId xmlns:a16="http://schemas.microsoft.com/office/drawing/2014/main" id="{2D9CC204-2931-72DE-E549-2763BB967B0A}"/>
              </a:ext>
            </a:extLst>
          </p:cNvPr>
          <p:cNvPicPr preferRelativeResize="0"/>
          <p:nvPr/>
        </p:nvPicPr>
        <p:blipFill rotWithShape="1">
          <a:blip r:embed="rId7">
            <a:alphaModFix/>
          </a:blip>
          <a:srcRect/>
          <a:stretch/>
        </p:blipFill>
        <p:spPr>
          <a:xfrm>
            <a:off x="6629400" y="2943225"/>
            <a:ext cx="304800" cy="342900"/>
          </a:xfrm>
          <a:prstGeom prst="rect">
            <a:avLst/>
          </a:prstGeom>
          <a:noFill/>
          <a:ln>
            <a:noFill/>
          </a:ln>
        </p:spPr>
      </p:pic>
      <p:sp>
        <p:nvSpPr>
          <p:cNvPr id="206" name="Google Shape;206;p20">
            <a:extLst>
              <a:ext uri="{FF2B5EF4-FFF2-40B4-BE49-F238E27FC236}">
                <a16:creationId xmlns:a16="http://schemas.microsoft.com/office/drawing/2014/main" id="{06FAA7E5-01EC-EA67-957E-B1B234C8EAE5}"/>
              </a:ext>
            </a:extLst>
          </p:cNvPr>
          <p:cNvSpPr txBox="1"/>
          <p:nvPr/>
        </p:nvSpPr>
        <p:spPr>
          <a:xfrm>
            <a:off x="6629400" y="3429000"/>
            <a:ext cx="473059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3A8A"/>
                </a:solidFill>
                <a:latin typeface="Poppins"/>
                <a:ea typeface="Poppins"/>
                <a:cs typeface="Poppins"/>
                <a:sym typeface="Poppins"/>
              </a:rPr>
              <a:t>Quality-Aware Logic</a:t>
            </a:r>
            <a:endParaRPr/>
          </a:p>
        </p:txBody>
      </p:sp>
      <p:sp>
        <p:nvSpPr>
          <p:cNvPr id="207" name="Google Shape;207;p20">
            <a:extLst>
              <a:ext uri="{FF2B5EF4-FFF2-40B4-BE49-F238E27FC236}">
                <a16:creationId xmlns:a16="http://schemas.microsoft.com/office/drawing/2014/main" id="{42DCCADC-2BDE-3291-7E86-21F040EECBC7}"/>
              </a:ext>
            </a:extLst>
          </p:cNvPr>
          <p:cNvSpPr txBox="1"/>
          <p:nvPr/>
        </p:nvSpPr>
        <p:spPr>
          <a:xfrm>
            <a:off x="6629400" y="3952875"/>
            <a:ext cx="4505325" cy="1038746"/>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chemeClr val="tx1"/>
                </a:solidFill>
                <a:latin typeface="Lato"/>
                <a:ea typeface="Lato"/>
                <a:cs typeface="Lato"/>
                <a:sym typeface="Lato"/>
              </a:rPr>
              <a:t>Solves the "WhatsApp Problem." It crops the human face then calculates sharpness. If quality is too low, it issues a reliability warning to the investigator.</a:t>
            </a:r>
            <a:endParaRPr dirty="0">
              <a:solidFill>
                <a:schemeClr val="tx1"/>
              </a:solidFill>
            </a:endParaRPr>
          </a:p>
        </p:txBody>
      </p:sp>
      <p:sp>
        <p:nvSpPr>
          <p:cNvPr id="2" name="TextBox 1">
            <a:extLst>
              <a:ext uri="{FF2B5EF4-FFF2-40B4-BE49-F238E27FC236}">
                <a16:creationId xmlns:a16="http://schemas.microsoft.com/office/drawing/2014/main" id="{4AC6317E-089C-B063-CEAF-A009E7F3F1D8}"/>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601120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9" name="Google Shape;199;p20"/>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Smart Logic Gates</a:t>
            </a:r>
            <a:endParaRPr dirty="0"/>
          </a:p>
        </p:txBody>
      </p:sp>
      <p:sp>
        <p:nvSpPr>
          <p:cNvPr id="200" name="Google Shape;200;p20"/>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1" name="Google Shape;201;p20"/>
          <p:cNvSpPr txBox="1"/>
          <p:nvPr/>
        </p:nvSpPr>
        <p:spPr>
          <a:xfrm>
            <a:off x="609600" y="1562427"/>
            <a:ext cx="10668000"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dirty="0">
                <a:solidFill>
                  <a:schemeClr val="tx1"/>
                </a:solidFill>
                <a:latin typeface="Poppins" panose="00000500000000000000" pitchFamily="2" charset="0"/>
                <a:ea typeface="Lato"/>
                <a:cs typeface="Poppins" panose="00000500000000000000" pitchFamily="2" charset="0"/>
                <a:sym typeface="Lato"/>
              </a:rPr>
              <a:t>To eliminate false results and handle poor data quality, two critical "gates" were </a:t>
            </a:r>
            <a:r>
              <a:rPr lang="en-US" sz="1800" dirty="0">
                <a:solidFill>
                  <a:schemeClr val="tx1"/>
                </a:solidFill>
                <a:latin typeface="Poppins" panose="00000500000000000000" pitchFamily="2" charset="0"/>
                <a:ea typeface="Lato"/>
                <a:cs typeface="Poppins" panose="00000500000000000000" pitchFamily="2" charset="0"/>
                <a:sym typeface="Lato"/>
              </a:rPr>
              <a:t>created</a:t>
            </a:r>
            <a:r>
              <a:rPr lang="en-US" sz="1800" b="0" i="0" u="none" strike="noStrike" cap="none" dirty="0">
                <a:solidFill>
                  <a:schemeClr val="tx1"/>
                </a:solidFill>
                <a:latin typeface="Poppins" panose="00000500000000000000" pitchFamily="2" charset="0"/>
                <a:ea typeface="Lato"/>
                <a:cs typeface="Poppins" panose="00000500000000000000" pitchFamily="2" charset="0"/>
                <a:sym typeface="Lato"/>
              </a:rPr>
              <a:t> into the system:</a:t>
            </a:r>
            <a:endParaRPr sz="1800" dirty="0">
              <a:solidFill>
                <a:schemeClr val="tx1"/>
              </a:solidFill>
              <a:latin typeface="Poppins" panose="00000500000000000000" pitchFamily="2" charset="0"/>
              <a:cs typeface="Poppins" panose="00000500000000000000" pitchFamily="2" charset="0"/>
            </a:endParaRPr>
          </a:p>
        </p:txBody>
      </p:sp>
      <p:sp>
        <p:nvSpPr>
          <p:cNvPr id="204" name="Google Shape;204;p20"/>
          <p:cNvSpPr txBox="1"/>
          <p:nvPr/>
        </p:nvSpPr>
        <p:spPr>
          <a:xfrm>
            <a:off x="1069965" y="3263801"/>
            <a:ext cx="4284785" cy="23083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000" b="0" i="0" u="none" strike="noStrike" cap="none" dirty="0">
                <a:solidFill>
                  <a:schemeClr val="tx1"/>
                </a:solidFill>
                <a:latin typeface="Lato"/>
                <a:ea typeface="Lato"/>
                <a:cs typeface="Lato"/>
                <a:sym typeface="Lato"/>
              </a:rPr>
              <a:t>We will Use MTCNN-based detection. It is an library that detects human face in an image, If no face image is founded it label the picture as 100% fake"</a:t>
            </a:r>
            <a:endParaRPr sz="2000" dirty="0">
              <a:solidFill>
                <a:schemeClr val="tx1"/>
              </a:solidFill>
            </a:endParaRPr>
          </a:p>
        </p:txBody>
      </p:sp>
      <p:sp>
        <p:nvSpPr>
          <p:cNvPr id="207" name="Google Shape;207;p20"/>
          <p:cNvSpPr txBox="1"/>
          <p:nvPr/>
        </p:nvSpPr>
        <p:spPr>
          <a:xfrm>
            <a:off x="6520712" y="2803699"/>
            <a:ext cx="4505325" cy="323165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000" dirty="0">
                <a:solidFill>
                  <a:schemeClr val="tx1"/>
                </a:solidFill>
                <a:latin typeface="Lato"/>
                <a:ea typeface="Lato"/>
                <a:cs typeface="Lato"/>
                <a:sym typeface="Lato"/>
              </a:rPr>
              <a:t>T</a:t>
            </a:r>
            <a:r>
              <a:rPr lang="en-US" sz="2000" b="0" i="0" u="none" strike="noStrike" cap="none" dirty="0">
                <a:solidFill>
                  <a:schemeClr val="tx1"/>
                </a:solidFill>
                <a:latin typeface="Lato"/>
                <a:ea typeface="Lato"/>
                <a:cs typeface="Lato"/>
                <a:sym typeface="Lato"/>
              </a:rPr>
              <a:t>he "WhatsApp Problem" means to remove low quality images that get created after the image is shared on WhatsApp. It crops the human face then </a:t>
            </a:r>
            <a:r>
              <a:rPr lang="en-US" sz="2000" dirty="0">
                <a:solidFill>
                  <a:schemeClr val="tx1"/>
                </a:solidFill>
                <a:latin typeface="Lato"/>
                <a:ea typeface="Lato"/>
                <a:cs typeface="Lato"/>
                <a:sym typeface="Lato"/>
              </a:rPr>
              <a:t>checks the quality</a:t>
            </a:r>
            <a:r>
              <a:rPr lang="en-US" sz="2000" b="0" i="0" u="none" strike="noStrike" cap="none" dirty="0">
                <a:solidFill>
                  <a:schemeClr val="tx1"/>
                </a:solidFill>
                <a:latin typeface="Lato"/>
                <a:ea typeface="Lato"/>
                <a:cs typeface="Lato"/>
                <a:sym typeface="Lato"/>
              </a:rPr>
              <a:t>. If quality is too low, it issues a reliability warning to the investigator.</a:t>
            </a:r>
            <a:endParaRPr sz="2000" dirty="0">
              <a:solidFill>
                <a:schemeClr val="tx1"/>
              </a:solidFill>
            </a:endParaRPr>
          </a:p>
        </p:txBody>
      </p:sp>
      <p:sp>
        <p:nvSpPr>
          <p:cNvPr id="3" name="Google Shape;173;p18">
            <a:extLst>
              <a:ext uri="{FF2B5EF4-FFF2-40B4-BE49-F238E27FC236}">
                <a16:creationId xmlns:a16="http://schemas.microsoft.com/office/drawing/2014/main" id="{7F82B2B0-E07A-7BBA-6F50-6F24C4A199D7}"/>
              </a:ext>
            </a:extLst>
          </p:cNvPr>
          <p:cNvSpPr txBox="1"/>
          <p:nvPr/>
        </p:nvSpPr>
        <p:spPr>
          <a:xfrm>
            <a:off x="0" y="147251"/>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3871296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3" name="Google Shape;213;p21" descr="image.png"/>
          <p:cNvPicPr preferRelativeResize="0"/>
          <p:nvPr/>
        </p:nvPicPr>
        <p:blipFill rotWithShape="1">
          <a:blip r:embed="rId4">
            <a:alphaModFix/>
          </a:blip>
          <a:srcRect/>
          <a:stretch/>
        </p:blipFill>
        <p:spPr>
          <a:xfrm>
            <a:off x="762000" y="2362200"/>
            <a:ext cx="10668000" cy="1628775"/>
          </a:xfrm>
          <a:prstGeom prst="rect">
            <a:avLst/>
          </a:prstGeom>
          <a:noFill/>
          <a:ln>
            <a:noFill/>
          </a:ln>
        </p:spPr>
      </p:pic>
      <p:pic>
        <p:nvPicPr>
          <p:cNvPr id="214" name="Google Shape;214;p21" descr="image.png"/>
          <p:cNvPicPr preferRelativeResize="0"/>
          <p:nvPr/>
        </p:nvPicPr>
        <p:blipFill rotWithShape="1">
          <a:blip r:embed="rId5">
            <a:alphaModFix/>
          </a:blip>
          <a:srcRect/>
          <a:stretch/>
        </p:blipFill>
        <p:spPr>
          <a:xfrm>
            <a:off x="762000" y="4181475"/>
            <a:ext cx="10668000" cy="1628775"/>
          </a:xfrm>
          <a:prstGeom prst="rect">
            <a:avLst/>
          </a:prstGeom>
          <a:noFill/>
          <a:ln>
            <a:noFill/>
          </a:ln>
        </p:spPr>
      </p:pic>
      <p:sp>
        <p:nvSpPr>
          <p:cNvPr id="215" name="Google Shape;215;p21"/>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The Forensic Pipeline</a:t>
            </a:r>
            <a:endParaRPr dirty="0"/>
          </a:p>
        </p:txBody>
      </p:sp>
      <p:sp>
        <p:nvSpPr>
          <p:cNvPr id="216" name="Google Shape;216;p21"/>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1"/>
          <p:cNvSpPr txBox="1"/>
          <p:nvPr/>
        </p:nvSpPr>
        <p:spPr>
          <a:xfrm>
            <a:off x="602088" y="1568679"/>
            <a:ext cx="11734800" cy="3231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0" i="0" u="none" strike="noStrike" cap="none" dirty="0">
                <a:solidFill>
                  <a:schemeClr val="tx1"/>
                </a:solidFill>
                <a:latin typeface="Poppins" panose="00000500000000000000" pitchFamily="2" charset="0"/>
                <a:ea typeface="Lato"/>
                <a:cs typeface="Poppins" panose="00000500000000000000" pitchFamily="2" charset="0"/>
                <a:sym typeface="Lato"/>
              </a:rPr>
              <a:t>Every image undergoes a </a:t>
            </a:r>
            <a:r>
              <a:rPr lang="en-US" b="1" i="0" u="none" strike="noStrike" cap="none" dirty="0">
                <a:solidFill>
                  <a:schemeClr val="tx1"/>
                </a:solidFill>
                <a:latin typeface="Poppins" panose="00000500000000000000" pitchFamily="2" charset="0"/>
                <a:ea typeface="Lato"/>
                <a:cs typeface="Poppins" panose="00000500000000000000" pitchFamily="2" charset="0"/>
                <a:sym typeface="Lato"/>
              </a:rPr>
              <a:t>"Double-Tier" interrogation</a:t>
            </a:r>
            <a:r>
              <a:rPr lang="en-US" b="0" i="0" u="none" strike="noStrike" cap="none" dirty="0">
                <a:solidFill>
                  <a:schemeClr val="tx1"/>
                </a:solidFill>
                <a:latin typeface="Poppins" panose="00000500000000000000" pitchFamily="2" charset="0"/>
                <a:ea typeface="Lato"/>
                <a:cs typeface="Poppins" panose="00000500000000000000" pitchFamily="2" charset="0"/>
                <a:sym typeface="Lato"/>
              </a:rPr>
              <a:t> to ensure the final verdict is grounded in multiple forms of evidence:</a:t>
            </a:r>
            <a:endParaRPr dirty="0">
              <a:solidFill>
                <a:schemeClr val="tx1"/>
              </a:solidFill>
              <a:latin typeface="Poppins" panose="00000500000000000000" pitchFamily="2" charset="0"/>
              <a:cs typeface="Poppins" panose="00000500000000000000" pitchFamily="2" charset="0"/>
            </a:endParaRPr>
          </a:p>
        </p:txBody>
      </p:sp>
      <p:sp>
        <p:nvSpPr>
          <p:cNvPr id="218" name="Google Shape;218;p21"/>
          <p:cNvSpPr txBox="1"/>
          <p:nvPr/>
        </p:nvSpPr>
        <p:spPr>
          <a:xfrm>
            <a:off x="1123949" y="2657475"/>
            <a:ext cx="31904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1E3A8A"/>
                </a:solidFill>
                <a:latin typeface="Poppins" panose="00000500000000000000" pitchFamily="2" charset="0"/>
                <a:ea typeface="Lato"/>
                <a:cs typeface="Poppins" panose="00000500000000000000" pitchFamily="2" charset="0"/>
                <a:sym typeface="Lato"/>
              </a:rPr>
              <a:t>TIER 1: METADATA &amp; PROVENANCE</a:t>
            </a:r>
            <a:endParaRPr dirty="0">
              <a:latin typeface="Poppins" panose="00000500000000000000" pitchFamily="2" charset="0"/>
              <a:cs typeface="Poppins" panose="00000500000000000000" pitchFamily="2" charset="0"/>
            </a:endParaRPr>
          </a:p>
        </p:txBody>
      </p:sp>
      <p:sp>
        <p:nvSpPr>
          <p:cNvPr id="219" name="Google Shape;219;p21"/>
          <p:cNvSpPr txBox="1"/>
          <p:nvPr/>
        </p:nvSpPr>
        <p:spPr>
          <a:xfrm>
            <a:off x="1123950" y="3009900"/>
            <a:ext cx="10010775"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0" i="0" u="none" strike="noStrike" cap="none" dirty="0">
                <a:solidFill>
                  <a:schemeClr val="tx1"/>
                </a:solidFill>
                <a:latin typeface="Lato"/>
                <a:ea typeface="Lato"/>
                <a:cs typeface="Lato"/>
                <a:sym typeface="Lato"/>
              </a:rPr>
              <a:t>Scans internal headers for "AI Signatures" (Midjourney, DALL-E) and C2PA cryptographic manifests. If Tier 1 flags a manifest, the AI core is bypassed for an instant FAKE verdict.</a:t>
            </a:r>
            <a:endParaRPr dirty="0">
              <a:solidFill>
                <a:schemeClr val="tx1"/>
              </a:solidFill>
            </a:endParaRPr>
          </a:p>
        </p:txBody>
      </p:sp>
      <p:sp>
        <p:nvSpPr>
          <p:cNvPr id="220" name="Google Shape;220;p21"/>
          <p:cNvSpPr txBox="1"/>
          <p:nvPr/>
        </p:nvSpPr>
        <p:spPr>
          <a:xfrm>
            <a:off x="1123949" y="4476750"/>
            <a:ext cx="31904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1E3A8A"/>
                </a:solidFill>
                <a:latin typeface="Poppins" panose="00000500000000000000" pitchFamily="2" charset="0"/>
                <a:ea typeface="Lato"/>
                <a:cs typeface="Poppins" panose="00000500000000000000" pitchFamily="2" charset="0"/>
                <a:sym typeface="Lato"/>
              </a:rPr>
              <a:t>TIER 2: NEURAL &amp; SPECTRAL SCAN</a:t>
            </a:r>
            <a:endParaRPr dirty="0">
              <a:latin typeface="Poppins" panose="00000500000000000000" pitchFamily="2" charset="0"/>
              <a:cs typeface="Poppins" panose="00000500000000000000" pitchFamily="2" charset="0"/>
            </a:endParaRPr>
          </a:p>
        </p:txBody>
      </p:sp>
      <p:sp>
        <p:nvSpPr>
          <p:cNvPr id="221" name="Google Shape;221;p21"/>
          <p:cNvSpPr txBox="1"/>
          <p:nvPr/>
        </p:nvSpPr>
        <p:spPr>
          <a:xfrm>
            <a:off x="1123950" y="4829175"/>
            <a:ext cx="10010775" cy="6463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b="0" i="0" u="none" strike="noStrike" cap="none" dirty="0">
                <a:solidFill>
                  <a:schemeClr val="tx1"/>
                </a:solidFill>
                <a:latin typeface="Lato"/>
                <a:ea typeface="Lato"/>
                <a:cs typeface="Lato"/>
                <a:sym typeface="Lato"/>
              </a:rPr>
              <a:t>Triggered if metadata is clean. The Xception Core maps structural pixel patterns while the Frequency Analysis engine detects invisible spectral artifacts in the wave domain.</a:t>
            </a:r>
            <a:endParaRPr dirty="0">
              <a:solidFill>
                <a:schemeClr val="tx1"/>
              </a:solidFill>
            </a:endParaRPr>
          </a:p>
        </p:txBody>
      </p:sp>
      <p:sp>
        <p:nvSpPr>
          <p:cNvPr id="2" name="TextBox 1">
            <a:extLst>
              <a:ext uri="{FF2B5EF4-FFF2-40B4-BE49-F238E27FC236}">
                <a16:creationId xmlns:a16="http://schemas.microsoft.com/office/drawing/2014/main" id="{D4F9A14E-FC74-3D7E-BB45-7DE8397B899C}"/>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010923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A0D0F8A5-431F-94D1-B794-B32D5893DE80}"/>
            </a:ext>
          </a:extLst>
        </p:cNvPr>
        <p:cNvGrpSpPr/>
        <p:nvPr/>
      </p:nvGrpSpPr>
      <p:grpSpPr>
        <a:xfrm>
          <a:off x="0" y="0"/>
          <a:ext cx="0" cy="0"/>
          <a:chOff x="0" y="0"/>
          <a:chExt cx="0" cy="0"/>
        </a:xfrm>
      </p:grpSpPr>
      <p:pic>
        <p:nvPicPr>
          <p:cNvPr id="212" name="Google Shape;212;p21" descr="image.png">
            <a:extLst>
              <a:ext uri="{FF2B5EF4-FFF2-40B4-BE49-F238E27FC236}">
                <a16:creationId xmlns:a16="http://schemas.microsoft.com/office/drawing/2014/main" id="{247C7D7E-0D85-1958-EC45-22C920E0977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3" name="Google Shape;213;p21" descr="image.png">
            <a:extLst>
              <a:ext uri="{FF2B5EF4-FFF2-40B4-BE49-F238E27FC236}">
                <a16:creationId xmlns:a16="http://schemas.microsoft.com/office/drawing/2014/main" id="{EB6036D2-AB3F-FF15-BDB1-595843C14245}"/>
              </a:ext>
            </a:extLst>
          </p:cNvPr>
          <p:cNvPicPr preferRelativeResize="0"/>
          <p:nvPr/>
        </p:nvPicPr>
        <p:blipFill rotWithShape="1">
          <a:blip r:embed="rId4">
            <a:alphaModFix/>
          </a:blip>
          <a:srcRect/>
          <a:stretch/>
        </p:blipFill>
        <p:spPr>
          <a:xfrm>
            <a:off x="761999" y="2362200"/>
            <a:ext cx="10961077" cy="3640015"/>
          </a:xfrm>
          <a:prstGeom prst="rect">
            <a:avLst/>
          </a:prstGeom>
          <a:noFill/>
          <a:ln>
            <a:noFill/>
          </a:ln>
        </p:spPr>
      </p:pic>
      <p:sp>
        <p:nvSpPr>
          <p:cNvPr id="215" name="Google Shape;215;p21">
            <a:extLst>
              <a:ext uri="{FF2B5EF4-FFF2-40B4-BE49-F238E27FC236}">
                <a16:creationId xmlns:a16="http://schemas.microsoft.com/office/drawing/2014/main" id="{9CB07DC4-60DA-51ED-547A-13F916E8E477}"/>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The Forensic Pipeline</a:t>
            </a:r>
            <a:endParaRPr dirty="0"/>
          </a:p>
        </p:txBody>
      </p:sp>
      <p:sp>
        <p:nvSpPr>
          <p:cNvPr id="216" name="Google Shape;216;p21">
            <a:extLst>
              <a:ext uri="{FF2B5EF4-FFF2-40B4-BE49-F238E27FC236}">
                <a16:creationId xmlns:a16="http://schemas.microsoft.com/office/drawing/2014/main" id="{2D6ECC59-9066-F97D-6461-58072D3DDE3C}"/>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1">
            <a:extLst>
              <a:ext uri="{FF2B5EF4-FFF2-40B4-BE49-F238E27FC236}">
                <a16:creationId xmlns:a16="http://schemas.microsoft.com/office/drawing/2014/main" id="{9EBADCB4-9A45-080B-5BB2-4C882F1140A9}"/>
              </a:ext>
            </a:extLst>
          </p:cNvPr>
          <p:cNvSpPr txBox="1"/>
          <p:nvPr/>
        </p:nvSpPr>
        <p:spPr>
          <a:xfrm>
            <a:off x="602088" y="1568679"/>
            <a:ext cx="11734800" cy="36933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0" i="0" u="none" strike="noStrike" cap="none" dirty="0">
                <a:solidFill>
                  <a:schemeClr val="tx1"/>
                </a:solidFill>
                <a:latin typeface="Poppins" panose="00000500000000000000" pitchFamily="2" charset="0"/>
                <a:ea typeface="Lato"/>
                <a:cs typeface="Poppins" panose="00000500000000000000" pitchFamily="2" charset="0"/>
                <a:sym typeface="Lato"/>
              </a:rPr>
              <a:t>Each image </a:t>
            </a:r>
            <a:r>
              <a:rPr lang="en-US" sz="1600" b="0" i="0" u="none" strike="noStrike" cap="none" dirty="0" err="1">
                <a:solidFill>
                  <a:schemeClr val="tx1"/>
                </a:solidFill>
                <a:latin typeface="Poppins" panose="00000500000000000000" pitchFamily="2" charset="0"/>
                <a:ea typeface="Lato"/>
                <a:cs typeface="Poppins" panose="00000500000000000000" pitchFamily="2" charset="0"/>
                <a:sym typeface="Lato"/>
              </a:rPr>
              <a:t>pasess</a:t>
            </a:r>
            <a:r>
              <a:rPr lang="en-US" sz="1600" b="0" i="0" u="none" strike="noStrike" cap="none" dirty="0">
                <a:solidFill>
                  <a:schemeClr val="tx1"/>
                </a:solidFill>
                <a:latin typeface="Poppins" panose="00000500000000000000" pitchFamily="2" charset="0"/>
                <a:ea typeface="Lato"/>
                <a:cs typeface="Poppins" panose="00000500000000000000" pitchFamily="2" charset="0"/>
                <a:sym typeface="Lato"/>
              </a:rPr>
              <a:t> through </a:t>
            </a:r>
            <a:r>
              <a:rPr lang="en-US" sz="1600" b="1" i="0" u="none" strike="noStrike" cap="none" dirty="0">
                <a:solidFill>
                  <a:schemeClr val="tx1"/>
                </a:solidFill>
                <a:latin typeface="Poppins" panose="00000500000000000000" pitchFamily="2" charset="0"/>
                <a:ea typeface="Lato"/>
                <a:cs typeface="Poppins" panose="00000500000000000000" pitchFamily="2" charset="0"/>
                <a:sym typeface="Lato"/>
              </a:rPr>
              <a:t>“</a:t>
            </a:r>
            <a:r>
              <a:rPr lang="en-US" sz="1600" b="1" dirty="0">
                <a:solidFill>
                  <a:schemeClr val="tx1"/>
                </a:solidFill>
                <a:latin typeface="Poppins" panose="00000500000000000000" pitchFamily="2" charset="0"/>
                <a:ea typeface="Lato"/>
                <a:cs typeface="Poppins" panose="00000500000000000000" pitchFamily="2" charset="0"/>
                <a:sym typeface="Lato"/>
              </a:rPr>
              <a:t>Two</a:t>
            </a:r>
            <a:r>
              <a:rPr lang="en-US" sz="1600" b="1" i="0" u="none" strike="noStrike" cap="none" dirty="0">
                <a:solidFill>
                  <a:schemeClr val="tx1"/>
                </a:solidFill>
                <a:latin typeface="Poppins" panose="00000500000000000000" pitchFamily="2" charset="0"/>
                <a:ea typeface="Lato"/>
                <a:cs typeface="Poppins" panose="00000500000000000000" pitchFamily="2" charset="0"/>
                <a:sym typeface="Lato"/>
              </a:rPr>
              <a:t>-Tier" interrogation</a:t>
            </a:r>
            <a:r>
              <a:rPr lang="en-US" sz="1600" b="0" i="0" u="none" strike="noStrike" cap="none" dirty="0">
                <a:solidFill>
                  <a:schemeClr val="tx1"/>
                </a:solidFill>
                <a:latin typeface="Poppins" panose="00000500000000000000" pitchFamily="2" charset="0"/>
                <a:ea typeface="Lato"/>
                <a:cs typeface="Poppins" panose="00000500000000000000" pitchFamily="2" charset="0"/>
                <a:sym typeface="Lato"/>
              </a:rPr>
              <a:t> to ensure the final </a:t>
            </a:r>
            <a:r>
              <a:rPr lang="en-US" sz="1600" dirty="0">
                <a:solidFill>
                  <a:schemeClr val="tx1"/>
                </a:solidFill>
                <a:latin typeface="Poppins" panose="00000500000000000000" pitchFamily="2" charset="0"/>
                <a:ea typeface="Lato"/>
                <a:cs typeface="Poppins" panose="00000500000000000000" pitchFamily="2" charset="0"/>
                <a:sym typeface="Lato"/>
              </a:rPr>
              <a:t>result</a:t>
            </a:r>
            <a:r>
              <a:rPr lang="en-US" sz="1600" b="0" i="0" u="none" strike="noStrike" cap="none" dirty="0">
                <a:solidFill>
                  <a:schemeClr val="tx1"/>
                </a:solidFill>
                <a:latin typeface="Poppins" panose="00000500000000000000" pitchFamily="2" charset="0"/>
                <a:ea typeface="Lato"/>
                <a:cs typeface="Poppins" panose="00000500000000000000" pitchFamily="2" charset="0"/>
                <a:sym typeface="Lato"/>
              </a:rPr>
              <a:t> is </a:t>
            </a:r>
            <a:r>
              <a:rPr lang="en-US" sz="1600" dirty="0">
                <a:solidFill>
                  <a:schemeClr val="tx1"/>
                </a:solidFill>
                <a:latin typeface="Poppins" panose="00000500000000000000" pitchFamily="2" charset="0"/>
                <a:ea typeface="Lato"/>
                <a:cs typeface="Poppins" panose="00000500000000000000" pitchFamily="2" charset="0"/>
                <a:sym typeface="Lato"/>
              </a:rPr>
              <a:t>as accurate as it can be</a:t>
            </a:r>
            <a:r>
              <a:rPr lang="en-US" sz="1600" b="0" i="0" u="none" strike="noStrike" cap="none" dirty="0">
                <a:solidFill>
                  <a:schemeClr val="tx1"/>
                </a:solidFill>
                <a:latin typeface="Poppins" panose="00000500000000000000" pitchFamily="2" charset="0"/>
                <a:ea typeface="Lato"/>
                <a:cs typeface="Poppins" panose="00000500000000000000" pitchFamily="2" charset="0"/>
                <a:sym typeface="Lato"/>
              </a:rPr>
              <a:t>:</a:t>
            </a:r>
            <a:endParaRPr sz="1600" dirty="0">
              <a:solidFill>
                <a:schemeClr val="tx1"/>
              </a:solidFill>
              <a:latin typeface="Poppins" panose="00000500000000000000" pitchFamily="2" charset="0"/>
              <a:cs typeface="Poppins" panose="00000500000000000000" pitchFamily="2" charset="0"/>
            </a:endParaRPr>
          </a:p>
        </p:txBody>
      </p:sp>
      <p:sp>
        <p:nvSpPr>
          <p:cNvPr id="218" name="Google Shape;218;p21">
            <a:extLst>
              <a:ext uri="{FF2B5EF4-FFF2-40B4-BE49-F238E27FC236}">
                <a16:creationId xmlns:a16="http://schemas.microsoft.com/office/drawing/2014/main" id="{3595970A-12A4-789F-E7AF-02217BC999E4}"/>
              </a:ext>
            </a:extLst>
          </p:cNvPr>
          <p:cNvSpPr txBox="1"/>
          <p:nvPr/>
        </p:nvSpPr>
        <p:spPr>
          <a:xfrm>
            <a:off x="1123949" y="2657475"/>
            <a:ext cx="327812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1E3A8A"/>
                </a:solidFill>
                <a:latin typeface="Poppins" panose="00000500000000000000" pitchFamily="2" charset="0"/>
                <a:ea typeface="Lato"/>
                <a:cs typeface="Poppins" panose="00000500000000000000" pitchFamily="2" charset="0"/>
                <a:sym typeface="Lato"/>
              </a:rPr>
              <a:t>TIER 1: METADATA &amp; PROVENANCE</a:t>
            </a:r>
            <a:endParaRPr dirty="0">
              <a:latin typeface="Poppins" panose="00000500000000000000" pitchFamily="2" charset="0"/>
              <a:cs typeface="Poppins" panose="00000500000000000000" pitchFamily="2" charset="0"/>
            </a:endParaRPr>
          </a:p>
        </p:txBody>
      </p:sp>
      <p:sp>
        <p:nvSpPr>
          <p:cNvPr id="219" name="Google Shape;219;p21">
            <a:extLst>
              <a:ext uri="{FF2B5EF4-FFF2-40B4-BE49-F238E27FC236}">
                <a16:creationId xmlns:a16="http://schemas.microsoft.com/office/drawing/2014/main" id="{158D22A7-BFC0-3E4B-1A2D-258BD2713EF4}"/>
              </a:ext>
            </a:extLst>
          </p:cNvPr>
          <p:cNvSpPr txBox="1"/>
          <p:nvPr/>
        </p:nvSpPr>
        <p:spPr>
          <a:xfrm>
            <a:off x="1144204" y="3429000"/>
            <a:ext cx="10285796" cy="1846659"/>
          </a:xfrm>
          <a:prstGeom prst="rect">
            <a:avLst/>
          </a:prstGeom>
          <a:noFill/>
          <a:ln>
            <a:noFill/>
          </a:ln>
        </p:spPr>
        <p:txBody>
          <a:bodyPr spcFirstLastPara="1" wrap="square" lIns="0" tIns="0" rIns="0" bIns="0" anchor="t" anchorCtr="0">
            <a:spAutoFit/>
          </a:bodyPr>
          <a:lstStyle/>
          <a:p>
            <a:pPr lvl="0">
              <a:lnSpc>
                <a:spcPct val="150000"/>
              </a:lnSpc>
            </a:pPr>
            <a:r>
              <a:rPr lang="en-US" sz="2000" dirty="0">
                <a:solidFill>
                  <a:schemeClr val="tx1"/>
                </a:solidFill>
                <a:latin typeface="Lato"/>
                <a:ea typeface="Lato"/>
                <a:cs typeface="Lato"/>
                <a:sym typeface="Lato"/>
              </a:rPr>
              <a:t>In the first tier our app checks for</a:t>
            </a:r>
            <a:r>
              <a:rPr lang="en-US" sz="2000" b="0" i="0" u="none" strike="noStrike" cap="none" dirty="0">
                <a:solidFill>
                  <a:schemeClr val="tx1"/>
                </a:solidFill>
                <a:latin typeface="Lato"/>
                <a:ea typeface="Lato"/>
                <a:cs typeface="Lato"/>
                <a:sym typeface="Lato"/>
              </a:rPr>
              <a:t> "AI Signatures" (Midjourney, DALL-E) and C2PA (</a:t>
            </a:r>
            <a:r>
              <a:rPr lang="en-US" sz="2000" dirty="0"/>
              <a:t>The Coalition for Content Provenance and Authenticity)</a:t>
            </a:r>
            <a:r>
              <a:rPr lang="en-US" sz="2000" b="0" i="0" u="none" strike="noStrike" cap="none" dirty="0">
                <a:solidFill>
                  <a:schemeClr val="tx1"/>
                </a:solidFill>
                <a:latin typeface="Lato"/>
                <a:ea typeface="Lato"/>
                <a:cs typeface="Lato"/>
                <a:sym typeface="Lato"/>
              </a:rPr>
              <a:t> cryptographic manifests. C2PA is like an birth certificate. It contains the information about when the image was created and what technology was used. If Tier 1 </a:t>
            </a:r>
            <a:r>
              <a:rPr lang="en-US" sz="2000" dirty="0">
                <a:solidFill>
                  <a:schemeClr val="tx1"/>
                </a:solidFill>
                <a:latin typeface="Lato"/>
                <a:ea typeface="Lato"/>
                <a:cs typeface="Lato"/>
                <a:sym typeface="Lato"/>
              </a:rPr>
              <a:t>find the image as fake then image is considered 100% fake</a:t>
            </a:r>
            <a:endParaRPr sz="2000" dirty="0">
              <a:solidFill>
                <a:schemeClr val="tx1"/>
              </a:solidFill>
            </a:endParaRPr>
          </a:p>
        </p:txBody>
      </p:sp>
      <p:sp>
        <p:nvSpPr>
          <p:cNvPr id="3" name="Google Shape;173;p18">
            <a:extLst>
              <a:ext uri="{FF2B5EF4-FFF2-40B4-BE49-F238E27FC236}">
                <a16:creationId xmlns:a16="http://schemas.microsoft.com/office/drawing/2014/main" id="{CFDFE3D1-67A1-4666-8C4C-9E64BE95FBCC}"/>
              </a:ext>
            </a:extLst>
          </p:cNvPr>
          <p:cNvSpPr txBox="1"/>
          <p:nvPr/>
        </p:nvSpPr>
        <p:spPr>
          <a:xfrm>
            <a:off x="0" y="147251"/>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3448541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A2D59201-9CED-2F20-DC3C-3BB8B9C744EE}"/>
            </a:ext>
          </a:extLst>
        </p:cNvPr>
        <p:cNvGrpSpPr/>
        <p:nvPr/>
      </p:nvGrpSpPr>
      <p:grpSpPr>
        <a:xfrm>
          <a:off x="0" y="0"/>
          <a:ext cx="0" cy="0"/>
          <a:chOff x="0" y="0"/>
          <a:chExt cx="0" cy="0"/>
        </a:xfrm>
      </p:grpSpPr>
      <p:pic>
        <p:nvPicPr>
          <p:cNvPr id="212" name="Google Shape;212;p21" descr="image.png">
            <a:extLst>
              <a:ext uri="{FF2B5EF4-FFF2-40B4-BE49-F238E27FC236}">
                <a16:creationId xmlns:a16="http://schemas.microsoft.com/office/drawing/2014/main" id="{F79C2340-E650-875E-FE2D-2B6C06DDB3B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4" name="Google Shape;214;p21" descr="image.png">
            <a:extLst>
              <a:ext uri="{FF2B5EF4-FFF2-40B4-BE49-F238E27FC236}">
                <a16:creationId xmlns:a16="http://schemas.microsoft.com/office/drawing/2014/main" id="{AD713E30-A553-C417-3899-A56281346C5E}"/>
              </a:ext>
            </a:extLst>
          </p:cNvPr>
          <p:cNvPicPr preferRelativeResize="0"/>
          <p:nvPr/>
        </p:nvPicPr>
        <p:blipFill rotWithShape="1">
          <a:blip r:embed="rId4">
            <a:alphaModFix/>
          </a:blip>
          <a:srcRect/>
          <a:stretch/>
        </p:blipFill>
        <p:spPr>
          <a:xfrm>
            <a:off x="762000" y="2339890"/>
            <a:ext cx="10668000" cy="2627281"/>
          </a:xfrm>
          <a:prstGeom prst="rect">
            <a:avLst/>
          </a:prstGeom>
          <a:noFill/>
          <a:ln>
            <a:noFill/>
          </a:ln>
        </p:spPr>
      </p:pic>
      <p:sp>
        <p:nvSpPr>
          <p:cNvPr id="215" name="Google Shape;215;p21">
            <a:extLst>
              <a:ext uri="{FF2B5EF4-FFF2-40B4-BE49-F238E27FC236}">
                <a16:creationId xmlns:a16="http://schemas.microsoft.com/office/drawing/2014/main" id="{38FD4A31-B0DB-D140-3E28-8867796FB974}"/>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The Forensic Pipeline</a:t>
            </a:r>
            <a:endParaRPr dirty="0"/>
          </a:p>
        </p:txBody>
      </p:sp>
      <p:sp>
        <p:nvSpPr>
          <p:cNvPr id="216" name="Google Shape;216;p21">
            <a:extLst>
              <a:ext uri="{FF2B5EF4-FFF2-40B4-BE49-F238E27FC236}">
                <a16:creationId xmlns:a16="http://schemas.microsoft.com/office/drawing/2014/main" id="{1F73F356-6145-46A1-2526-86B944188760}"/>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21">
            <a:extLst>
              <a:ext uri="{FF2B5EF4-FFF2-40B4-BE49-F238E27FC236}">
                <a16:creationId xmlns:a16="http://schemas.microsoft.com/office/drawing/2014/main" id="{F4C0BF9D-55FD-182F-4470-C08D9F7E1718}"/>
              </a:ext>
            </a:extLst>
          </p:cNvPr>
          <p:cNvSpPr txBox="1"/>
          <p:nvPr/>
        </p:nvSpPr>
        <p:spPr>
          <a:xfrm>
            <a:off x="1123949" y="2635165"/>
            <a:ext cx="31904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1E3A8A"/>
                </a:solidFill>
                <a:latin typeface="Poppins" panose="00000500000000000000" pitchFamily="2" charset="0"/>
                <a:ea typeface="Lato"/>
                <a:cs typeface="Poppins" panose="00000500000000000000" pitchFamily="2" charset="0"/>
                <a:sym typeface="Lato"/>
              </a:rPr>
              <a:t>TIER 2: NEURAL &amp; SPECTRAL SCAN</a:t>
            </a:r>
            <a:endParaRPr dirty="0">
              <a:latin typeface="Poppins" panose="00000500000000000000" pitchFamily="2" charset="0"/>
              <a:cs typeface="Poppins" panose="00000500000000000000" pitchFamily="2" charset="0"/>
            </a:endParaRPr>
          </a:p>
        </p:txBody>
      </p:sp>
      <p:sp>
        <p:nvSpPr>
          <p:cNvPr id="221" name="Google Shape;221;p21">
            <a:extLst>
              <a:ext uri="{FF2B5EF4-FFF2-40B4-BE49-F238E27FC236}">
                <a16:creationId xmlns:a16="http://schemas.microsoft.com/office/drawing/2014/main" id="{EE6CA93C-DAC5-21E1-4F48-3EC36B34AB38}"/>
              </a:ext>
            </a:extLst>
          </p:cNvPr>
          <p:cNvSpPr txBox="1"/>
          <p:nvPr/>
        </p:nvSpPr>
        <p:spPr>
          <a:xfrm>
            <a:off x="1123950" y="2987590"/>
            <a:ext cx="10010775" cy="1231106"/>
          </a:xfrm>
          <a:prstGeom prst="rect">
            <a:avLst/>
          </a:prstGeom>
          <a:noFill/>
          <a:ln>
            <a:noFill/>
          </a:ln>
        </p:spPr>
        <p:txBody>
          <a:bodyPr spcFirstLastPara="1" wrap="square" lIns="0" tIns="0" rIns="0" bIns="0" anchor="t" anchorCtr="0">
            <a:spAutoFit/>
          </a:bodyPr>
          <a:lstStyle/>
          <a:p>
            <a:r>
              <a:rPr lang="en-US" sz="2000" dirty="0"/>
              <a:t>If Tier One says the image looks clean — Tier Two activates. Tier Two is the full neural and spectral scan. The Xception model analyzes the pixel structure of the image. At the same time, our other engine runs separately and looks for invisible artifacts in the image — patterns that AI generators leave behind that human eyes cannot see.</a:t>
            </a:r>
            <a:endParaRPr sz="2000" dirty="0">
              <a:solidFill>
                <a:schemeClr val="tx1"/>
              </a:solidFill>
            </a:endParaRPr>
          </a:p>
        </p:txBody>
      </p:sp>
      <p:sp>
        <p:nvSpPr>
          <p:cNvPr id="3" name="Google Shape;173;p18">
            <a:extLst>
              <a:ext uri="{FF2B5EF4-FFF2-40B4-BE49-F238E27FC236}">
                <a16:creationId xmlns:a16="http://schemas.microsoft.com/office/drawing/2014/main" id="{018AD278-3B5B-9771-1FBB-F77150A45A29}"/>
              </a:ext>
            </a:extLst>
          </p:cNvPr>
          <p:cNvSpPr txBox="1"/>
          <p:nvPr/>
        </p:nvSpPr>
        <p:spPr>
          <a:xfrm>
            <a:off x="0" y="147251"/>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636086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8" name="Google Shape;228;p22" descr="image.png"/>
          <p:cNvPicPr preferRelativeResize="0"/>
          <p:nvPr/>
        </p:nvPicPr>
        <p:blipFill rotWithShape="1">
          <a:blip r:embed="rId3">
            <a:alphaModFix/>
          </a:blip>
          <a:srcRect/>
          <a:stretch/>
        </p:blipFill>
        <p:spPr>
          <a:xfrm>
            <a:off x="641879" y="3105220"/>
            <a:ext cx="2610557" cy="1533525"/>
          </a:xfrm>
          <a:prstGeom prst="rect">
            <a:avLst/>
          </a:prstGeom>
          <a:noFill/>
          <a:ln>
            <a:noFill/>
          </a:ln>
        </p:spPr>
      </p:pic>
      <p:pic>
        <p:nvPicPr>
          <p:cNvPr id="229" name="Google Shape;229;p22" descr="image.png"/>
          <p:cNvPicPr preferRelativeResize="0"/>
          <p:nvPr/>
        </p:nvPicPr>
        <p:blipFill rotWithShape="1">
          <a:blip r:embed="rId3">
            <a:alphaModFix/>
          </a:blip>
          <a:srcRect/>
          <a:stretch/>
        </p:blipFill>
        <p:spPr>
          <a:xfrm>
            <a:off x="3547533" y="3105219"/>
            <a:ext cx="2513893" cy="1533525"/>
          </a:xfrm>
          <a:prstGeom prst="rect">
            <a:avLst/>
          </a:prstGeom>
          <a:noFill/>
          <a:ln>
            <a:noFill/>
          </a:ln>
        </p:spPr>
      </p:pic>
      <p:pic>
        <p:nvPicPr>
          <p:cNvPr id="230" name="Google Shape;230;p22" descr="image.png"/>
          <p:cNvPicPr preferRelativeResize="0"/>
          <p:nvPr/>
        </p:nvPicPr>
        <p:blipFill rotWithShape="1">
          <a:blip r:embed="rId3">
            <a:alphaModFix/>
          </a:blip>
          <a:srcRect/>
          <a:stretch/>
        </p:blipFill>
        <p:spPr>
          <a:xfrm>
            <a:off x="9165513" y="3105219"/>
            <a:ext cx="2703168" cy="1533525"/>
          </a:xfrm>
          <a:prstGeom prst="rect">
            <a:avLst/>
          </a:prstGeom>
          <a:noFill/>
          <a:ln>
            <a:noFill/>
          </a:ln>
        </p:spPr>
      </p:pic>
      <p:sp>
        <p:nvSpPr>
          <p:cNvPr id="231" name="Google Shape;231;p22"/>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Sovereign Balanced Ensemble</a:t>
            </a:r>
            <a:endParaRPr dirty="0"/>
          </a:p>
        </p:txBody>
      </p:sp>
      <p:sp>
        <p:nvSpPr>
          <p:cNvPr id="232" name="Google Shape;232;p22"/>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2"/>
          <p:cNvSpPr txBox="1"/>
          <p:nvPr/>
        </p:nvSpPr>
        <p:spPr>
          <a:xfrm>
            <a:off x="762000" y="1885950"/>
            <a:ext cx="10668000"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chemeClr val="tx1"/>
                </a:solidFill>
                <a:latin typeface="Poppins" panose="00000500000000000000" pitchFamily="2" charset="0"/>
                <a:ea typeface="Lato"/>
                <a:cs typeface="Poppins" panose="00000500000000000000" pitchFamily="2" charset="0"/>
                <a:sym typeface="Lato"/>
              </a:rPr>
              <a:t>To prevent "Neural Overconfidence," we refined the weighting to a </a:t>
            </a:r>
            <a:r>
              <a:rPr lang="en-US" b="1" i="0" u="none" strike="noStrike" cap="none" dirty="0">
                <a:solidFill>
                  <a:schemeClr val="tx1"/>
                </a:solidFill>
                <a:latin typeface="Poppins" panose="00000500000000000000" pitchFamily="2" charset="0"/>
                <a:ea typeface="Lato"/>
                <a:cs typeface="Poppins" panose="00000500000000000000" pitchFamily="2" charset="0"/>
                <a:sym typeface="Lato"/>
              </a:rPr>
              <a:t>35/35/</a:t>
            </a:r>
            <a:r>
              <a:rPr lang="en-US" b="1" dirty="0">
                <a:solidFill>
                  <a:schemeClr val="tx1"/>
                </a:solidFill>
                <a:latin typeface="Poppins" panose="00000500000000000000" pitchFamily="2" charset="0"/>
                <a:ea typeface="Lato"/>
                <a:cs typeface="Poppins" panose="00000500000000000000" pitchFamily="2" charset="0"/>
                <a:sym typeface="Lato"/>
              </a:rPr>
              <a:t>1</a:t>
            </a:r>
            <a:r>
              <a:rPr lang="en-US" b="1" i="0" u="none" strike="noStrike" cap="none" dirty="0">
                <a:solidFill>
                  <a:schemeClr val="tx1"/>
                </a:solidFill>
                <a:latin typeface="Poppins" panose="00000500000000000000" pitchFamily="2" charset="0"/>
                <a:ea typeface="Lato"/>
                <a:cs typeface="Poppins" panose="00000500000000000000" pitchFamily="2" charset="0"/>
                <a:sym typeface="Lato"/>
              </a:rPr>
              <a:t>0/10/10</a:t>
            </a:r>
            <a:r>
              <a:rPr lang="en-US" sz="1500" b="1" i="0" u="none" strike="noStrike" cap="none" dirty="0">
                <a:solidFill>
                  <a:schemeClr val="tx1"/>
                </a:solidFill>
                <a:latin typeface="Poppins" panose="00000500000000000000" pitchFamily="2" charset="0"/>
                <a:ea typeface="Lato"/>
                <a:cs typeface="Poppins" panose="00000500000000000000" pitchFamily="2" charset="0"/>
                <a:sym typeface="Lato"/>
              </a:rPr>
              <a:t> distribution</a:t>
            </a:r>
            <a:r>
              <a:rPr lang="en-US" sz="1500" b="0" i="0" u="none" strike="noStrike" cap="none" dirty="0">
                <a:solidFill>
                  <a:schemeClr val="tx1"/>
                </a:solidFill>
                <a:latin typeface="Poppins" panose="00000500000000000000" pitchFamily="2" charset="0"/>
                <a:ea typeface="Lato"/>
                <a:cs typeface="Poppins" panose="00000500000000000000" pitchFamily="2" charset="0"/>
                <a:sym typeface="Lato"/>
              </a:rPr>
              <a:t>. This ensures physical math carries equal weight to AI intuition.</a:t>
            </a:r>
            <a:endParaRPr dirty="0">
              <a:solidFill>
                <a:schemeClr val="tx1"/>
              </a:solidFill>
              <a:latin typeface="Poppins" panose="00000500000000000000" pitchFamily="2" charset="0"/>
              <a:cs typeface="Poppins" panose="00000500000000000000" pitchFamily="2" charset="0"/>
            </a:endParaRPr>
          </a:p>
        </p:txBody>
      </p:sp>
      <p:sp>
        <p:nvSpPr>
          <p:cNvPr id="234" name="Google Shape;234;p22"/>
          <p:cNvSpPr txBox="1"/>
          <p:nvPr/>
        </p:nvSpPr>
        <p:spPr>
          <a:xfrm>
            <a:off x="838732" y="3325831"/>
            <a:ext cx="1228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1E3A8A"/>
                </a:solidFill>
                <a:latin typeface="Lato"/>
                <a:ea typeface="Lato"/>
                <a:cs typeface="Lato"/>
                <a:sym typeface="Lato"/>
              </a:rPr>
              <a:t>70% AI Core</a:t>
            </a:r>
            <a:endParaRPr dirty="0"/>
          </a:p>
        </p:txBody>
      </p:sp>
      <p:sp>
        <p:nvSpPr>
          <p:cNvPr id="235" name="Google Shape;235;p22"/>
          <p:cNvSpPr txBox="1"/>
          <p:nvPr/>
        </p:nvSpPr>
        <p:spPr>
          <a:xfrm>
            <a:off x="838732" y="3733870"/>
            <a:ext cx="283845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a:solidFill>
                  <a:srgbClr val="334155"/>
                </a:solidFill>
                <a:latin typeface="Lato"/>
                <a:ea typeface="Lato"/>
                <a:cs typeface="Lato"/>
                <a:sym typeface="Lato"/>
              </a:rPr>
              <a:t>Primary neural pattern recognition</a:t>
            </a:r>
            <a:br>
              <a:rPr lang="en-US" sz="1200" b="0" i="0" u="none" strike="noStrike" cap="none" dirty="0">
                <a:solidFill>
                  <a:srgbClr val="334155"/>
                </a:solidFill>
                <a:latin typeface="Lato"/>
                <a:ea typeface="Lato"/>
                <a:cs typeface="Lato"/>
                <a:sym typeface="Lato"/>
              </a:rPr>
            </a:br>
            <a:r>
              <a:rPr lang="en-US" sz="1200" b="0" i="0" u="none" strike="noStrike" cap="none" dirty="0">
                <a:solidFill>
                  <a:srgbClr val="334155"/>
                </a:solidFill>
                <a:latin typeface="Lato"/>
                <a:ea typeface="Lato"/>
                <a:cs typeface="Lato"/>
                <a:sym typeface="Lato"/>
              </a:rPr>
              <a:t> of facial features.</a:t>
            </a:r>
            <a:endParaRPr dirty="0"/>
          </a:p>
        </p:txBody>
      </p:sp>
      <p:sp>
        <p:nvSpPr>
          <p:cNvPr id="236" name="Google Shape;236;p22"/>
          <p:cNvSpPr txBox="1"/>
          <p:nvPr/>
        </p:nvSpPr>
        <p:spPr>
          <a:xfrm>
            <a:off x="3790076" y="3325831"/>
            <a:ext cx="1419226"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dirty="0">
                <a:solidFill>
                  <a:srgbClr val="1E3A8A"/>
                </a:solidFill>
                <a:latin typeface="Lato"/>
                <a:ea typeface="Lato"/>
                <a:cs typeface="Lato"/>
                <a:sym typeface="Lato"/>
              </a:rPr>
              <a:t>10</a:t>
            </a:r>
            <a:r>
              <a:rPr lang="en-US" b="1" i="0" u="none" strike="noStrike" cap="none" dirty="0">
                <a:solidFill>
                  <a:srgbClr val="1E3A8A"/>
                </a:solidFill>
                <a:latin typeface="Lato"/>
                <a:ea typeface="Lato"/>
                <a:cs typeface="Lato"/>
                <a:sym typeface="Lato"/>
              </a:rPr>
              <a:t>% Frequency</a:t>
            </a:r>
            <a:endParaRPr dirty="0"/>
          </a:p>
        </p:txBody>
      </p:sp>
      <p:sp>
        <p:nvSpPr>
          <p:cNvPr id="237" name="Google Shape;237;p22"/>
          <p:cNvSpPr txBox="1"/>
          <p:nvPr/>
        </p:nvSpPr>
        <p:spPr>
          <a:xfrm>
            <a:off x="3790076" y="3733870"/>
            <a:ext cx="283845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a:solidFill>
                  <a:srgbClr val="334155"/>
                </a:solidFill>
                <a:latin typeface="Lato"/>
                <a:ea typeface="Lato"/>
                <a:cs typeface="Lato"/>
                <a:sym typeface="Lato"/>
              </a:rPr>
              <a:t>FFT-based search for </a:t>
            </a:r>
            <a:br>
              <a:rPr lang="en-US" sz="1200" b="0" i="0" u="none" strike="noStrike" cap="none" dirty="0">
                <a:solidFill>
                  <a:srgbClr val="334155"/>
                </a:solidFill>
                <a:latin typeface="Lato"/>
                <a:ea typeface="Lato"/>
                <a:cs typeface="Lato"/>
                <a:sym typeface="Lato"/>
              </a:rPr>
            </a:br>
            <a:r>
              <a:rPr lang="en-US" sz="1200" b="0" i="0" u="none" strike="noStrike" cap="none" dirty="0">
                <a:solidFill>
                  <a:srgbClr val="334155"/>
                </a:solidFill>
                <a:latin typeface="Lato"/>
                <a:ea typeface="Lato"/>
                <a:cs typeface="Lato"/>
                <a:sym typeface="Lato"/>
              </a:rPr>
              <a:t>"Checkerboard" GAN artifacts.</a:t>
            </a:r>
            <a:endParaRPr dirty="0"/>
          </a:p>
        </p:txBody>
      </p:sp>
      <p:sp>
        <p:nvSpPr>
          <p:cNvPr id="238" name="Google Shape;238;p22"/>
          <p:cNvSpPr txBox="1"/>
          <p:nvPr/>
        </p:nvSpPr>
        <p:spPr>
          <a:xfrm>
            <a:off x="9353549" y="3292773"/>
            <a:ext cx="1913997"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dirty="0">
                <a:solidFill>
                  <a:srgbClr val="1E3A8A"/>
                </a:solidFill>
                <a:latin typeface="Lato"/>
                <a:ea typeface="Lato"/>
                <a:cs typeface="Lato"/>
                <a:sym typeface="Lato"/>
              </a:rPr>
              <a:t>10</a:t>
            </a:r>
            <a:r>
              <a:rPr lang="en-US" b="1" i="0" u="none" strike="noStrike" cap="none" dirty="0">
                <a:solidFill>
                  <a:srgbClr val="1E3A8A"/>
                </a:solidFill>
                <a:latin typeface="Lato"/>
                <a:ea typeface="Lato"/>
                <a:cs typeface="Lato"/>
                <a:sym typeface="Lato"/>
              </a:rPr>
              <a:t>% Edge (</a:t>
            </a:r>
            <a:r>
              <a:rPr lang="en-US" b="1" dirty="0">
                <a:solidFill>
                  <a:srgbClr val="1E3A8A"/>
                </a:solidFill>
                <a:latin typeface="Lato"/>
                <a:ea typeface="Lato"/>
                <a:cs typeface="Lato"/>
                <a:sym typeface="Lato"/>
              </a:rPr>
              <a:t>ELA) </a:t>
            </a:r>
            <a:r>
              <a:rPr lang="en-US" b="1" i="0" u="none" strike="noStrike" cap="none" dirty="0">
                <a:solidFill>
                  <a:srgbClr val="1E3A8A"/>
                </a:solidFill>
                <a:latin typeface="Lato"/>
                <a:ea typeface="Lato"/>
                <a:cs typeface="Lato"/>
                <a:sym typeface="Lato"/>
              </a:rPr>
              <a:t>Logic</a:t>
            </a:r>
            <a:endParaRPr dirty="0"/>
          </a:p>
        </p:txBody>
      </p:sp>
      <p:sp>
        <p:nvSpPr>
          <p:cNvPr id="239" name="Google Shape;239;p22"/>
          <p:cNvSpPr txBox="1"/>
          <p:nvPr/>
        </p:nvSpPr>
        <p:spPr>
          <a:xfrm>
            <a:off x="9353550" y="3733870"/>
            <a:ext cx="28384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a:solidFill>
                  <a:srgbClr val="334155"/>
                </a:solidFill>
                <a:latin typeface="Lato"/>
                <a:ea typeface="Lato"/>
                <a:cs typeface="Lato"/>
                <a:sym typeface="Lato"/>
              </a:rPr>
              <a:t>ELA-based search for boundary and compression inconsistency.</a:t>
            </a:r>
            <a:endParaRPr dirty="0"/>
          </a:p>
        </p:txBody>
      </p:sp>
      <p:pic>
        <p:nvPicPr>
          <p:cNvPr id="4" name="Google Shape;229;p22" descr="image.png">
            <a:extLst>
              <a:ext uri="{FF2B5EF4-FFF2-40B4-BE49-F238E27FC236}">
                <a16:creationId xmlns:a16="http://schemas.microsoft.com/office/drawing/2014/main" id="{D731383A-D815-5615-8DDB-AE34E735CCDE}"/>
              </a:ext>
            </a:extLst>
          </p:cNvPr>
          <p:cNvPicPr preferRelativeResize="0"/>
          <p:nvPr/>
        </p:nvPicPr>
        <p:blipFill rotWithShape="1">
          <a:blip r:embed="rId3">
            <a:alphaModFix/>
          </a:blip>
          <a:srcRect/>
          <a:stretch/>
        </p:blipFill>
        <p:spPr>
          <a:xfrm>
            <a:off x="6356523" y="3105219"/>
            <a:ext cx="2513893" cy="1533525"/>
          </a:xfrm>
          <a:prstGeom prst="rect">
            <a:avLst/>
          </a:prstGeom>
          <a:noFill/>
          <a:ln>
            <a:noFill/>
          </a:ln>
        </p:spPr>
      </p:pic>
      <p:sp>
        <p:nvSpPr>
          <p:cNvPr id="5" name="Google Shape;234;p22">
            <a:extLst>
              <a:ext uri="{FF2B5EF4-FFF2-40B4-BE49-F238E27FC236}">
                <a16:creationId xmlns:a16="http://schemas.microsoft.com/office/drawing/2014/main" id="{A6EB3BB7-B851-D174-DEC7-4AE4FCB7A815}"/>
              </a:ext>
            </a:extLst>
          </p:cNvPr>
          <p:cNvSpPr txBox="1"/>
          <p:nvPr/>
        </p:nvSpPr>
        <p:spPr>
          <a:xfrm>
            <a:off x="6628526" y="3329294"/>
            <a:ext cx="1228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dirty="0">
                <a:solidFill>
                  <a:srgbClr val="1E3A8A"/>
                </a:solidFill>
                <a:latin typeface="Lato"/>
                <a:ea typeface="Lato"/>
                <a:cs typeface="Lato"/>
                <a:sym typeface="Lato"/>
              </a:rPr>
              <a:t>10</a:t>
            </a:r>
            <a:r>
              <a:rPr lang="en-US" b="1" i="0" u="none" strike="noStrike" cap="none" dirty="0">
                <a:solidFill>
                  <a:srgbClr val="1E3A8A"/>
                </a:solidFill>
                <a:latin typeface="Lato"/>
                <a:ea typeface="Lato"/>
                <a:cs typeface="Lato"/>
                <a:sym typeface="Lato"/>
              </a:rPr>
              <a:t>% Noise</a:t>
            </a:r>
            <a:endParaRPr dirty="0"/>
          </a:p>
        </p:txBody>
      </p:sp>
      <p:pic>
        <p:nvPicPr>
          <p:cNvPr id="3074" name="Picture 2">
            <a:extLst>
              <a:ext uri="{FF2B5EF4-FFF2-40B4-BE49-F238E27FC236}">
                <a16:creationId xmlns:a16="http://schemas.microsoft.com/office/drawing/2014/main" id="{89820DA1-C94D-F553-AB82-14D15308AE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244" y="5103789"/>
            <a:ext cx="10668000" cy="11906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85D51B5-6FFF-C8BA-9F64-BAFEA1FCCF66}"/>
              </a:ext>
            </a:extLst>
          </p:cNvPr>
          <p:cNvSpPr txBox="1"/>
          <p:nvPr/>
        </p:nvSpPr>
        <p:spPr>
          <a:xfrm>
            <a:off x="1299337" y="5303179"/>
            <a:ext cx="9923813" cy="1446550"/>
          </a:xfrm>
          <a:prstGeom prst="rect">
            <a:avLst/>
          </a:prstGeom>
          <a:noFill/>
        </p:spPr>
        <p:txBody>
          <a:bodyPr wrap="square">
            <a:spAutoFit/>
          </a:bodyPr>
          <a:lstStyle/>
          <a:p>
            <a:pPr algn="ctr"/>
            <a:r>
              <a:rPr lang="it-IT" sz="2200" b="1" i="0" u="none" strike="noStrike" dirty="0">
                <a:solidFill>
                  <a:srgbClr val="FFFFFF"/>
                </a:solidFill>
                <a:effectLst/>
                <a:latin typeface="Arial" panose="020B0604020202020204" pitchFamily="34" charset="0"/>
              </a:rPr>
              <a:t>Verdict = (</a:t>
            </a:r>
            <a:r>
              <a:rPr lang="it-IT" sz="2200" b="1" dirty="0">
                <a:solidFill>
                  <a:srgbClr val="FFFFFF"/>
                </a:solidFill>
                <a:latin typeface="Arial" panose="020B0604020202020204" pitchFamily="34" charset="0"/>
              </a:rPr>
              <a:t>Xception</a:t>
            </a:r>
            <a:r>
              <a:rPr lang="it-IT" sz="2200" b="1" i="0" u="none" strike="noStrike" dirty="0">
                <a:solidFill>
                  <a:srgbClr val="FFFFFF"/>
                </a:solidFill>
                <a:effectLst/>
                <a:latin typeface="Arial" panose="020B0604020202020204" pitchFamily="34" charset="0"/>
              </a:rPr>
              <a:t> × 0.</a:t>
            </a:r>
            <a:r>
              <a:rPr lang="it-IT" sz="2200" b="1" dirty="0">
                <a:solidFill>
                  <a:srgbClr val="FFFFFF"/>
                </a:solidFill>
                <a:latin typeface="Arial" panose="020B0604020202020204" pitchFamily="34" charset="0"/>
              </a:rPr>
              <a:t>35</a:t>
            </a:r>
            <a:r>
              <a:rPr lang="it-IT" sz="2200" b="1" i="0" u="none" strike="noStrike" dirty="0">
                <a:solidFill>
                  <a:srgbClr val="FFFFFF"/>
                </a:solidFill>
                <a:effectLst/>
                <a:latin typeface="Arial" panose="020B0604020202020204" pitchFamily="34" charset="0"/>
              </a:rPr>
              <a:t>) + </a:t>
            </a:r>
            <a:r>
              <a:rPr lang="it-IT" sz="2200" b="1" dirty="0">
                <a:solidFill>
                  <a:srgbClr val="FFFFFF"/>
                </a:solidFill>
                <a:latin typeface="Arial" panose="020B0604020202020204" pitchFamily="34" charset="0"/>
              </a:rPr>
              <a:t>(Xception++ × 0.35) + </a:t>
            </a:r>
            <a:r>
              <a:rPr lang="it-IT" sz="2200" b="1" i="0" u="none" strike="noStrike" dirty="0">
                <a:solidFill>
                  <a:srgbClr val="FFFFFF"/>
                </a:solidFill>
                <a:effectLst/>
                <a:latin typeface="Arial" panose="020B0604020202020204" pitchFamily="34" charset="0"/>
              </a:rPr>
              <a:t>(Freq × 0.1) +</a:t>
            </a:r>
            <a:br>
              <a:rPr lang="it-IT" sz="2200" b="1" i="0" u="none" strike="noStrike" dirty="0">
                <a:solidFill>
                  <a:srgbClr val="FFFFFF"/>
                </a:solidFill>
                <a:effectLst/>
                <a:latin typeface="Arial" panose="020B0604020202020204" pitchFamily="34" charset="0"/>
              </a:rPr>
            </a:br>
            <a:r>
              <a:rPr lang="it-IT" sz="2200" b="1" i="0" u="none" strike="noStrike" dirty="0">
                <a:solidFill>
                  <a:srgbClr val="FFFFFF"/>
                </a:solidFill>
                <a:effectLst/>
                <a:latin typeface="Arial" panose="020B0604020202020204" pitchFamily="34" charset="0"/>
              </a:rPr>
              <a:t> (Edge × 0.1) + (Noise x 0.1)</a:t>
            </a:r>
            <a:endParaRPr lang="it-IT" sz="2200" b="0" dirty="0">
              <a:effectLst/>
            </a:endParaRPr>
          </a:p>
          <a:p>
            <a:pPr>
              <a:buNone/>
            </a:pPr>
            <a:br>
              <a:rPr lang="it-IT" sz="2200" dirty="0"/>
            </a:br>
            <a:endParaRPr lang="en-PK" sz="2200" dirty="0"/>
          </a:p>
        </p:txBody>
      </p:sp>
      <p:sp>
        <p:nvSpPr>
          <p:cNvPr id="9" name="Google Shape;237;p22">
            <a:extLst>
              <a:ext uri="{FF2B5EF4-FFF2-40B4-BE49-F238E27FC236}">
                <a16:creationId xmlns:a16="http://schemas.microsoft.com/office/drawing/2014/main" id="{BBF1484E-C888-BA5D-6E10-69DA8B8ED9BD}"/>
              </a:ext>
            </a:extLst>
          </p:cNvPr>
          <p:cNvSpPr txBox="1"/>
          <p:nvPr/>
        </p:nvSpPr>
        <p:spPr>
          <a:xfrm>
            <a:off x="6515100" y="3675847"/>
            <a:ext cx="2838450" cy="830997"/>
          </a:xfrm>
          <a:prstGeom prst="rect">
            <a:avLst/>
          </a:prstGeom>
          <a:noFill/>
          <a:ln>
            <a:noFill/>
          </a:ln>
        </p:spPr>
        <p:txBody>
          <a:bodyPr spcFirstLastPara="1" wrap="square" lIns="0" tIns="0" rIns="0" bIns="0" anchor="t" anchorCtr="0">
            <a:spAutoFit/>
          </a:bodyPr>
          <a:lstStyle/>
          <a:p>
            <a:pPr lvl="0">
              <a:lnSpc>
                <a:spcPct val="150000"/>
              </a:lnSpc>
            </a:pPr>
            <a:r>
              <a:rPr lang="en-US" sz="1200" dirty="0">
                <a:solidFill>
                  <a:srgbClr val="334155"/>
                </a:solidFill>
                <a:latin typeface="Lato" panose="020F0502020204030203" pitchFamily="34" charset="0"/>
                <a:ea typeface="Lato" panose="020F0502020204030203" pitchFamily="34" charset="0"/>
                <a:cs typeface="Lato" panose="020F0502020204030203" pitchFamily="34" charset="0"/>
              </a:rPr>
              <a:t>Identifies, measures random </a:t>
            </a:r>
            <a:br>
              <a:rPr lang="en-US" sz="1200" dirty="0">
                <a:solidFill>
                  <a:srgbClr val="334155"/>
                </a:solidFill>
                <a:latin typeface="Lato" panose="020F0502020204030203" pitchFamily="34" charset="0"/>
                <a:ea typeface="Lato" panose="020F0502020204030203" pitchFamily="34" charset="0"/>
                <a:cs typeface="Lato" panose="020F0502020204030203" pitchFamily="34" charset="0"/>
              </a:rPr>
            </a:br>
            <a:r>
              <a:rPr lang="en-US" sz="1200" dirty="0">
                <a:solidFill>
                  <a:srgbClr val="334155"/>
                </a:solidFill>
                <a:latin typeface="Lato" panose="020F0502020204030203" pitchFamily="34" charset="0"/>
                <a:ea typeface="Lato" panose="020F0502020204030203" pitchFamily="34" charset="0"/>
                <a:cs typeface="Lato" panose="020F0502020204030203" pitchFamily="34" charset="0"/>
              </a:rPr>
              <a:t>variations in brightness or color (grain/static)</a:t>
            </a:r>
            <a:endParaRPr sz="1200" dirty="0">
              <a:solidFill>
                <a:srgbClr val="334155"/>
              </a:solidFill>
              <a:latin typeface="Lato" panose="020F0502020204030203" pitchFamily="34" charset="0"/>
              <a:ea typeface="Lato" panose="020F0502020204030203" pitchFamily="34" charset="0"/>
              <a:cs typeface="Lato" panose="020F0502020204030203" pitchFamily="34" charset="0"/>
            </a:endParaRPr>
          </a:p>
        </p:txBody>
      </p:sp>
      <p:sp>
        <p:nvSpPr>
          <p:cNvPr id="2" name="TextBox 1">
            <a:extLst>
              <a:ext uri="{FF2B5EF4-FFF2-40B4-BE49-F238E27FC236}">
                <a16:creationId xmlns:a16="http://schemas.microsoft.com/office/drawing/2014/main" id="{83FD198B-E321-DAD1-7795-DA6E233374B5}"/>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190585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23" descr="image.png"/>
          <p:cNvPicPr preferRelativeResize="0"/>
          <p:nvPr/>
        </p:nvPicPr>
        <p:blipFill rotWithShape="1">
          <a:blip r:embed="rId3">
            <a:alphaModFix/>
          </a:blip>
          <a:srcRect/>
          <a:stretch/>
        </p:blipFill>
        <p:spPr>
          <a:xfrm>
            <a:off x="0" y="21430"/>
            <a:ext cx="12192000" cy="6858000"/>
          </a:xfrm>
          <a:prstGeom prst="rect">
            <a:avLst/>
          </a:prstGeom>
          <a:noFill/>
          <a:ln>
            <a:noFill/>
          </a:ln>
        </p:spPr>
      </p:pic>
      <p:sp>
        <p:nvSpPr>
          <p:cNvPr id="245" name="Google Shape;245;p23"/>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Cloud Database Design</a:t>
            </a:r>
            <a:endParaRPr dirty="0"/>
          </a:p>
        </p:txBody>
      </p:sp>
      <p:sp>
        <p:nvSpPr>
          <p:cNvPr id="246" name="Google Shape;246;p23"/>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p:cNvSpPr txBox="1"/>
          <p:nvPr/>
        </p:nvSpPr>
        <p:spPr>
          <a:xfrm>
            <a:off x="1028700" y="133201"/>
            <a:ext cx="10668000"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dirty="0">
                <a:solidFill>
                  <a:srgbClr val="334155"/>
                </a:solidFill>
                <a:latin typeface="Lato"/>
                <a:ea typeface="Lato"/>
                <a:cs typeface="Lato"/>
                <a:sym typeface="Lato"/>
              </a:rPr>
              <a:t>.</a:t>
            </a:r>
            <a:endParaRPr dirty="0"/>
          </a:p>
        </p:txBody>
      </p:sp>
      <p:sp>
        <p:nvSpPr>
          <p:cNvPr id="250" name="Google Shape;250;p23"/>
          <p:cNvSpPr/>
          <p:nvPr/>
        </p:nvSpPr>
        <p:spPr>
          <a:xfrm>
            <a:off x="762000" y="3300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3"/>
          <p:cNvSpPr/>
          <p:nvPr/>
        </p:nvSpPr>
        <p:spPr>
          <a:xfrm>
            <a:off x="2850356" y="3300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p:cNvSpPr/>
          <p:nvPr/>
        </p:nvSpPr>
        <p:spPr>
          <a:xfrm>
            <a:off x="4788247" y="3300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p:cNvSpPr/>
          <p:nvPr/>
        </p:nvSpPr>
        <p:spPr>
          <a:xfrm>
            <a:off x="762000" y="37766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3"/>
          <p:cNvSpPr/>
          <p:nvPr/>
        </p:nvSpPr>
        <p:spPr>
          <a:xfrm>
            <a:off x="2850356" y="37766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p:cNvSpPr/>
          <p:nvPr/>
        </p:nvSpPr>
        <p:spPr>
          <a:xfrm>
            <a:off x="4788247" y="37766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3"/>
          <p:cNvSpPr/>
          <p:nvPr/>
        </p:nvSpPr>
        <p:spPr>
          <a:xfrm>
            <a:off x="762000" y="42529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p:cNvSpPr/>
          <p:nvPr/>
        </p:nvSpPr>
        <p:spPr>
          <a:xfrm>
            <a:off x="2850356" y="42529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3"/>
          <p:cNvSpPr/>
          <p:nvPr/>
        </p:nvSpPr>
        <p:spPr>
          <a:xfrm>
            <a:off x="4788247" y="42529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762000" y="47291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2850356" y="47291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4788247" y="47291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3"/>
          <p:cNvSpPr/>
          <p:nvPr/>
        </p:nvSpPr>
        <p:spPr>
          <a:xfrm>
            <a:off x="762000" y="5205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p:cNvSpPr/>
          <p:nvPr/>
        </p:nvSpPr>
        <p:spPr>
          <a:xfrm>
            <a:off x="2850356" y="5205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p:cNvSpPr/>
          <p:nvPr/>
        </p:nvSpPr>
        <p:spPr>
          <a:xfrm>
            <a:off x="4788247" y="5205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247;p23"/>
          <p:cNvSpPr txBox="1"/>
          <p:nvPr/>
        </p:nvSpPr>
        <p:spPr>
          <a:xfrm>
            <a:off x="669699" y="1416801"/>
            <a:ext cx="10668000"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chemeClr val="tx1"/>
                </a:solidFill>
                <a:latin typeface="Lato"/>
                <a:ea typeface="Lato"/>
                <a:cs typeface="Lato"/>
                <a:sym typeface="Lato"/>
              </a:rPr>
              <a:t>Synthetica utilizes </a:t>
            </a:r>
            <a:r>
              <a:rPr lang="en-US" sz="1500" b="1" i="0" u="none" strike="noStrike" cap="none" dirty="0">
                <a:solidFill>
                  <a:schemeClr val="tx1"/>
                </a:solidFill>
                <a:latin typeface="Lato"/>
                <a:ea typeface="Lato"/>
                <a:cs typeface="Lato"/>
                <a:sym typeface="Lato"/>
              </a:rPr>
              <a:t>Convex</a:t>
            </a:r>
            <a:r>
              <a:rPr lang="en-US" sz="1500" b="0" i="0" u="none" strike="noStrike" cap="none" dirty="0">
                <a:solidFill>
                  <a:schemeClr val="tx1"/>
                </a:solidFill>
                <a:latin typeface="Lato"/>
                <a:ea typeface="Lato"/>
                <a:cs typeface="Lato"/>
                <a:sym typeface="Lato"/>
              </a:rPr>
              <a:t>, a cloud-native, document-oriented database, to enable real-time synchronization of forensic reports across devices.  </a:t>
            </a:r>
            <a:endParaRPr dirty="0">
              <a:solidFill>
                <a:schemeClr val="tx1"/>
              </a:solidFill>
            </a:endParaRPr>
          </a:p>
        </p:txBody>
      </p:sp>
      <p:sp>
        <p:nvSpPr>
          <p:cNvPr id="4" name="Google Shape;247;p23">
            <a:extLst>
              <a:ext uri="{FF2B5EF4-FFF2-40B4-BE49-F238E27FC236}">
                <a16:creationId xmlns:a16="http://schemas.microsoft.com/office/drawing/2014/main" id="{61EF16B5-F45B-078A-8966-BA0CE538D70A}"/>
              </a:ext>
            </a:extLst>
          </p:cNvPr>
          <p:cNvSpPr txBox="1"/>
          <p:nvPr/>
        </p:nvSpPr>
        <p:spPr>
          <a:xfrm>
            <a:off x="761999" y="2796123"/>
            <a:ext cx="10668000" cy="3231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endParaRPr dirty="0">
              <a:solidFill>
                <a:schemeClr val="tx1"/>
              </a:solidFill>
            </a:endParaRPr>
          </a:p>
        </p:txBody>
      </p:sp>
      <p:sp>
        <p:nvSpPr>
          <p:cNvPr id="11" name="Rectangle 10">
            <a:extLst>
              <a:ext uri="{FF2B5EF4-FFF2-40B4-BE49-F238E27FC236}">
                <a16:creationId xmlns:a16="http://schemas.microsoft.com/office/drawing/2014/main" id="{B9F892B0-DD91-3A18-B838-0EBB22DBA12A}"/>
              </a:ext>
            </a:extLst>
          </p:cNvPr>
          <p:cNvSpPr/>
          <p:nvPr/>
        </p:nvSpPr>
        <p:spPr>
          <a:xfrm>
            <a:off x="669701" y="3031242"/>
            <a:ext cx="11062953" cy="24572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
            <a:extLst>
              <a:ext uri="{FF2B5EF4-FFF2-40B4-BE49-F238E27FC236}">
                <a16:creationId xmlns:a16="http://schemas.microsoft.com/office/drawing/2014/main" id="{2C045B4C-F607-8540-29EE-0260C2D2D763}"/>
              </a:ext>
            </a:extLst>
          </p:cNvPr>
          <p:cNvSpPr txBox="1">
            <a:spLocks noChangeArrowheads="1"/>
          </p:cNvSpPr>
          <p:nvPr/>
        </p:nvSpPr>
        <p:spPr bwMode="auto">
          <a:xfrm>
            <a:off x="402998" y="2331571"/>
            <a:ext cx="11201401" cy="3954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b="1" dirty="0">
                <a:solidFill>
                  <a:srgbClr val="1E3A8A"/>
                </a:solidFill>
              </a:rPr>
              <a:t>Persistent User History</a:t>
            </a:r>
            <a:br>
              <a:rPr lang="en-US" sz="2000" dirty="0"/>
            </a:br>
            <a:br>
              <a:rPr lang="en-US" sz="2000" dirty="0"/>
            </a:br>
            <a:br>
              <a:rPr lang="en-US" sz="2000" dirty="0"/>
            </a:br>
            <a:br>
              <a:rPr lang="en-US" sz="2000" dirty="0"/>
            </a:br>
            <a:br>
              <a:rPr lang="en-US" sz="2000" dirty="0"/>
            </a:br>
            <a:br>
              <a:rPr lang="en-US" sz="2000" dirty="0"/>
            </a:br>
            <a:endParaRPr lang="en-US" sz="2000" dirty="0"/>
          </a:p>
          <a:p>
            <a:br>
              <a:rPr lang="en-US" sz="2000" b="1" dirty="0">
                <a:solidFill>
                  <a:srgbClr val="1E3A8A"/>
                </a:solidFill>
              </a:rPr>
            </a:br>
            <a:br>
              <a:rPr lang="en-US" sz="2000" b="1" dirty="0">
                <a:solidFill>
                  <a:srgbClr val="1E3A8A"/>
                </a:solidFill>
              </a:rPr>
            </a:br>
            <a:br>
              <a:rPr lang="en-US" sz="2000" b="1" dirty="0">
                <a:solidFill>
                  <a:srgbClr val="1E3A8A"/>
                </a:solidFill>
              </a:rPr>
            </a:br>
            <a:r>
              <a:rPr lang="en-US" sz="2000" b="1" dirty="0">
                <a:solidFill>
                  <a:srgbClr val="1E3A8A"/>
                </a:solidFill>
              </a:rPr>
              <a:t>Optimized Storage</a:t>
            </a:r>
            <a:br>
              <a:rPr lang="en-US" sz="1800" b="1" dirty="0">
                <a:solidFill>
                  <a:srgbClr val="1E3A8A"/>
                </a:solidFill>
              </a:rPr>
            </a:br>
            <a:r>
              <a:rPr lang="en-US" sz="1800" b="1" dirty="0">
                <a:solidFill>
                  <a:srgbClr val="1E3A8A"/>
                </a:solidFill>
              </a:rPr>
              <a:t>      </a:t>
            </a:r>
            <a:r>
              <a:rPr lang="en-US" sz="1600" dirty="0">
                <a:latin typeface="Lato" panose="020F0502020204030203" pitchFamily="34" charset="0"/>
                <a:ea typeface="Lato" panose="020F0502020204030203" pitchFamily="34" charset="0"/>
                <a:cs typeface="Lato" panose="020F0502020204030203" pitchFamily="34" charset="0"/>
              </a:rPr>
              <a:t>Configured to maintain a high-speed </a:t>
            </a:r>
            <a:r>
              <a:rPr lang="en-US" sz="1600" b="1" dirty="0">
                <a:latin typeface="Lato" panose="020F0502020204030203" pitchFamily="34" charset="0"/>
                <a:ea typeface="Lato" panose="020F0502020204030203" pitchFamily="34" charset="0"/>
                <a:cs typeface="Lato" panose="020F0502020204030203" pitchFamily="34" charset="0"/>
              </a:rPr>
              <a:t>rolling history of the last 11 scans</a:t>
            </a:r>
            <a:r>
              <a:rPr lang="en-US" sz="1600" dirty="0">
                <a:latin typeface="Lato" panose="020F0502020204030203" pitchFamily="34" charset="0"/>
                <a:ea typeface="Lato" panose="020F0502020204030203" pitchFamily="34" charset="0"/>
                <a:cs typeface="Lato" panose="020F0502020204030203" pitchFamily="34" charset="0"/>
              </a:rPr>
              <a:t> per user. </a:t>
            </a:r>
            <a:r>
              <a:rPr lang="en-PK" altLang="en-PK" sz="1600" dirty="0">
                <a:solidFill>
                  <a:schemeClr val="tx1"/>
                </a:solidFill>
                <a:latin typeface="Lato" panose="020F0502020204030203" pitchFamily="34" charset="0"/>
                <a:ea typeface="Lato" panose="020F0502020204030203" pitchFamily="34" charset="0"/>
                <a:cs typeface="Lato" panose="020F0502020204030203" pitchFamily="34" charset="0"/>
              </a:rPr>
              <a:t>This limit ensures high performance and high-speed retrieval while providing a comprehensive audit trail for recent digital investigations.</a:t>
            </a:r>
            <a:endParaRPr lang="en-US" sz="1600" dirty="0">
              <a:latin typeface="Lato" panose="020F0502020204030203" pitchFamily="34" charset="0"/>
              <a:ea typeface="Lato" panose="020F0502020204030203" pitchFamily="34" charset="0"/>
              <a:cs typeface="Lato" panose="020F0502020204030203" pitchFamily="34" charset="0"/>
            </a:endParaRPr>
          </a:p>
        </p:txBody>
      </p:sp>
      <p:pic>
        <p:nvPicPr>
          <p:cNvPr id="2" name="Google Shape;197;p20" descr="image.png">
            <a:extLst>
              <a:ext uri="{FF2B5EF4-FFF2-40B4-BE49-F238E27FC236}">
                <a16:creationId xmlns:a16="http://schemas.microsoft.com/office/drawing/2014/main" id="{CFEBE781-E5AB-6463-B393-DD82C83901EA}"/>
              </a:ext>
            </a:extLst>
          </p:cNvPr>
          <p:cNvPicPr preferRelativeResize="0"/>
          <p:nvPr/>
        </p:nvPicPr>
        <p:blipFill rotWithShape="1">
          <a:blip r:embed="rId4">
            <a:alphaModFix/>
          </a:blip>
          <a:srcRect/>
          <a:stretch/>
        </p:blipFill>
        <p:spPr>
          <a:xfrm>
            <a:off x="1189521" y="2876481"/>
            <a:ext cx="4010238" cy="1786044"/>
          </a:xfrm>
          <a:prstGeom prst="rect">
            <a:avLst/>
          </a:prstGeom>
          <a:noFill/>
          <a:ln>
            <a:noFill/>
          </a:ln>
        </p:spPr>
      </p:pic>
      <p:sp>
        <p:nvSpPr>
          <p:cNvPr id="5" name="Google Shape;203;p20">
            <a:extLst>
              <a:ext uri="{FF2B5EF4-FFF2-40B4-BE49-F238E27FC236}">
                <a16:creationId xmlns:a16="http://schemas.microsoft.com/office/drawing/2014/main" id="{87EEB6DF-4CFF-E817-7D6F-9176A9D70188}"/>
              </a:ext>
            </a:extLst>
          </p:cNvPr>
          <p:cNvSpPr txBox="1"/>
          <p:nvPr/>
        </p:nvSpPr>
        <p:spPr>
          <a:xfrm>
            <a:off x="1413898" y="3066176"/>
            <a:ext cx="3722775" cy="215444"/>
          </a:xfrm>
          <a:prstGeom prst="rect">
            <a:avLst/>
          </a:prstGeom>
          <a:noFill/>
          <a:ln>
            <a:noFill/>
          </a:ln>
        </p:spPr>
        <p:txBody>
          <a:bodyPr spcFirstLastPara="1" wrap="square" lIns="0" tIns="0" rIns="0" bIns="0" anchor="t" anchorCtr="0">
            <a:spAutoFit/>
          </a:bodyPr>
          <a:lstStyle/>
          <a:p>
            <a:pPr lvl="0"/>
            <a:r>
              <a:rPr lang="en-US" b="1" dirty="0"/>
              <a:t>Secure Retrieval</a:t>
            </a:r>
            <a:endParaRPr dirty="0"/>
          </a:p>
        </p:txBody>
      </p:sp>
      <p:sp>
        <p:nvSpPr>
          <p:cNvPr id="6" name="Google Shape;204;p20">
            <a:extLst>
              <a:ext uri="{FF2B5EF4-FFF2-40B4-BE49-F238E27FC236}">
                <a16:creationId xmlns:a16="http://schemas.microsoft.com/office/drawing/2014/main" id="{F494EFE5-91EC-BE89-825B-A2C03FCE91C3}"/>
              </a:ext>
            </a:extLst>
          </p:cNvPr>
          <p:cNvSpPr txBox="1"/>
          <p:nvPr/>
        </p:nvSpPr>
        <p:spPr>
          <a:xfrm>
            <a:off x="1502535" y="3388812"/>
            <a:ext cx="3545500" cy="1292662"/>
          </a:xfrm>
          <a:prstGeom prst="rect">
            <a:avLst/>
          </a:prstGeom>
          <a:noFill/>
          <a:ln>
            <a:noFill/>
          </a:ln>
        </p:spPr>
        <p:txBody>
          <a:bodyPr spcFirstLastPara="1" wrap="square" lIns="0" tIns="0" rIns="0" bIns="0" anchor="t" anchorCtr="0">
            <a:spAutoFit/>
          </a:bodyPr>
          <a:lstStyle/>
          <a:p>
            <a:pPr>
              <a:lnSpc>
                <a:spcPct val="150000"/>
              </a:lnSpc>
            </a:pPr>
            <a:r>
              <a:rPr lang="en-US" dirty="0"/>
              <a:t>Forensic audit logs, graphs, heatmaps, and probability scores are tied directly to user accounts.</a:t>
            </a:r>
          </a:p>
          <a:p>
            <a:pPr marL="0" marR="0" lvl="0" indent="0" algn="l" rtl="0">
              <a:lnSpc>
                <a:spcPct val="150000"/>
              </a:lnSpc>
              <a:spcBef>
                <a:spcPts val="0"/>
              </a:spcBef>
              <a:spcAft>
                <a:spcPts val="0"/>
              </a:spcAft>
              <a:buNone/>
            </a:pPr>
            <a:endParaRPr dirty="0">
              <a:solidFill>
                <a:schemeClr val="tx1"/>
              </a:solidFill>
            </a:endParaRPr>
          </a:p>
        </p:txBody>
      </p:sp>
      <p:pic>
        <p:nvPicPr>
          <p:cNvPr id="7" name="Google Shape;197;p20" descr="image.png">
            <a:extLst>
              <a:ext uri="{FF2B5EF4-FFF2-40B4-BE49-F238E27FC236}">
                <a16:creationId xmlns:a16="http://schemas.microsoft.com/office/drawing/2014/main" id="{728DE314-EEAB-CF90-3BDC-8B560CFDC0A8}"/>
              </a:ext>
            </a:extLst>
          </p:cNvPr>
          <p:cNvPicPr preferRelativeResize="0"/>
          <p:nvPr/>
        </p:nvPicPr>
        <p:blipFill rotWithShape="1">
          <a:blip r:embed="rId4">
            <a:alphaModFix/>
          </a:blip>
          <a:srcRect/>
          <a:stretch/>
        </p:blipFill>
        <p:spPr>
          <a:xfrm>
            <a:off x="6397181" y="2833218"/>
            <a:ext cx="4010238" cy="1782836"/>
          </a:xfrm>
          <a:prstGeom prst="rect">
            <a:avLst/>
          </a:prstGeom>
          <a:noFill/>
          <a:ln>
            <a:noFill/>
          </a:ln>
        </p:spPr>
      </p:pic>
      <p:sp>
        <p:nvSpPr>
          <p:cNvPr id="8" name="Google Shape;203;p20">
            <a:extLst>
              <a:ext uri="{FF2B5EF4-FFF2-40B4-BE49-F238E27FC236}">
                <a16:creationId xmlns:a16="http://schemas.microsoft.com/office/drawing/2014/main" id="{5D7F6455-9BBB-0F77-EEBA-78D1C3C2DB12}"/>
              </a:ext>
            </a:extLst>
          </p:cNvPr>
          <p:cNvSpPr txBox="1"/>
          <p:nvPr/>
        </p:nvSpPr>
        <p:spPr>
          <a:xfrm>
            <a:off x="6687856" y="3079082"/>
            <a:ext cx="4018956" cy="215444"/>
          </a:xfrm>
          <a:prstGeom prst="rect">
            <a:avLst/>
          </a:prstGeom>
          <a:noFill/>
          <a:ln>
            <a:noFill/>
          </a:ln>
        </p:spPr>
        <p:txBody>
          <a:bodyPr spcFirstLastPara="1" wrap="square" lIns="0" tIns="0" rIns="0" bIns="0" anchor="t" anchorCtr="0">
            <a:spAutoFit/>
          </a:bodyPr>
          <a:lstStyle/>
          <a:p>
            <a:pPr lvl="0"/>
            <a:r>
              <a:rPr lang="en-US" b="1" dirty="0"/>
              <a:t>Cross-Platform</a:t>
            </a:r>
            <a:endParaRPr dirty="0"/>
          </a:p>
        </p:txBody>
      </p:sp>
      <p:sp>
        <p:nvSpPr>
          <p:cNvPr id="9" name="Google Shape;204;p20">
            <a:extLst>
              <a:ext uri="{FF2B5EF4-FFF2-40B4-BE49-F238E27FC236}">
                <a16:creationId xmlns:a16="http://schemas.microsoft.com/office/drawing/2014/main" id="{4961EDA9-291D-3D3A-1435-25D80053DCFC}"/>
              </a:ext>
            </a:extLst>
          </p:cNvPr>
          <p:cNvSpPr txBox="1"/>
          <p:nvPr/>
        </p:nvSpPr>
        <p:spPr>
          <a:xfrm>
            <a:off x="6606846" y="3450430"/>
            <a:ext cx="3827577" cy="646331"/>
          </a:xfrm>
          <a:prstGeom prst="rect">
            <a:avLst/>
          </a:prstGeom>
          <a:noFill/>
          <a:ln>
            <a:noFill/>
          </a:ln>
        </p:spPr>
        <p:txBody>
          <a:bodyPr spcFirstLastPara="1" wrap="square" lIns="0" tIns="0" rIns="0" bIns="0" anchor="t" anchorCtr="0">
            <a:spAutoFit/>
          </a:bodyPr>
          <a:lstStyle/>
          <a:p>
            <a:pPr lvl="0">
              <a:lnSpc>
                <a:spcPct val="150000"/>
              </a:lnSpc>
            </a:pPr>
            <a:r>
              <a:rPr lang="en-US" dirty="0"/>
              <a:t>Allows investigators to start a scan on a </a:t>
            </a:r>
            <a:br>
              <a:rPr lang="en-US" dirty="0"/>
            </a:br>
            <a:r>
              <a:rPr lang="en-US" dirty="0"/>
              <a:t>desktop and instantly review results on mobile.</a:t>
            </a:r>
            <a:endParaRPr dirty="0">
              <a:solidFill>
                <a:schemeClr val="tx1"/>
              </a:solidFill>
            </a:endParaRPr>
          </a:p>
        </p:txBody>
      </p:sp>
      <p:sp>
        <p:nvSpPr>
          <p:cNvPr id="10" name="TextBox 9">
            <a:extLst>
              <a:ext uri="{FF2B5EF4-FFF2-40B4-BE49-F238E27FC236}">
                <a16:creationId xmlns:a16="http://schemas.microsoft.com/office/drawing/2014/main" id="{04140025-42BA-371E-68D0-29233ABDF202}"/>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842002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3">
          <a:extLst>
            <a:ext uri="{FF2B5EF4-FFF2-40B4-BE49-F238E27FC236}">
              <a16:creationId xmlns:a16="http://schemas.microsoft.com/office/drawing/2014/main" id="{4E10DC90-9849-4F63-0488-5C4DB03ACEF9}"/>
            </a:ext>
          </a:extLst>
        </p:cNvPr>
        <p:cNvGrpSpPr/>
        <p:nvPr/>
      </p:nvGrpSpPr>
      <p:grpSpPr>
        <a:xfrm>
          <a:off x="0" y="0"/>
          <a:ext cx="0" cy="0"/>
          <a:chOff x="0" y="0"/>
          <a:chExt cx="0" cy="0"/>
        </a:xfrm>
      </p:grpSpPr>
      <p:pic>
        <p:nvPicPr>
          <p:cNvPr id="244" name="Google Shape;244;p23" descr="image.png">
            <a:extLst>
              <a:ext uri="{FF2B5EF4-FFF2-40B4-BE49-F238E27FC236}">
                <a16:creationId xmlns:a16="http://schemas.microsoft.com/office/drawing/2014/main" id="{FB7DD2D9-5D93-C9A2-0BA7-0188123EC7B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5" name="Google Shape;245;p23">
            <a:extLst>
              <a:ext uri="{FF2B5EF4-FFF2-40B4-BE49-F238E27FC236}">
                <a16:creationId xmlns:a16="http://schemas.microsoft.com/office/drawing/2014/main" id="{EE656471-5A60-43B9-C421-CA2AF12385D3}"/>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Cloud Database Design</a:t>
            </a:r>
            <a:endParaRPr dirty="0"/>
          </a:p>
        </p:txBody>
      </p:sp>
      <p:sp>
        <p:nvSpPr>
          <p:cNvPr id="246" name="Google Shape;246;p23">
            <a:extLst>
              <a:ext uri="{FF2B5EF4-FFF2-40B4-BE49-F238E27FC236}">
                <a16:creationId xmlns:a16="http://schemas.microsoft.com/office/drawing/2014/main" id="{2BD59A5F-7776-5AFD-958C-B16BDB024515}"/>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AB32854B-3A4B-CCC1-05DB-E089D2176A42}"/>
              </a:ext>
            </a:extLst>
          </p:cNvPr>
          <p:cNvSpPr txBox="1"/>
          <p:nvPr/>
        </p:nvSpPr>
        <p:spPr>
          <a:xfrm>
            <a:off x="1028700" y="133201"/>
            <a:ext cx="10668000"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dirty="0">
                <a:solidFill>
                  <a:srgbClr val="334155"/>
                </a:solidFill>
                <a:latin typeface="Lato"/>
                <a:ea typeface="Lato"/>
                <a:cs typeface="Lato"/>
                <a:sym typeface="Lato"/>
              </a:rPr>
              <a:t>.</a:t>
            </a:r>
            <a:endParaRPr dirty="0"/>
          </a:p>
        </p:txBody>
      </p:sp>
      <p:sp>
        <p:nvSpPr>
          <p:cNvPr id="250" name="Google Shape;250;p23">
            <a:extLst>
              <a:ext uri="{FF2B5EF4-FFF2-40B4-BE49-F238E27FC236}">
                <a16:creationId xmlns:a16="http://schemas.microsoft.com/office/drawing/2014/main" id="{1801D8EC-1242-D886-935B-453158784A0E}"/>
              </a:ext>
            </a:extLst>
          </p:cNvPr>
          <p:cNvSpPr/>
          <p:nvPr/>
        </p:nvSpPr>
        <p:spPr>
          <a:xfrm>
            <a:off x="762000" y="3300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3">
            <a:extLst>
              <a:ext uri="{FF2B5EF4-FFF2-40B4-BE49-F238E27FC236}">
                <a16:creationId xmlns:a16="http://schemas.microsoft.com/office/drawing/2014/main" id="{A7C481B5-7056-6D13-96F5-379D5AB87BA2}"/>
              </a:ext>
            </a:extLst>
          </p:cNvPr>
          <p:cNvSpPr/>
          <p:nvPr/>
        </p:nvSpPr>
        <p:spPr>
          <a:xfrm>
            <a:off x="2850356" y="3300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a:extLst>
              <a:ext uri="{FF2B5EF4-FFF2-40B4-BE49-F238E27FC236}">
                <a16:creationId xmlns:a16="http://schemas.microsoft.com/office/drawing/2014/main" id="{7402B3A7-DA09-DF17-DFCF-043BD25A7BC4}"/>
              </a:ext>
            </a:extLst>
          </p:cNvPr>
          <p:cNvSpPr/>
          <p:nvPr/>
        </p:nvSpPr>
        <p:spPr>
          <a:xfrm>
            <a:off x="4788247" y="3300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a:extLst>
              <a:ext uri="{FF2B5EF4-FFF2-40B4-BE49-F238E27FC236}">
                <a16:creationId xmlns:a16="http://schemas.microsoft.com/office/drawing/2014/main" id="{E8DD1FE2-F9ED-D34F-5861-E5758F729E88}"/>
              </a:ext>
            </a:extLst>
          </p:cNvPr>
          <p:cNvSpPr/>
          <p:nvPr/>
        </p:nvSpPr>
        <p:spPr>
          <a:xfrm>
            <a:off x="762000" y="37766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3">
            <a:extLst>
              <a:ext uri="{FF2B5EF4-FFF2-40B4-BE49-F238E27FC236}">
                <a16:creationId xmlns:a16="http://schemas.microsoft.com/office/drawing/2014/main" id="{BA9C7E55-A1E5-91DC-AF4D-470B80053044}"/>
              </a:ext>
            </a:extLst>
          </p:cNvPr>
          <p:cNvSpPr/>
          <p:nvPr/>
        </p:nvSpPr>
        <p:spPr>
          <a:xfrm>
            <a:off x="2850356" y="37766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a:extLst>
              <a:ext uri="{FF2B5EF4-FFF2-40B4-BE49-F238E27FC236}">
                <a16:creationId xmlns:a16="http://schemas.microsoft.com/office/drawing/2014/main" id="{DAA51A34-02E8-86CD-B54B-1F789CD553A4}"/>
              </a:ext>
            </a:extLst>
          </p:cNvPr>
          <p:cNvSpPr/>
          <p:nvPr/>
        </p:nvSpPr>
        <p:spPr>
          <a:xfrm>
            <a:off x="4788247" y="37766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3">
            <a:extLst>
              <a:ext uri="{FF2B5EF4-FFF2-40B4-BE49-F238E27FC236}">
                <a16:creationId xmlns:a16="http://schemas.microsoft.com/office/drawing/2014/main" id="{52375633-33E1-9EF1-9337-4794580262FF}"/>
              </a:ext>
            </a:extLst>
          </p:cNvPr>
          <p:cNvSpPr/>
          <p:nvPr/>
        </p:nvSpPr>
        <p:spPr>
          <a:xfrm>
            <a:off x="762000" y="42529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a:extLst>
              <a:ext uri="{FF2B5EF4-FFF2-40B4-BE49-F238E27FC236}">
                <a16:creationId xmlns:a16="http://schemas.microsoft.com/office/drawing/2014/main" id="{99E86390-BF58-5602-390E-12912BCD5C75}"/>
              </a:ext>
            </a:extLst>
          </p:cNvPr>
          <p:cNvSpPr/>
          <p:nvPr/>
        </p:nvSpPr>
        <p:spPr>
          <a:xfrm>
            <a:off x="2850356" y="42529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3">
            <a:extLst>
              <a:ext uri="{FF2B5EF4-FFF2-40B4-BE49-F238E27FC236}">
                <a16:creationId xmlns:a16="http://schemas.microsoft.com/office/drawing/2014/main" id="{9051D412-DD23-059B-7472-72A03486C279}"/>
              </a:ext>
            </a:extLst>
          </p:cNvPr>
          <p:cNvSpPr/>
          <p:nvPr/>
        </p:nvSpPr>
        <p:spPr>
          <a:xfrm>
            <a:off x="4788247" y="42529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a:extLst>
              <a:ext uri="{FF2B5EF4-FFF2-40B4-BE49-F238E27FC236}">
                <a16:creationId xmlns:a16="http://schemas.microsoft.com/office/drawing/2014/main" id="{CD9ADBFF-03A7-90E6-5D49-C76E141977AD}"/>
              </a:ext>
            </a:extLst>
          </p:cNvPr>
          <p:cNvSpPr/>
          <p:nvPr/>
        </p:nvSpPr>
        <p:spPr>
          <a:xfrm>
            <a:off x="762000" y="47291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3">
            <a:extLst>
              <a:ext uri="{FF2B5EF4-FFF2-40B4-BE49-F238E27FC236}">
                <a16:creationId xmlns:a16="http://schemas.microsoft.com/office/drawing/2014/main" id="{A7219AB4-56F7-6CA1-B4B8-5C63A5FEF19D}"/>
              </a:ext>
            </a:extLst>
          </p:cNvPr>
          <p:cNvSpPr/>
          <p:nvPr/>
        </p:nvSpPr>
        <p:spPr>
          <a:xfrm>
            <a:off x="2850356" y="47291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a:extLst>
              <a:ext uri="{FF2B5EF4-FFF2-40B4-BE49-F238E27FC236}">
                <a16:creationId xmlns:a16="http://schemas.microsoft.com/office/drawing/2014/main" id="{14AC6421-132E-3743-C533-C6B1781409EE}"/>
              </a:ext>
            </a:extLst>
          </p:cNvPr>
          <p:cNvSpPr/>
          <p:nvPr/>
        </p:nvSpPr>
        <p:spPr>
          <a:xfrm>
            <a:off x="4788247" y="47291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3">
            <a:extLst>
              <a:ext uri="{FF2B5EF4-FFF2-40B4-BE49-F238E27FC236}">
                <a16:creationId xmlns:a16="http://schemas.microsoft.com/office/drawing/2014/main" id="{46857EFD-1D82-3123-175D-3FCC1FFF29C5}"/>
              </a:ext>
            </a:extLst>
          </p:cNvPr>
          <p:cNvSpPr/>
          <p:nvPr/>
        </p:nvSpPr>
        <p:spPr>
          <a:xfrm>
            <a:off x="762000" y="5205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a:extLst>
              <a:ext uri="{FF2B5EF4-FFF2-40B4-BE49-F238E27FC236}">
                <a16:creationId xmlns:a16="http://schemas.microsoft.com/office/drawing/2014/main" id="{549BC193-6ABE-7BB1-E3AD-47850CEE0529}"/>
              </a:ext>
            </a:extLst>
          </p:cNvPr>
          <p:cNvSpPr/>
          <p:nvPr/>
        </p:nvSpPr>
        <p:spPr>
          <a:xfrm>
            <a:off x="2850356" y="5205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a:extLst>
              <a:ext uri="{FF2B5EF4-FFF2-40B4-BE49-F238E27FC236}">
                <a16:creationId xmlns:a16="http://schemas.microsoft.com/office/drawing/2014/main" id="{BB4DFEC5-6F2A-37DB-DAAC-4837E44B6F54}"/>
              </a:ext>
            </a:extLst>
          </p:cNvPr>
          <p:cNvSpPr/>
          <p:nvPr/>
        </p:nvSpPr>
        <p:spPr>
          <a:xfrm>
            <a:off x="4788247" y="5205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247;p23">
            <a:extLst>
              <a:ext uri="{FF2B5EF4-FFF2-40B4-BE49-F238E27FC236}">
                <a16:creationId xmlns:a16="http://schemas.microsoft.com/office/drawing/2014/main" id="{13E9C85A-77F0-9F15-732A-57AF650076E5}"/>
              </a:ext>
            </a:extLst>
          </p:cNvPr>
          <p:cNvSpPr txBox="1"/>
          <p:nvPr/>
        </p:nvSpPr>
        <p:spPr>
          <a:xfrm>
            <a:off x="761999" y="2796123"/>
            <a:ext cx="10668000" cy="3231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endParaRPr dirty="0">
              <a:solidFill>
                <a:schemeClr val="tx1"/>
              </a:solidFill>
            </a:endParaRPr>
          </a:p>
        </p:txBody>
      </p:sp>
      <p:sp>
        <p:nvSpPr>
          <p:cNvPr id="11" name="Rectangle 10">
            <a:extLst>
              <a:ext uri="{FF2B5EF4-FFF2-40B4-BE49-F238E27FC236}">
                <a16:creationId xmlns:a16="http://schemas.microsoft.com/office/drawing/2014/main" id="{4B0D2DC3-1F9E-F8E1-C728-596DA3AECF4F}"/>
              </a:ext>
            </a:extLst>
          </p:cNvPr>
          <p:cNvSpPr/>
          <p:nvPr/>
        </p:nvSpPr>
        <p:spPr>
          <a:xfrm>
            <a:off x="669701" y="3031242"/>
            <a:ext cx="11062953" cy="24572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
            <a:extLst>
              <a:ext uri="{FF2B5EF4-FFF2-40B4-BE49-F238E27FC236}">
                <a16:creationId xmlns:a16="http://schemas.microsoft.com/office/drawing/2014/main" id="{31EEA0C1-3D58-624D-4079-DCCB5DCF7A43}"/>
              </a:ext>
            </a:extLst>
          </p:cNvPr>
          <p:cNvSpPr txBox="1">
            <a:spLocks noChangeArrowheads="1"/>
          </p:cNvSpPr>
          <p:nvPr/>
        </p:nvSpPr>
        <p:spPr bwMode="auto">
          <a:xfrm>
            <a:off x="459346" y="1674882"/>
            <a:ext cx="11273308" cy="497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eaLnBrk="0" fontAlgn="base" hangingPunct="0">
              <a:spcBef>
                <a:spcPct val="0"/>
              </a:spcBef>
              <a:spcAft>
                <a:spcPct val="0"/>
              </a:spcAft>
              <a:buClrTx/>
              <a:buFont typeface="Arial" panose="020B0604020202020204" pitchFamily="34" charset="0"/>
              <a:buChar char="•"/>
            </a:pPr>
            <a:r>
              <a:rPr lang="en-US" altLang="en-PK" sz="2000" dirty="0" err="1">
                <a:solidFill>
                  <a:schemeClr val="tx1"/>
                </a:solidFill>
                <a:latin typeface="Lato" panose="020F0502020204030203" pitchFamily="34" charset="0"/>
                <a:ea typeface="Lato" panose="020F0502020204030203" pitchFamily="34" charset="0"/>
                <a:cs typeface="Lato" panose="020F0502020204030203" pitchFamily="34" charset="0"/>
              </a:rPr>
              <a:t>Synthetica</a:t>
            </a:r>
            <a: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t> </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u</a:t>
            </a:r>
            <a: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t>se</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 </a:t>
            </a:r>
            <a:r>
              <a:rPr lang="en-PK" altLang="en-PK" sz="2000" b="1" dirty="0">
                <a:solidFill>
                  <a:schemeClr val="tx1"/>
                </a:solidFill>
                <a:latin typeface="Lato" panose="020F0502020204030203" pitchFamily="34" charset="0"/>
                <a:ea typeface="Lato" panose="020F0502020204030203" pitchFamily="34" charset="0"/>
                <a:cs typeface="Lato" panose="020F0502020204030203" pitchFamily="34" charset="0"/>
              </a:rPr>
              <a:t>Convex</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 </a:t>
            </a:r>
            <a: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t>which is </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a cloud-native, document-oriented database, to enable real-time synchronization of forensic reports across all devices.</a:t>
            </a:r>
            <a:b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br>
            <a:endPar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endParaRPr>
          </a:p>
          <a:p>
            <a:pPr marL="285750" indent="-285750" eaLnBrk="0" fontAlgn="base" hangingPunct="0">
              <a:spcBef>
                <a:spcPct val="0"/>
              </a:spcBef>
              <a:spcAft>
                <a:spcPct val="0"/>
              </a:spcAft>
              <a:buClrTx/>
              <a:buFont typeface="Arial" panose="020B0604020202020204" pitchFamily="34" charset="0"/>
              <a:buChar char="•"/>
            </a:pPr>
            <a: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t>The purpose to use this instead of SQL is that </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Convex</a:t>
            </a:r>
            <a: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t> makes it easy to access and manage database</a:t>
            </a:r>
            <a:b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br>
            <a:b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br>
            <a:b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br>
            <a:endPar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endParaRPr>
          </a:p>
          <a:p>
            <a:pPr eaLnBrk="0" fontAlgn="base" hangingPunct="0">
              <a:spcBef>
                <a:spcPct val="0"/>
              </a:spcBef>
              <a:spcAft>
                <a:spcPct val="0"/>
              </a:spcAft>
              <a:buClrTx/>
            </a:pPr>
            <a:r>
              <a:rPr lang="en-PK" altLang="en-PK" sz="2400" b="1" dirty="0">
                <a:solidFill>
                  <a:schemeClr val="tx1"/>
                </a:solidFill>
                <a:latin typeface="Poppins" panose="00000500000000000000" pitchFamily="2" charset="0"/>
                <a:cs typeface="Poppins" panose="00000500000000000000" pitchFamily="2" charset="0"/>
              </a:rPr>
              <a:t>Persistent User History</a:t>
            </a:r>
            <a:endParaRPr lang="en-PK" altLang="en-PK" sz="2400" dirty="0">
              <a:solidFill>
                <a:schemeClr val="tx1"/>
              </a:solidFill>
              <a:latin typeface="Poppins" panose="00000500000000000000" pitchFamily="2" charset="0"/>
              <a:cs typeface="Poppins" panose="00000500000000000000" pitchFamily="2" charset="0"/>
            </a:endParaRPr>
          </a:p>
          <a:p>
            <a:pPr marL="285750" indent="-285750" eaLnBrk="0" fontAlgn="base" hangingPunct="0">
              <a:spcBef>
                <a:spcPct val="0"/>
              </a:spcBef>
              <a:spcAft>
                <a:spcPct val="0"/>
              </a:spcAft>
              <a:buClrTx/>
              <a:buFont typeface="Arial" panose="020B0604020202020204" pitchFamily="34" charset="0"/>
              <a:buChar char="•"/>
            </a:pPr>
            <a:r>
              <a:rPr lang="en-US" altLang="en-PK" sz="2000" b="1" dirty="0">
                <a:solidFill>
                  <a:schemeClr val="tx1"/>
                </a:solidFill>
                <a:latin typeface="Lato" panose="020F0502020204030203" pitchFamily="34" charset="0"/>
                <a:ea typeface="Lato" panose="020F0502020204030203" pitchFamily="34" charset="0"/>
                <a:cs typeface="Lato" panose="020F0502020204030203" pitchFamily="34" charset="0"/>
              </a:rPr>
              <a:t>G</a:t>
            </a:r>
            <a:r>
              <a:rPr lang="en-US" sz="2000" dirty="0"/>
              <a:t>raphs, heatmaps, probability scores and audit logs are directly tied to user accounts and secured in cloud</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 allowing users to retrieve their past work every time they re-authenticate.</a:t>
            </a:r>
            <a:b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br>
            <a:endParaRPr lang="en-US" sz="2000" dirty="0"/>
          </a:p>
          <a:p>
            <a:pPr marL="285750" indent="-285750" eaLnBrk="0" fontAlgn="base" hangingPunct="0">
              <a:spcBef>
                <a:spcPct val="0"/>
              </a:spcBef>
              <a:spcAft>
                <a:spcPct val="0"/>
              </a:spcAft>
              <a:buClrTx/>
              <a:buFont typeface="Arial" panose="020B0604020202020204" pitchFamily="34" charset="0"/>
              <a:buChar char="•"/>
            </a:pPr>
            <a:r>
              <a:rPr lang="en-US" altLang="en-PK" sz="2000" b="1" dirty="0">
                <a:solidFill>
                  <a:schemeClr val="tx1"/>
                </a:solidFill>
                <a:latin typeface="Lato" panose="020F0502020204030203" pitchFamily="34" charset="0"/>
                <a:ea typeface="Lato" panose="020F0502020204030203" pitchFamily="34" charset="0"/>
                <a:cs typeface="Lato" panose="020F0502020204030203" pitchFamily="34" charset="0"/>
              </a:rPr>
              <a:t>Cross platform </a:t>
            </a:r>
            <a:r>
              <a:rPr lang="en-US" altLang="en-PK" sz="2000" b="1" dirty="0" err="1">
                <a:solidFill>
                  <a:schemeClr val="tx1"/>
                </a:solidFill>
                <a:latin typeface="Lato" panose="020F0502020204030203" pitchFamily="34" charset="0"/>
                <a:ea typeface="Lato" panose="020F0502020204030203" pitchFamily="34" charset="0"/>
                <a:cs typeface="Lato" panose="020F0502020204030203" pitchFamily="34" charset="0"/>
              </a:rPr>
              <a:t>abillity</a:t>
            </a:r>
            <a:r>
              <a:rPr lang="en-PK" altLang="en-PK" sz="2000" b="1" dirty="0">
                <a:solidFill>
                  <a:schemeClr val="tx1"/>
                </a:solidFill>
                <a:latin typeface="Lato" panose="020F0502020204030203" pitchFamily="34" charset="0"/>
                <a:ea typeface="Lato" panose="020F0502020204030203" pitchFamily="34" charset="0"/>
                <a:cs typeface="Lato" panose="020F0502020204030203" pitchFamily="34" charset="0"/>
              </a:rPr>
              <a:t>:</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 </a:t>
            </a:r>
            <a:r>
              <a:rPr lang="en-US" sz="2000" dirty="0"/>
              <a:t>Allows investigators to start a scan on a desktop and instantly review results on mobile.</a:t>
            </a:r>
            <a:endParaRPr lang="en-US" sz="2000" dirty="0">
              <a:solidFill>
                <a:schemeClr val="tx1"/>
              </a:solidFill>
            </a:endParaRPr>
          </a:p>
          <a:p>
            <a:pPr eaLnBrk="0" fontAlgn="base" hangingPunct="0">
              <a:spcBef>
                <a:spcPct val="0"/>
              </a:spcBef>
              <a:spcAft>
                <a:spcPct val="0"/>
              </a:spcAft>
              <a:buClrTx/>
            </a:pPr>
            <a:br>
              <a:rPr lang="en-US" altLang="en-PK" sz="1800" dirty="0">
                <a:solidFill>
                  <a:schemeClr val="tx1"/>
                </a:solidFill>
                <a:latin typeface="Lato" panose="020F0502020204030203" pitchFamily="34" charset="0"/>
                <a:ea typeface="Lato" panose="020F0502020204030203" pitchFamily="34" charset="0"/>
                <a:cs typeface="Lato" panose="020F0502020204030203" pitchFamily="34" charset="0"/>
              </a:rPr>
            </a:br>
            <a:endParaRPr lang="en-PK" altLang="en-PK" sz="1800"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2" name="Google Shape;173;p18">
            <a:extLst>
              <a:ext uri="{FF2B5EF4-FFF2-40B4-BE49-F238E27FC236}">
                <a16:creationId xmlns:a16="http://schemas.microsoft.com/office/drawing/2014/main" id="{BC44225F-E714-3802-B67A-C5D28A268C90}"/>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extLst>
      <p:ext uri="{BB962C8B-B14F-4D97-AF65-F5344CB8AC3E}">
        <p14:creationId xmlns:p14="http://schemas.microsoft.com/office/powerpoint/2010/main" val="2077108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3"/>
        <p:cNvGrpSpPr/>
        <p:nvPr/>
      </p:nvGrpSpPr>
      <p:grpSpPr>
        <a:xfrm>
          <a:off x="0" y="0"/>
          <a:ext cx="0" cy="0"/>
          <a:chOff x="0" y="0"/>
          <a:chExt cx="0" cy="0"/>
        </a:xfrm>
      </p:grpSpPr>
      <p:pic>
        <p:nvPicPr>
          <p:cNvPr id="244" name="Google Shape;244;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5" name="Google Shape;245;p23"/>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Cloud Database Design</a:t>
            </a:r>
            <a:endParaRPr dirty="0"/>
          </a:p>
        </p:txBody>
      </p:sp>
      <p:sp>
        <p:nvSpPr>
          <p:cNvPr id="246" name="Google Shape;246;p23"/>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p:cNvSpPr txBox="1"/>
          <p:nvPr/>
        </p:nvSpPr>
        <p:spPr>
          <a:xfrm>
            <a:off x="1028700" y="133201"/>
            <a:ext cx="10668000"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dirty="0">
                <a:solidFill>
                  <a:srgbClr val="334155"/>
                </a:solidFill>
                <a:latin typeface="Lato"/>
                <a:ea typeface="Lato"/>
                <a:cs typeface="Lato"/>
                <a:sym typeface="Lato"/>
              </a:rPr>
              <a:t>.</a:t>
            </a:r>
            <a:endParaRPr dirty="0"/>
          </a:p>
        </p:txBody>
      </p:sp>
      <p:sp>
        <p:nvSpPr>
          <p:cNvPr id="250" name="Google Shape;250;p23"/>
          <p:cNvSpPr/>
          <p:nvPr/>
        </p:nvSpPr>
        <p:spPr>
          <a:xfrm>
            <a:off x="762000" y="3300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3"/>
          <p:cNvSpPr/>
          <p:nvPr/>
        </p:nvSpPr>
        <p:spPr>
          <a:xfrm>
            <a:off x="2850356" y="3300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p:cNvSpPr/>
          <p:nvPr/>
        </p:nvSpPr>
        <p:spPr>
          <a:xfrm>
            <a:off x="4788247" y="3300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p:cNvSpPr/>
          <p:nvPr/>
        </p:nvSpPr>
        <p:spPr>
          <a:xfrm>
            <a:off x="762000" y="37766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3"/>
          <p:cNvSpPr/>
          <p:nvPr/>
        </p:nvSpPr>
        <p:spPr>
          <a:xfrm>
            <a:off x="2850356" y="37766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p:cNvSpPr/>
          <p:nvPr/>
        </p:nvSpPr>
        <p:spPr>
          <a:xfrm>
            <a:off x="4788247" y="37766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3"/>
          <p:cNvSpPr/>
          <p:nvPr/>
        </p:nvSpPr>
        <p:spPr>
          <a:xfrm>
            <a:off x="762000" y="42529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p:cNvSpPr/>
          <p:nvPr/>
        </p:nvSpPr>
        <p:spPr>
          <a:xfrm>
            <a:off x="2850356" y="42529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3"/>
          <p:cNvSpPr/>
          <p:nvPr/>
        </p:nvSpPr>
        <p:spPr>
          <a:xfrm>
            <a:off x="4788247" y="42529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762000" y="47291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2850356" y="47291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4788247" y="47291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3"/>
          <p:cNvSpPr/>
          <p:nvPr/>
        </p:nvSpPr>
        <p:spPr>
          <a:xfrm>
            <a:off x="762000" y="5205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p:cNvSpPr/>
          <p:nvPr/>
        </p:nvSpPr>
        <p:spPr>
          <a:xfrm>
            <a:off x="2850356" y="5205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p:cNvSpPr/>
          <p:nvPr/>
        </p:nvSpPr>
        <p:spPr>
          <a:xfrm>
            <a:off x="4788247" y="5205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247;p23">
            <a:extLst>
              <a:ext uri="{FF2B5EF4-FFF2-40B4-BE49-F238E27FC236}">
                <a16:creationId xmlns:a16="http://schemas.microsoft.com/office/drawing/2014/main" id="{61EF16B5-F45B-078A-8966-BA0CE538D70A}"/>
              </a:ext>
            </a:extLst>
          </p:cNvPr>
          <p:cNvSpPr txBox="1"/>
          <p:nvPr/>
        </p:nvSpPr>
        <p:spPr>
          <a:xfrm>
            <a:off x="761999" y="2796123"/>
            <a:ext cx="10668000" cy="3231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endParaRPr dirty="0">
              <a:solidFill>
                <a:schemeClr val="tx1"/>
              </a:solidFill>
            </a:endParaRPr>
          </a:p>
        </p:txBody>
      </p:sp>
      <p:sp>
        <p:nvSpPr>
          <p:cNvPr id="15" name="Rectangle 1">
            <a:extLst>
              <a:ext uri="{FF2B5EF4-FFF2-40B4-BE49-F238E27FC236}">
                <a16:creationId xmlns:a16="http://schemas.microsoft.com/office/drawing/2014/main" id="{2C045B4C-F607-8540-29EE-0260C2D2D763}"/>
              </a:ext>
            </a:extLst>
          </p:cNvPr>
          <p:cNvSpPr txBox="1">
            <a:spLocks noChangeArrowheads="1"/>
          </p:cNvSpPr>
          <p:nvPr/>
        </p:nvSpPr>
        <p:spPr bwMode="auto">
          <a:xfrm>
            <a:off x="575156" y="1607582"/>
            <a:ext cx="11273308" cy="399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eaLnBrk="0" fontAlgn="base" hangingPunct="0">
              <a:lnSpc>
                <a:spcPct val="200000"/>
              </a:lnSpc>
              <a:spcBef>
                <a:spcPct val="0"/>
              </a:spcBef>
              <a:spcAft>
                <a:spcPct val="0"/>
              </a:spcAft>
              <a:buClrTx/>
            </a:pPr>
            <a:br>
              <a:rPr lang="en-US" altLang="en-PK" sz="2400" dirty="0">
                <a:solidFill>
                  <a:schemeClr val="tx1"/>
                </a:solidFill>
                <a:latin typeface="Lato" panose="020F0502020204030203" pitchFamily="34" charset="0"/>
                <a:ea typeface="Lato" panose="020F0502020204030203" pitchFamily="34" charset="0"/>
                <a:cs typeface="Lato" panose="020F0502020204030203" pitchFamily="34" charset="0"/>
              </a:rPr>
            </a:br>
            <a:endParaRPr lang="en-PK" altLang="en-PK" sz="2400" dirty="0">
              <a:solidFill>
                <a:schemeClr val="tx1"/>
              </a:solidFill>
              <a:latin typeface="Lato" panose="020F0502020204030203" pitchFamily="34" charset="0"/>
              <a:ea typeface="Lato" panose="020F0502020204030203" pitchFamily="34" charset="0"/>
              <a:cs typeface="Lato" panose="020F0502020204030203" pitchFamily="34" charset="0"/>
            </a:endParaRPr>
          </a:p>
          <a:p>
            <a:pPr marL="285750" indent="-285750" eaLnBrk="0" fontAlgn="base" hangingPunct="0">
              <a:lnSpc>
                <a:spcPct val="200000"/>
              </a:lnSpc>
              <a:spcBef>
                <a:spcPct val="0"/>
              </a:spcBef>
              <a:spcAft>
                <a:spcPct val="0"/>
              </a:spcAft>
              <a:buClrTx/>
              <a:buFont typeface="Arial" panose="020B0604020202020204" pitchFamily="34" charset="0"/>
              <a:buChar char="•"/>
            </a:pPr>
            <a:r>
              <a:rPr lang="en-PK" altLang="en-PK" sz="2000" b="1" dirty="0">
                <a:solidFill>
                  <a:schemeClr val="tx1"/>
                </a:solidFill>
                <a:latin typeface="Lato" panose="020F0502020204030203" pitchFamily="34" charset="0"/>
                <a:ea typeface="Lato" panose="020F0502020204030203" pitchFamily="34" charset="0"/>
                <a:cs typeface="Lato" panose="020F0502020204030203" pitchFamily="34" charset="0"/>
              </a:rPr>
              <a:t>Optimized Storage:</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 The </a:t>
            </a:r>
            <a: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t>database</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 is configured to maintain a </a:t>
            </a:r>
            <a:r>
              <a:rPr lang="en-PK" altLang="en-PK" sz="2000" b="1" dirty="0">
                <a:solidFill>
                  <a:schemeClr val="tx1"/>
                </a:solidFill>
                <a:latin typeface="Lato" panose="020F0502020204030203" pitchFamily="34" charset="0"/>
                <a:ea typeface="Lato" panose="020F0502020204030203" pitchFamily="34" charset="0"/>
                <a:cs typeface="Lato" panose="020F0502020204030203" pitchFamily="34" charset="0"/>
              </a:rPr>
              <a:t>rolling history of the last 1</a:t>
            </a:r>
            <a:r>
              <a:rPr lang="en-US" altLang="en-PK" sz="2000" b="1" dirty="0">
                <a:solidFill>
                  <a:schemeClr val="tx1"/>
                </a:solidFill>
                <a:latin typeface="Lato" panose="020F0502020204030203" pitchFamily="34" charset="0"/>
                <a:ea typeface="Lato" panose="020F0502020204030203" pitchFamily="34" charset="0"/>
                <a:cs typeface="Lato" panose="020F0502020204030203" pitchFamily="34" charset="0"/>
              </a:rPr>
              <a:t>1</a:t>
            </a:r>
            <a:r>
              <a:rPr lang="en-PK" altLang="en-PK" sz="2000" b="1" dirty="0">
                <a:solidFill>
                  <a:schemeClr val="tx1"/>
                </a:solidFill>
                <a:latin typeface="Lato" panose="020F0502020204030203" pitchFamily="34" charset="0"/>
                <a:ea typeface="Lato" panose="020F0502020204030203" pitchFamily="34" charset="0"/>
                <a:cs typeface="Lato" panose="020F0502020204030203" pitchFamily="34" charset="0"/>
              </a:rPr>
              <a:t> scans</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 per user.</a:t>
            </a:r>
            <a: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t> </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This limit ensures high performance and high-speed retrieval</a:t>
            </a:r>
            <a:r>
              <a:rPr lang="en-US" altLang="en-PK" sz="2000" dirty="0">
                <a:solidFill>
                  <a:schemeClr val="tx1"/>
                </a:solidFill>
                <a:latin typeface="Lato" panose="020F0502020204030203" pitchFamily="34" charset="0"/>
                <a:ea typeface="Lato" panose="020F0502020204030203" pitchFamily="34" charset="0"/>
                <a:cs typeface="Lato" panose="020F0502020204030203" pitchFamily="34" charset="0"/>
              </a:rPr>
              <a:t> of data from cloud</a:t>
            </a:r>
            <a:r>
              <a:rPr lang="en-PK" altLang="en-PK" sz="2000" dirty="0">
                <a:solidFill>
                  <a:schemeClr val="tx1"/>
                </a:solidFill>
                <a:latin typeface="Lato" panose="020F0502020204030203" pitchFamily="34" charset="0"/>
                <a:ea typeface="Lato" panose="020F0502020204030203" pitchFamily="34" charset="0"/>
                <a:cs typeface="Lato" panose="020F0502020204030203" pitchFamily="34" charset="0"/>
              </a:rPr>
              <a:t> while providing a comprehensive audit trail for recent digital investigations.</a:t>
            </a:r>
          </a:p>
          <a:p>
            <a:pPr eaLnBrk="0" fontAlgn="base" hangingPunct="0">
              <a:lnSpc>
                <a:spcPct val="200000"/>
              </a:lnSpc>
              <a:spcBef>
                <a:spcPct val="0"/>
              </a:spcBef>
              <a:spcAft>
                <a:spcPct val="0"/>
              </a:spcAft>
              <a:buClrTx/>
              <a:buFontTx/>
              <a:buNone/>
            </a:pPr>
            <a:endParaRPr lang="en-PK" altLang="en-PK" sz="2400" dirty="0">
              <a:solidFill>
                <a:schemeClr val="tx1"/>
              </a:solidFill>
              <a:latin typeface="Arial" panose="020B0604020202020204" pitchFamily="34" charset="0"/>
            </a:endParaRPr>
          </a:p>
        </p:txBody>
      </p:sp>
      <p:sp>
        <p:nvSpPr>
          <p:cNvPr id="5" name="Google Shape;173;p18">
            <a:extLst>
              <a:ext uri="{FF2B5EF4-FFF2-40B4-BE49-F238E27FC236}">
                <a16:creationId xmlns:a16="http://schemas.microsoft.com/office/drawing/2014/main" id="{0BD8006A-2FE0-0096-BFD5-46F1B0A927C2}"/>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10198B03-A577-635E-7C59-406F18A84318}"/>
            </a:ext>
          </a:extLst>
        </p:cNvPr>
        <p:cNvGrpSpPr/>
        <p:nvPr/>
      </p:nvGrpSpPr>
      <p:grpSpPr>
        <a:xfrm>
          <a:off x="0" y="0"/>
          <a:ext cx="0" cy="0"/>
          <a:chOff x="0" y="0"/>
          <a:chExt cx="0" cy="0"/>
        </a:xfrm>
      </p:grpSpPr>
      <p:pic>
        <p:nvPicPr>
          <p:cNvPr id="244" name="Google Shape;244;p23" descr="image.png">
            <a:extLst>
              <a:ext uri="{FF2B5EF4-FFF2-40B4-BE49-F238E27FC236}">
                <a16:creationId xmlns:a16="http://schemas.microsoft.com/office/drawing/2014/main" id="{8FDA8871-22A9-18D2-3CE9-E0D0E271AB3B}"/>
              </a:ext>
            </a:extLst>
          </p:cNvPr>
          <p:cNvPicPr preferRelativeResize="0"/>
          <p:nvPr/>
        </p:nvPicPr>
        <p:blipFill rotWithShape="1">
          <a:blip r:embed="rId3">
            <a:alphaModFix/>
          </a:blip>
          <a:srcRect/>
          <a:stretch/>
        </p:blipFill>
        <p:spPr>
          <a:xfrm>
            <a:off x="0" y="21430"/>
            <a:ext cx="12192000" cy="6858000"/>
          </a:xfrm>
          <a:prstGeom prst="rect">
            <a:avLst/>
          </a:prstGeom>
          <a:noFill/>
          <a:ln>
            <a:noFill/>
          </a:ln>
        </p:spPr>
      </p:pic>
      <p:sp>
        <p:nvSpPr>
          <p:cNvPr id="245" name="Google Shape;245;p23">
            <a:extLst>
              <a:ext uri="{FF2B5EF4-FFF2-40B4-BE49-F238E27FC236}">
                <a16:creationId xmlns:a16="http://schemas.microsoft.com/office/drawing/2014/main" id="{926AA151-00EB-C60B-495A-0D73A08337E7}"/>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Cloud Database Design</a:t>
            </a:r>
            <a:endParaRPr dirty="0"/>
          </a:p>
        </p:txBody>
      </p:sp>
      <p:sp>
        <p:nvSpPr>
          <p:cNvPr id="246" name="Google Shape;246;p23">
            <a:extLst>
              <a:ext uri="{FF2B5EF4-FFF2-40B4-BE49-F238E27FC236}">
                <a16:creationId xmlns:a16="http://schemas.microsoft.com/office/drawing/2014/main" id="{54CA9305-5571-ABD0-68F4-8FF71AB4B28B}"/>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D1E75978-C79A-70F4-CE21-86B76D5E5B2C}"/>
              </a:ext>
            </a:extLst>
          </p:cNvPr>
          <p:cNvSpPr txBox="1"/>
          <p:nvPr/>
        </p:nvSpPr>
        <p:spPr>
          <a:xfrm>
            <a:off x="1028700" y="133201"/>
            <a:ext cx="10668000"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dirty="0">
                <a:solidFill>
                  <a:srgbClr val="334155"/>
                </a:solidFill>
                <a:latin typeface="Lato"/>
                <a:ea typeface="Lato"/>
                <a:cs typeface="Lato"/>
                <a:sym typeface="Lato"/>
              </a:rPr>
              <a:t>.</a:t>
            </a:r>
            <a:endParaRPr dirty="0"/>
          </a:p>
        </p:txBody>
      </p:sp>
      <p:sp>
        <p:nvSpPr>
          <p:cNvPr id="250" name="Google Shape;250;p23">
            <a:extLst>
              <a:ext uri="{FF2B5EF4-FFF2-40B4-BE49-F238E27FC236}">
                <a16:creationId xmlns:a16="http://schemas.microsoft.com/office/drawing/2014/main" id="{7DD8AE3D-A1B7-A4FA-08C8-00D4AFCFD69A}"/>
              </a:ext>
            </a:extLst>
          </p:cNvPr>
          <p:cNvSpPr/>
          <p:nvPr/>
        </p:nvSpPr>
        <p:spPr>
          <a:xfrm>
            <a:off x="762000" y="3300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3">
            <a:extLst>
              <a:ext uri="{FF2B5EF4-FFF2-40B4-BE49-F238E27FC236}">
                <a16:creationId xmlns:a16="http://schemas.microsoft.com/office/drawing/2014/main" id="{A621B373-68AF-004B-D35B-499D86C61FFC}"/>
              </a:ext>
            </a:extLst>
          </p:cNvPr>
          <p:cNvSpPr/>
          <p:nvPr/>
        </p:nvSpPr>
        <p:spPr>
          <a:xfrm>
            <a:off x="2850356" y="3300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a:extLst>
              <a:ext uri="{FF2B5EF4-FFF2-40B4-BE49-F238E27FC236}">
                <a16:creationId xmlns:a16="http://schemas.microsoft.com/office/drawing/2014/main" id="{4FC31369-8096-C5FC-D99E-D8D2A05EE670}"/>
              </a:ext>
            </a:extLst>
          </p:cNvPr>
          <p:cNvSpPr/>
          <p:nvPr/>
        </p:nvSpPr>
        <p:spPr>
          <a:xfrm>
            <a:off x="4788247" y="3300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a:extLst>
              <a:ext uri="{FF2B5EF4-FFF2-40B4-BE49-F238E27FC236}">
                <a16:creationId xmlns:a16="http://schemas.microsoft.com/office/drawing/2014/main" id="{6A12C53B-ACC4-B4FE-59B6-1E93642BCCD2}"/>
              </a:ext>
            </a:extLst>
          </p:cNvPr>
          <p:cNvSpPr/>
          <p:nvPr/>
        </p:nvSpPr>
        <p:spPr>
          <a:xfrm>
            <a:off x="762000" y="37766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3">
            <a:extLst>
              <a:ext uri="{FF2B5EF4-FFF2-40B4-BE49-F238E27FC236}">
                <a16:creationId xmlns:a16="http://schemas.microsoft.com/office/drawing/2014/main" id="{4703F2F7-FFA5-BF02-9D58-74AF793FC271}"/>
              </a:ext>
            </a:extLst>
          </p:cNvPr>
          <p:cNvSpPr/>
          <p:nvPr/>
        </p:nvSpPr>
        <p:spPr>
          <a:xfrm>
            <a:off x="2850356" y="37766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a:extLst>
              <a:ext uri="{FF2B5EF4-FFF2-40B4-BE49-F238E27FC236}">
                <a16:creationId xmlns:a16="http://schemas.microsoft.com/office/drawing/2014/main" id="{179FE38B-AB03-92CF-8A84-8542FBAB42B0}"/>
              </a:ext>
            </a:extLst>
          </p:cNvPr>
          <p:cNvSpPr/>
          <p:nvPr/>
        </p:nvSpPr>
        <p:spPr>
          <a:xfrm>
            <a:off x="4788247" y="37766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3">
            <a:extLst>
              <a:ext uri="{FF2B5EF4-FFF2-40B4-BE49-F238E27FC236}">
                <a16:creationId xmlns:a16="http://schemas.microsoft.com/office/drawing/2014/main" id="{B17C5D3E-5B65-8244-A6F4-FAAF08B000BB}"/>
              </a:ext>
            </a:extLst>
          </p:cNvPr>
          <p:cNvSpPr/>
          <p:nvPr/>
        </p:nvSpPr>
        <p:spPr>
          <a:xfrm>
            <a:off x="762000" y="42529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a:extLst>
              <a:ext uri="{FF2B5EF4-FFF2-40B4-BE49-F238E27FC236}">
                <a16:creationId xmlns:a16="http://schemas.microsoft.com/office/drawing/2014/main" id="{FF85B57F-7177-4F3D-32ED-984E0A159317}"/>
              </a:ext>
            </a:extLst>
          </p:cNvPr>
          <p:cNvSpPr/>
          <p:nvPr/>
        </p:nvSpPr>
        <p:spPr>
          <a:xfrm>
            <a:off x="2850356" y="42529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3">
            <a:extLst>
              <a:ext uri="{FF2B5EF4-FFF2-40B4-BE49-F238E27FC236}">
                <a16:creationId xmlns:a16="http://schemas.microsoft.com/office/drawing/2014/main" id="{2CE5969B-7CFA-6EA6-E47C-5520D2967337}"/>
              </a:ext>
            </a:extLst>
          </p:cNvPr>
          <p:cNvSpPr/>
          <p:nvPr/>
        </p:nvSpPr>
        <p:spPr>
          <a:xfrm>
            <a:off x="4788247" y="42529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a:extLst>
              <a:ext uri="{FF2B5EF4-FFF2-40B4-BE49-F238E27FC236}">
                <a16:creationId xmlns:a16="http://schemas.microsoft.com/office/drawing/2014/main" id="{416AB9E4-A095-1DF1-1A3E-8FCEE33B7F3C}"/>
              </a:ext>
            </a:extLst>
          </p:cNvPr>
          <p:cNvSpPr/>
          <p:nvPr/>
        </p:nvSpPr>
        <p:spPr>
          <a:xfrm>
            <a:off x="762000" y="47291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3">
            <a:extLst>
              <a:ext uri="{FF2B5EF4-FFF2-40B4-BE49-F238E27FC236}">
                <a16:creationId xmlns:a16="http://schemas.microsoft.com/office/drawing/2014/main" id="{48EDC1F4-A2BB-DE4B-FA1C-DB19BD6B5996}"/>
              </a:ext>
            </a:extLst>
          </p:cNvPr>
          <p:cNvSpPr/>
          <p:nvPr/>
        </p:nvSpPr>
        <p:spPr>
          <a:xfrm>
            <a:off x="2850356" y="47291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a:extLst>
              <a:ext uri="{FF2B5EF4-FFF2-40B4-BE49-F238E27FC236}">
                <a16:creationId xmlns:a16="http://schemas.microsoft.com/office/drawing/2014/main" id="{DEA9FDFD-A519-D589-6CE5-BD205AC9CE63}"/>
              </a:ext>
            </a:extLst>
          </p:cNvPr>
          <p:cNvSpPr/>
          <p:nvPr/>
        </p:nvSpPr>
        <p:spPr>
          <a:xfrm>
            <a:off x="4788247" y="47291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3">
            <a:extLst>
              <a:ext uri="{FF2B5EF4-FFF2-40B4-BE49-F238E27FC236}">
                <a16:creationId xmlns:a16="http://schemas.microsoft.com/office/drawing/2014/main" id="{5F431D1F-86F9-473D-F076-7C1A8417FEF8}"/>
              </a:ext>
            </a:extLst>
          </p:cNvPr>
          <p:cNvSpPr/>
          <p:nvPr/>
        </p:nvSpPr>
        <p:spPr>
          <a:xfrm>
            <a:off x="762000" y="5205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a:extLst>
              <a:ext uri="{FF2B5EF4-FFF2-40B4-BE49-F238E27FC236}">
                <a16:creationId xmlns:a16="http://schemas.microsoft.com/office/drawing/2014/main" id="{346620C8-2872-8D90-4461-324AA83C0E7D}"/>
              </a:ext>
            </a:extLst>
          </p:cNvPr>
          <p:cNvSpPr/>
          <p:nvPr/>
        </p:nvSpPr>
        <p:spPr>
          <a:xfrm>
            <a:off x="2850356" y="5205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a:extLst>
              <a:ext uri="{FF2B5EF4-FFF2-40B4-BE49-F238E27FC236}">
                <a16:creationId xmlns:a16="http://schemas.microsoft.com/office/drawing/2014/main" id="{30A1F4C6-E43E-4213-35FD-1B1A38E88A75}"/>
              </a:ext>
            </a:extLst>
          </p:cNvPr>
          <p:cNvSpPr/>
          <p:nvPr/>
        </p:nvSpPr>
        <p:spPr>
          <a:xfrm>
            <a:off x="4788247" y="5205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247;p23">
            <a:extLst>
              <a:ext uri="{FF2B5EF4-FFF2-40B4-BE49-F238E27FC236}">
                <a16:creationId xmlns:a16="http://schemas.microsoft.com/office/drawing/2014/main" id="{6F610DC9-E175-BE42-6804-22B76D2C5C3E}"/>
              </a:ext>
            </a:extLst>
          </p:cNvPr>
          <p:cNvSpPr txBox="1"/>
          <p:nvPr/>
        </p:nvSpPr>
        <p:spPr>
          <a:xfrm>
            <a:off x="761999" y="2796123"/>
            <a:ext cx="10668000" cy="3231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endParaRPr dirty="0">
              <a:solidFill>
                <a:schemeClr val="tx1"/>
              </a:solidFill>
            </a:endParaRPr>
          </a:p>
        </p:txBody>
      </p:sp>
      <p:sp>
        <p:nvSpPr>
          <p:cNvPr id="11" name="Rectangle 10">
            <a:extLst>
              <a:ext uri="{FF2B5EF4-FFF2-40B4-BE49-F238E27FC236}">
                <a16:creationId xmlns:a16="http://schemas.microsoft.com/office/drawing/2014/main" id="{B30682EB-2433-1BFB-3DA7-A11C9A36B75B}"/>
              </a:ext>
            </a:extLst>
          </p:cNvPr>
          <p:cNvSpPr/>
          <p:nvPr/>
        </p:nvSpPr>
        <p:spPr>
          <a:xfrm>
            <a:off x="669701" y="3031242"/>
            <a:ext cx="11062953" cy="24572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3CEA93D7-D0B6-1A32-FAF9-818435D05779}"/>
              </a:ext>
            </a:extLst>
          </p:cNvPr>
          <p:cNvPicPr>
            <a:picLocks noChangeAspect="1"/>
          </p:cNvPicPr>
          <p:nvPr/>
        </p:nvPicPr>
        <p:blipFill>
          <a:blip r:embed="rId4"/>
          <a:stretch>
            <a:fillRect/>
          </a:stretch>
        </p:blipFill>
        <p:spPr>
          <a:xfrm>
            <a:off x="459347" y="1685567"/>
            <a:ext cx="11237354" cy="4082604"/>
          </a:xfrm>
          <a:prstGeom prst="rect">
            <a:avLst/>
          </a:prstGeom>
        </p:spPr>
      </p:pic>
    </p:spTree>
    <p:extLst>
      <p:ext uri="{BB962C8B-B14F-4D97-AF65-F5344CB8AC3E}">
        <p14:creationId xmlns:p14="http://schemas.microsoft.com/office/powerpoint/2010/main" val="2882803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0977FBC6-1A75-4499-F870-9A209F33F7CD}"/>
            </a:ext>
          </a:extLst>
        </p:cNvPr>
        <p:cNvGrpSpPr/>
        <p:nvPr/>
      </p:nvGrpSpPr>
      <p:grpSpPr>
        <a:xfrm>
          <a:off x="0" y="0"/>
          <a:ext cx="0" cy="0"/>
          <a:chOff x="0" y="0"/>
          <a:chExt cx="0" cy="0"/>
        </a:xfrm>
      </p:grpSpPr>
      <p:pic>
        <p:nvPicPr>
          <p:cNvPr id="244" name="Google Shape;244;p23" descr="image.png">
            <a:extLst>
              <a:ext uri="{FF2B5EF4-FFF2-40B4-BE49-F238E27FC236}">
                <a16:creationId xmlns:a16="http://schemas.microsoft.com/office/drawing/2014/main" id="{7C0F51B1-2688-9211-7631-3ADB4506AFD4}"/>
              </a:ext>
            </a:extLst>
          </p:cNvPr>
          <p:cNvPicPr preferRelativeResize="0"/>
          <p:nvPr/>
        </p:nvPicPr>
        <p:blipFill rotWithShape="1">
          <a:blip r:embed="rId3">
            <a:alphaModFix/>
          </a:blip>
          <a:srcRect/>
          <a:stretch/>
        </p:blipFill>
        <p:spPr>
          <a:xfrm>
            <a:off x="0" y="21430"/>
            <a:ext cx="12192000" cy="6858000"/>
          </a:xfrm>
          <a:prstGeom prst="rect">
            <a:avLst/>
          </a:prstGeom>
          <a:noFill/>
          <a:ln>
            <a:noFill/>
          </a:ln>
        </p:spPr>
      </p:pic>
      <p:sp>
        <p:nvSpPr>
          <p:cNvPr id="245" name="Google Shape;245;p23">
            <a:extLst>
              <a:ext uri="{FF2B5EF4-FFF2-40B4-BE49-F238E27FC236}">
                <a16:creationId xmlns:a16="http://schemas.microsoft.com/office/drawing/2014/main" id="{FF44E125-F0B8-7DE9-D159-10894122E1B5}"/>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Cloud Database Design</a:t>
            </a:r>
            <a:endParaRPr dirty="0"/>
          </a:p>
        </p:txBody>
      </p:sp>
      <p:sp>
        <p:nvSpPr>
          <p:cNvPr id="246" name="Google Shape;246;p23">
            <a:extLst>
              <a:ext uri="{FF2B5EF4-FFF2-40B4-BE49-F238E27FC236}">
                <a16:creationId xmlns:a16="http://schemas.microsoft.com/office/drawing/2014/main" id="{D28BD5E3-A3F4-D138-253E-3838ADB8FEDD}"/>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a:extLst>
              <a:ext uri="{FF2B5EF4-FFF2-40B4-BE49-F238E27FC236}">
                <a16:creationId xmlns:a16="http://schemas.microsoft.com/office/drawing/2014/main" id="{2C8EE1F0-5D81-A45B-3318-968009A5D4D5}"/>
              </a:ext>
            </a:extLst>
          </p:cNvPr>
          <p:cNvSpPr txBox="1"/>
          <p:nvPr/>
        </p:nvSpPr>
        <p:spPr>
          <a:xfrm>
            <a:off x="1028700" y="133201"/>
            <a:ext cx="10668000"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dirty="0">
                <a:solidFill>
                  <a:srgbClr val="334155"/>
                </a:solidFill>
                <a:latin typeface="Lato"/>
                <a:ea typeface="Lato"/>
                <a:cs typeface="Lato"/>
                <a:sym typeface="Lato"/>
              </a:rPr>
              <a:t>.</a:t>
            </a:r>
            <a:endParaRPr dirty="0"/>
          </a:p>
        </p:txBody>
      </p:sp>
      <p:sp>
        <p:nvSpPr>
          <p:cNvPr id="250" name="Google Shape;250;p23">
            <a:extLst>
              <a:ext uri="{FF2B5EF4-FFF2-40B4-BE49-F238E27FC236}">
                <a16:creationId xmlns:a16="http://schemas.microsoft.com/office/drawing/2014/main" id="{FDBF9781-0A66-C2B2-5148-62FE767E30FB}"/>
              </a:ext>
            </a:extLst>
          </p:cNvPr>
          <p:cNvSpPr/>
          <p:nvPr/>
        </p:nvSpPr>
        <p:spPr>
          <a:xfrm>
            <a:off x="762000" y="3300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3">
            <a:extLst>
              <a:ext uri="{FF2B5EF4-FFF2-40B4-BE49-F238E27FC236}">
                <a16:creationId xmlns:a16="http://schemas.microsoft.com/office/drawing/2014/main" id="{92E0AAF0-CACC-744F-3F6C-174A452AC9F0}"/>
              </a:ext>
            </a:extLst>
          </p:cNvPr>
          <p:cNvSpPr/>
          <p:nvPr/>
        </p:nvSpPr>
        <p:spPr>
          <a:xfrm>
            <a:off x="2850356" y="3300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a:extLst>
              <a:ext uri="{FF2B5EF4-FFF2-40B4-BE49-F238E27FC236}">
                <a16:creationId xmlns:a16="http://schemas.microsoft.com/office/drawing/2014/main" id="{FDC65FA6-85CB-1502-2815-E674C08499D3}"/>
              </a:ext>
            </a:extLst>
          </p:cNvPr>
          <p:cNvSpPr/>
          <p:nvPr/>
        </p:nvSpPr>
        <p:spPr>
          <a:xfrm>
            <a:off x="4788247" y="3300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a:extLst>
              <a:ext uri="{FF2B5EF4-FFF2-40B4-BE49-F238E27FC236}">
                <a16:creationId xmlns:a16="http://schemas.microsoft.com/office/drawing/2014/main" id="{918B218C-FC53-C926-F1CB-2AC58630A331}"/>
              </a:ext>
            </a:extLst>
          </p:cNvPr>
          <p:cNvSpPr/>
          <p:nvPr/>
        </p:nvSpPr>
        <p:spPr>
          <a:xfrm>
            <a:off x="762000" y="37766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3">
            <a:extLst>
              <a:ext uri="{FF2B5EF4-FFF2-40B4-BE49-F238E27FC236}">
                <a16:creationId xmlns:a16="http://schemas.microsoft.com/office/drawing/2014/main" id="{2B936A5C-46A2-4F5A-2558-3CF229EFA156}"/>
              </a:ext>
            </a:extLst>
          </p:cNvPr>
          <p:cNvSpPr/>
          <p:nvPr/>
        </p:nvSpPr>
        <p:spPr>
          <a:xfrm>
            <a:off x="2850356" y="37766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a:extLst>
              <a:ext uri="{FF2B5EF4-FFF2-40B4-BE49-F238E27FC236}">
                <a16:creationId xmlns:a16="http://schemas.microsoft.com/office/drawing/2014/main" id="{A98455B9-F956-4961-2A1C-96B2DF72D065}"/>
              </a:ext>
            </a:extLst>
          </p:cNvPr>
          <p:cNvSpPr/>
          <p:nvPr/>
        </p:nvSpPr>
        <p:spPr>
          <a:xfrm>
            <a:off x="4788247" y="37766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3">
            <a:extLst>
              <a:ext uri="{FF2B5EF4-FFF2-40B4-BE49-F238E27FC236}">
                <a16:creationId xmlns:a16="http://schemas.microsoft.com/office/drawing/2014/main" id="{A33EBF82-4B0F-E12F-CDF7-A3AC176F5569}"/>
              </a:ext>
            </a:extLst>
          </p:cNvPr>
          <p:cNvSpPr/>
          <p:nvPr/>
        </p:nvSpPr>
        <p:spPr>
          <a:xfrm>
            <a:off x="762000" y="42529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a:extLst>
              <a:ext uri="{FF2B5EF4-FFF2-40B4-BE49-F238E27FC236}">
                <a16:creationId xmlns:a16="http://schemas.microsoft.com/office/drawing/2014/main" id="{5AF89B01-ED33-DD56-77AE-BE850FD3D425}"/>
              </a:ext>
            </a:extLst>
          </p:cNvPr>
          <p:cNvSpPr/>
          <p:nvPr/>
        </p:nvSpPr>
        <p:spPr>
          <a:xfrm>
            <a:off x="2850356" y="42529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3">
            <a:extLst>
              <a:ext uri="{FF2B5EF4-FFF2-40B4-BE49-F238E27FC236}">
                <a16:creationId xmlns:a16="http://schemas.microsoft.com/office/drawing/2014/main" id="{B4CE2091-7A94-7758-AD25-868835D275D2}"/>
              </a:ext>
            </a:extLst>
          </p:cNvPr>
          <p:cNvSpPr/>
          <p:nvPr/>
        </p:nvSpPr>
        <p:spPr>
          <a:xfrm>
            <a:off x="4788247" y="42529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a:extLst>
              <a:ext uri="{FF2B5EF4-FFF2-40B4-BE49-F238E27FC236}">
                <a16:creationId xmlns:a16="http://schemas.microsoft.com/office/drawing/2014/main" id="{D7A6C9C5-F7CA-76AF-600F-E3CE8C741AAC}"/>
              </a:ext>
            </a:extLst>
          </p:cNvPr>
          <p:cNvSpPr/>
          <p:nvPr/>
        </p:nvSpPr>
        <p:spPr>
          <a:xfrm>
            <a:off x="762000" y="472916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3">
            <a:extLst>
              <a:ext uri="{FF2B5EF4-FFF2-40B4-BE49-F238E27FC236}">
                <a16:creationId xmlns:a16="http://schemas.microsoft.com/office/drawing/2014/main" id="{A27BF8D4-9141-EDC8-A2AB-1314E79B79D1}"/>
              </a:ext>
            </a:extLst>
          </p:cNvPr>
          <p:cNvSpPr/>
          <p:nvPr/>
        </p:nvSpPr>
        <p:spPr>
          <a:xfrm>
            <a:off x="2850356" y="472916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a:extLst>
              <a:ext uri="{FF2B5EF4-FFF2-40B4-BE49-F238E27FC236}">
                <a16:creationId xmlns:a16="http://schemas.microsoft.com/office/drawing/2014/main" id="{03880435-0589-6181-D9C8-6FFBCD3D0830}"/>
              </a:ext>
            </a:extLst>
          </p:cNvPr>
          <p:cNvSpPr/>
          <p:nvPr/>
        </p:nvSpPr>
        <p:spPr>
          <a:xfrm>
            <a:off x="4788247" y="472916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3">
            <a:extLst>
              <a:ext uri="{FF2B5EF4-FFF2-40B4-BE49-F238E27FC236}">
                <a16:creationId xmlns:a16="http://schemas.microsoft.com/office/drawing/2014/main" id="{5025E7BE-CE54-3FEA-B853-9658B139E913}"/>
              </a:ext>
            </a:extLst>
          </p:cNvPr>
          <p:cNvSpPr/>
          <p:nvPr/>
        </p:nvSpPr>
        <p:spPr>
          <a:xfrm>
            <a:off x="762000" y="5205412"/>
            <a:ext cx="20883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a:extLst>
              <a:ext uri="{FF2B5EF4-FFF2-40B4-BE49-F238E27FC236}">
                <a16:creationId xmlns:a16="http://schemas.microsoft.com/office/drawing/2014/main" id="{9F451335-946C-748B-B329-F7110B582BFB}"/>
              </a:ext>
            </a:extLst>
          </p:cNvPr>
          <p:cNvSpPr/>
          <p:nvPr/>
        </p:nvSpPr>
        <p:spPr>
          <a:xfrm>
            <a:off x="2850356" y="5205412"/>
            <a:ext cx="19378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a:extLst>
              <a:ext uri="{FF2B5EF4-FFF2-40B4-BE49-F238E27FC236}">
                <a16:creationId xmlns:a16="http://schemas.microsoft.com/office/drawing/2014/main" id="{8D47CC32-FABF-CBB2-BEFF-2458FA9616F5}"/>
              </a:ext>
            </a:extLst>
          </p:cNvPr>
          <p:cNvSpPr/>
          <p:nvPr/>
        </p:nvSpPr>
        <p:spPr>
          <a:xfrm>
            <a:off x="4788247" y="5205412"/>
            <a:ext cx="664175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247;p23">
            <a:extLst>
              <a:ext uri="{FF2B5EF4-FFF2-40B4-BE49-F238E27FC236}">
                <a16:creationId xmlns:a16="http://schemas.microsoft.com/office/drawing/2014/main" id="{F62C4987-431F-1FB0-F15F-DF17E4677684}"/>
              </a:ext>
            </a:extLst>
          </p:cNvPr>
          <p:cNvSpPr txBox="1"/>
          <p:nvPr/>
        </p:nvSpPr>
        <p:spPr>
          <a:xfrm>
            <a:off x="761999" y="2796123"/>
            <a:ext cx="10668000" cy="32316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endParaRPr dirty="0">
              <a:solidFill>
                <a:schemeClr val="tx1"/>
              </a:solidFill>
            </a:endParaRPr>
          </a:p>
        </p:txBody>
      </p:sp>
      <p:sp>
        <p:nvSpPr>
          <p:cNvPr id="11" name="Rectangle 10">
            <a:extLst>
              <a:ext uri="{FF2B5EF4-FFF2-40B4-BE49-F238E27FC236}">
                <a16:creationId xmlns:a16="http://schemas.microsoft.com/office/drawing/2014/main" id="{E4B2E1F9-B9B0-D31E-51A8-B3927410755D}"/>
              </a:ext>
            </a:extLst>
          </p:cNvPr>
          <p:cNvSpPr/>
          <p:nvPr/>
        </p:nvSpPr>
        <p:spPr>
          <a:xfrm>
            <a:off x="669701" y="3031242"/>
            <a:ext cx="11062953" cy="24572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A69D8EE8-1D32-4B9A-D01F-F00746471F8A}"/>
              </a:ext>
            </a:extLst>
          </p:cNvPr>
          <p:cNvPicPr>
            <a:picLocks noChangeAspect="1"/>
          </p:cNvPicPr>
          <p:nvPr/>
        </p:nvPicPr>
        <p:blipFill>
          <a:blip r:embed="rId4"/>
          <a:stretch>
            <a:fillRect/>
          </a:stretch>
        </p:blipFill>
        <p:spPr>
          <a:xfrm>
            <a:off x="995362" y="1628775"/>
            <a:ext cx="10201275" cy="3600450"/>
          </a:xfrm>
          <a:prstGeom prst="rect">
            <a:avLst/>
          </a:prstGeom>
        </p:spPr>
      </p:pic>
    </p:spTree>
    <p:extLst>
      <p:ext uri="{BB962C8B-B14F-4D97-AF65-F5344CB8AC3E}">
        <p14:creationId xmlns:p14="http://schemas.microsoft.com/office/powerpoint/2010/main" val="1762426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Google Shape;226;p22" descr="image.png">
            <a:extLst>
              <a:ext uri="{FF2B5EF4-FFF2-40B4-BE49-F238E27FC236}">
                <a16:creationId xmlns:a16="http://schemas.microsoft.com/office/drawing/2014/main" id="{BCE4A524-39B4-7BC6-C532-505111BB367D}"/>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 name="Google Shape;199;p20">
            <a:extLst>
              <a:ext uri="{FF2B5EF4-FFF2-40B4-BE49-F238E27FC236}">
                <a16:creationId xmlns:a16="http://schemas.microsoft.com/office/drawing/2014/main" id="{B3F60EBF-CCFD-501F-86D1-068135B17A8B}"/>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System Architecture</a:t>
            </a:r>
            <a:endParaRPr lang="en-US" dirty="0"/>
          </a:p>
        </p:txBody>
      </p:sp>
      <p:sp>
        <p:nvSpPr>
          <p:cNvPr id="6" name="Google Shape;200;p20">
            <a:extLst>
              <a:ext uri="{FF2B5EF4-FFF2-40B4-BE49-F238E27FC236}">
                <a16:creationId xmlns:a16="http://schemas.microsoft.com/office/drawing/2014/main" id="{70D18CB2-1328-3B1F-6B14-F37560D39C0F}"/>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Rectangle: Rounded Corners 6">
            <a:extLst>
              <a:ext uri="{FF2B5EF4-FFF2-40B4-BE49-F238E27FC236}">
                <a16:creationId xmlns:a16="http://schemas.microsoft.com/office/drawing/2014/main" id="{5341C745-D544-D536-04A7-5518F918A490}"/>
              </a:ext>
            </a:extLst>
          </p:cNvPr>
          <p:cNvSpPr/>
          <p:nvPr/>
        </p:nvSpPr>
        <p:spPr>
          <a:xfrm>
            <a:off x="7861344" y="5823091"/>
            <a:ext cx="1885684" cy="6454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CONVEX CLOUD DB  (Store results)</a:t>
            </a:r>
            <a:endParaRPr lang="en-PK" dirty="0">
              <a:solidFill>
                <a:schemeClr val="bg1"/>
              </a:solidFill>
            </a:endParaRPr>
          </a:p>
        </p:txBody>
      </p:sp>
      <p:sp>
        <p:nvSpPr>
          <p:cNvPr id="8" name="Rectangle: Rounded Corners 7">
            <a:extLst>
              <a:ext uri="{FF2B5EF4-FFF2-40B4-BE49-F238E27FC236}">
                <a16:creationId xmlns:a16="http://schemas.microsoft.com/office/drawing/2014/main" id="{46893F40-E0F5-F7C6-5BAC-C17523AD36CA}"/>
              </a:ext>
            </a:extLst>
          </p:cNvPr>
          <p:cNvSpPr/>
          <p:nvPr/>
        </p:nvSpPr>
        <p:spPr>
          <a:xfrm>
            <a:off x="4792722" y="2252187"/>
            <a:ext cx="1766752" cy="615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PYTHON</a:t>
            </a:r>
            <a:r>
              <a:rPr lang="en-US" dirty="0">
                <a:solidFill>
                  <a:schemeClr val="bg1"/>
                </a:solidFill>
                <a:latin typeface="Google Sans"/>
                <a:ea typeface="Google Sans"/>
                <a:cs typeface="Google Sans"/>
              </a:rPr>
              <a:t> BACKEND</a:t>
            </a:r>
            <a:endParaRPr lang="en-PK" dirty="0">
              <a:solidFill>
                <a:schemeClr val="bg1"/>
              </a:solidFill>
            </a:endParaRPr>
          </a:p>
        </p:txBody>
      </p:sp>
      <p:sp>
        <p:nvSpPr>
          <p:cNvPr id="9" name="Rectangle: Rounded Corners 8">
            <a:extLst>
              <a:ext uri="{FF2B5EF4-FFF2-40B4-BE49-F238E27FC236}">
                <a16:creationId xmlns:a16="http://schemas.microsoft.com/office/drawing/2014/main" id="{0132B3A7-C129-1805-F41E-C4FDD587E152}"/>
              </a:ext>
            </a:extLst>
          </p:cNvPr>
          <p:cNvSpPr/>
          <p:nvPr/>
        </p:nvSpPr>
        <p:spPr>
          <a:xfrm>
            <a:off x="8024141" y="3114290"/>
            <a:ext cx="3311815" cy="611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 TIER </a:t>
            </a:r>
            <a:r>
              <a:rPr lang="en-US" dirty="0">
                <a:solidFill>
                  <a:schemeClr val="bg1"/>
                </a:solidFill>
                <a:latin typeface="Google Sans"/>
                <a:ea typeface="Google Sans"/>
                <a:cs typeface="Google Sans"/>
              </a:rPr>
              <a:t> 2 (b)</a:t>
            </a:r>
            <a:r>
              <a:rPr lang="en-PK" dirty="0">
                <a:solidFill>
                  <a:schemeClr val="bg1"/>
                </a:solidFill>
                <a:latin typeface="Google Sans"/>
                <a:ea typeface="Google Sans"/>
                <a:cs typeface="Google Sans"/>
              </a:rPr>
              <a:t>: MATH ]</a:t>
            </a:r>
            <a:br>
              <a:rPr lang="en-PK" dirty="0">
                <a:solidFill>
                  <a:schemeClr val="bg1"/>
                </a:solidFill>
                <a:latin typeface="Google Sans"/>
                <a:ea typeface="Google Sans"/>
                <a:cs typeface="Google Sans"/>
              </a:rPr>
            </a:br>
            <a:r>
              <a:rPr lang="en-PK" dirty="0">
                <a:solidFill>
                  <a:schemeClr val="bg1"/>
                </a:solidFill>
                <a:latin typeface="Google Sans"/>
                <a:ea typeface="Google Sans"/>
                <a:cs typeface="Google Sans"/>
              </a:rPr>
              <a:t>(Freq</a:t>
            </a:r>
            <a:r>
              <a:rPr lang="en-US" dirty="0">
                <a:solidFill>
                  <a:schemeClr val="bg1"/>
                </a:solidFill>
                <a:latin typeface="Google Sans"/>
                <a:ea typeface="Google Sans"/>
                <a:cs typeface="Google Sans"/>
              </a:rPr>
              <a:t> </a:t>
            </a:r>
            <a:r>
              <a:rPr lang="en-PK" dirty="0">
                <a:solidFill>
                  <a:schemeClr val="bg1"/>
                </a:solidFill>
                <a:latin typeface="Google Sans"/>
                <a:ea typeface="Google Sans"/>
                <a:cs typeface="Google Sans"/>
              </a:rPr>
              <a:t>/ELA(Edge)</a:t>
            </a:r>
            <a:r>
              <a:rPr lang="en-US" dirty="0">
                <a:solidFill>
                  <a:schemeClr val="bg1"/>
                </a:solidFill>
                <a:latin typeface="Google Sans"/>
                <a:ea typeface="Google Sans"/>
                <a:cs typeface="Google Sans"/>
              </a:rPr>
              <a:t>/ Noise </a:t>
            </a:r>
            <a:r>
              <a:rPr lang="en-PK" dirty="0">
                <a:solidFill>
                  <a:schemeClr val="bg1"/>
                </a:solidFill>
                <a:latin typeface="Google Sans"/>
                <a:ea typeface="Google Sans"/>
                <a:cs typeface="Google Sans"/>
              </a:rPr>
              <a:t>Analysis)</a:t>
            </a:r>
            <a:endParaRPr lang="en-PK" dirty="0">
              <a:solidFill>
                <a:schemeClr val="bg1"/>
              </a:solidFill>
            </a:endParaRPr>
          </a:p>
        </p:txBody>
      </p:sp>
      <p:sp>
        <p:nvSpPr>
          <p:cNvPr id="10" name="Rectangle: Rounded Corners 9">
            <a:extLst>
              <a:ext uri="{FF2B5EF4-FFF2-40B4-BE49-F238E27FC236}">
                <a16:creationId xmlns:a16="http://schemas.microsoft.com/office/drawing/2014/main" id="{C49FC317-8909-3AC2-CA98-0C6C72C38A94}"/>
              </a:ext>
            </a:extLst>
          </p:cNvPr>
          <p:cNvSpPr/>
          <p:nvPr/>
        </p:nvSpPr>
        <p:spPr>
          <a:xfrm>
            <a:off x="7699621" y="1438916"/>
            <a:ext cx="1741333" cy="5768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CONVEX CLOUD DB  (Store Metadata)</a:t>
            </a:r>
            <a:endParaRPr lang="en-PK" dirty="0">
              <a:solidFill>
                <a:schemeClr val="bg1"/>
              </a:solidFill>
            </a:endParaRPr>
          </a:p>
        </p:txBody>
      </p:sp>
      <p:sp>
        <p:nvSpPr>
          <p:cNvPr id="11" name="Rectangle: Rounded Corners 10">
            <a:extLst>
              <a:ext uri="{FF2B5EF4-FFF2-40B4-BE49-F238E27FC236}">
                <a16:creationId xmlns:a16="http://schemas.microsoft.com/office/drawing/2014/main" id="{1EF6B818-B2E2-623B-F0F4-BE60679B6E9E}"/>
              </a:ext>
            </a:extLst>
          </p:cNvPr>
          <p:cNvSpPr/>
          <p:nvPr/>
        </p:nvSpPr>
        <p:spPr>
          <a:xfrm>
            <a:off x="2361130" y="4049494"/>
            <a:ext cx="670772" cy="3595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(Fake)</a:t>
            </a:r>
            <a:endParaRPr lang="en-PK" dirty="0">
              <a:solidFill>
                <a:schemeClr val="bg1"/>
              </a:solidFill>
            </a:endParaRPr>
          </a:p>
        </p:txBody>
      </p:sp>
      <p:sp>
        <p:nvSpPr>
          <p:cNvPr id="12" name="Rectangle: Rounded Corners 11">
            <a:extLst>
              <a:ext uri="{FF2B5EF4-FFF2-40B4-BE49-F238E27FC236}">
                <a16:creationId xmlns:a16="http://schemas.microsoft.com/office/drawing/2014/main" id="{45A8321D-ECAB-8D97-947A-F49E4F5F1319}"/>
              </a:ext>
            </a:extLst>
          </p:cNvPr>
          <p:cNvSpPr/>
          <p:nvPr/>
        </p:nvSpPr>
        <p:spPr>
          <a:xfrm>
            <a:off x="5799953" y="4087885"/>
            <a:ext cx="4122782" cy="6670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 SOVEREIGN BALANCED ENSEMBLE (SBE) ]</a:t>
            </a:r>
            <a:br>
              <a:rPr lang="en-US" dirty="0">
                <a:solidFill>
                  <a:schemeClr val="bg1"/>
                </a:solidFill>
                <a:latin typeface="Google Sans"/>
                <a:ea typeface="Google Sans"/>
                <a:cs typeface="Google Sans"/>
              </a:rPr>
            </a:br>
            <a:r>
              <a:rPr lang="en-PK" dirty="0">
                <a:solidFill>
                  <a:schemeClr val="bg1"/>
                </a:solidFill>
                <a:latin typeface="Google Sans"/>
                <a:ea typeface="Google Sans"/>
                <a:cs typeface="Google Sans"/>
              </a:rPr>
              <a:t>(Calculates Weighted Average: </a:t>
            </a:r>
            <a:r>
              <a:rPr lang="en-US" dirty="0">
                <a:solidFill>
                  <a:schemeClr val="bg1"/>
                </a:solidFill>
                <a:latin typeface="Google Sans"/>
                <a:ea typeface="Google Sans"/>
                <a:cs typeface="Google Sans"/>
              </a:rPr>
              <a:t>70</a:t>
            </a:r>
            <a:r>
              <a:rPr lang="en-PK" dirty="0">
                <a:solidFill>
                  <a:schemeClr val="bg1"/>
                </a:solidFill>
                <a:latin typeface="Google Sans"/>
                <a:ea typeface="Google Sans"/>
                <a:cs typeface="Google Sans"/>
              </a:rPr>
              <a:t>% AI / </a:t>
            </a:r>
            <a:r>
              <a:rPr lang="en-US" dirty="0">
                <a:solidFill>
                  <a:schemeClr val="bg1"/>
                </a:solidFill>
                <a:latin typeface="Google Sans"/>
                <a:ea typeface="Google Sans"/>
                <a:cs typeface="Google Sans"/>
              </a:rPr>
              <a:t>10</a:t>
            </a:r>
            <a:r>
              <a:rPr lang="en-PK" dirty="0">
                <a:solidFill>
                  <a:schemeClr val="bg1"/>
                </a:solidFill>
                <a:latin typeface="Google Sans"/>
                <a:ea typeface="Google Sans"/>
                <a:cs typeface="Google Sans"/>
              </a:rPr>
              <a:t>% Freq / </a:t>
            </a:r>
            <a:r>
              <a:rPr lang="en-US" dirty="0">
                <a:solidFill>
                  <a:schemeClr val="bg1"/>
                </a:solidFill>
                <a:latin typeface="Google Sans"/>
                <a:ea typeface="Google Sans"/>
                <a:cs typeface="Google Sans"/>
              </a:rPr>
              <a:t>10</a:t>
            </a:r>
            <a:r>
              <a:rPr lang="en-PK" dirty="0">
                <a:solidFill>
                  <a:schemeClr val="bg1"/>
                </a:solidFill>
                <a:latin typeface="Google Sans"/>
                <a:ea typeface="Google Sans"/>
                <a:cs typeface="Google Sans"/>
              </a:rPr>
              <a:t>% Edge</a:t>
            </a:r>
            <a:r>
              <a:rPr lang="en-US" dirty="0">
                <a:solidFill>
                  <a:schemeClr val="bg1"/>
                </a:solidFill>
                <a:latin typeface="Google Sans"/>
                <a:ea typeface="Google Sans"/>
                <a:cs typeface="Google Sans"/>
              </a:rPr>
              <a:t> / 10% Noise</a:t>
            </a:r>
            <a:endParaRPr lang="en-PK" dirty="0">
              <a:solidFill>
                <a:schemeClr val="bg1"/>
              </a:solidFill>
            </a:endParaRPr>
          </a:p>
        </p:txBody>
      </p:sp>
      <p:sp>
        <p:nvSpPr>
          <p:cNvPr id="13" name="Rectangle: Rounded Corners 12">
            <a:extLst>
              <a:ext uri="{FF2B5EF4-FFF2-40B4-BE49-F238E27FC236}">
                <a16:creationId xmlns:a16="http://schemas.microsoft.com/office/drawing/2014/main" id="{088615B7-B1BA-2FA4-2312-1F42AA0C0E74}"/>
              </a:ext>
            </a:extLst>
          </p:cNvPr>
          <p:cNvSpPr/>
          <p:nvPr/>
        </p:nvSpPr>
        <p:spPr>
          <a:xfrm>
            <a:off x="1678544" y="3114290"/>
            <a:ext cx="2039158" cy="6078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 TIER 1: PROVENANCE ]</a:t>
            </a:r>
            <a:br>
              <a:rPr lang="en-US" dirty="0">
                <a:solidFill>
                  <a:schemeClr val="bg1"/>
                </a:solidFill>
                <a:latin typeface="Google Sans"/>
                <a:ea typeface="Google Sans"/>
                <a:cs typeface="Google Sans"/>
              </a:rPr>
            </a:br>
            <a:r>
              <a:rPr lang="en-PK" dirty="0">
                <a:solidFill>
                  <a:schemeClr val="bg1"/>
                </a:solidFill>
                <a:latin typeface="Google Sans"/>
                <a:ea typeface="Google Sans"/>
                <a:cs typeface="Google Sans"/>
              </a:rPr>
              <a:t>(EXIF/C2PA Checks)</a:t>
            </a:r>
            <a:endParaRPr lang="en-PK" dirty="0">
              <a:solidFill>
                <a:schemeClr val="bg1"/>
              </a:solidFill>
            </a:endParaRPr>
          </a:p>
        </p:txBody>
      </p:sp>
      <p:sp>
        <p:nvSpPr>
          <p:cNvPr id="14" name="Rectangle: Rounded Corners 13">
            <a:extLst>
              <a:ext uri="{FF2B5EF4-FFF2-40B4-BE49-F238E27FC236}">
                <a16:creationId xmlns:a16="http://schemas.microsoft.com/office/drawing/2014/main" id="{1AE9D79C-8054-1D5F-6B84-DB18A271E5C7}"/>
              </a:ext>
            </a:extLst>
          </p:cNvPr>
          <p:cNvSpPr/>
          <p:nvPr/>
        </p:nvSpPr>
        <p:spPr>
          <a:xfrm>
            <a:off x="4515657" y="1574139"/>
            <a:ext cx="2320882" cy="3940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FRONTEND (HTML/JS/React)</a:t>
            </a:r>
            <a:endParaRPr lang="en-PK" dirty="0">
              <a:solidFill>
                <a:schemeClr val="bg1"/>
              </a:solidFill>
            </a:endParaRPr>
          </a:p>
        </p:txBody>
      </p:sp>
      <p:sp>
        <p:nvSpPr>
          <p:cNvPr id="15" name="Rectangle: Rounded Corners 14">
            <a:extLst>
              <a:ext uri="{FF2B5EF4-FFF2-40B4-BE49-F238E27FC236}">
                <a16:creationId xmlns:a16="http://schemas.microsoft.com/office/drawing/2014/main" id="{ECFD814B-38D6-6FDE-8764-D9C51EBF7987}"/>
              </a:ext>
            </a:extLst>
          </p:cNvPr>
          <p:cNvSpPr/>
          <p:nvPr/>
        </p:nvSpPr>
        <p:spPr>
          <a:xfrm>
            <a:off x="5771278" y="3120465"/>
            <a:ext cx="1883535" cy="5957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1200" dirty="0">
                <a:solidFill>
                  <a:schemeClr val="bg1"/>
                </a:solidFill>
                <a:latin typeface="Google Sans"/>
                <a:ea typeface="Google Sans"/>
                <a:cs typeface="Google Sans"/>
              </a:rPr>
              <a:t>[ TIER 2</a:t>
            </a:r>
            <a:r>
              <a:rPr lang="en-US" sz="1200" dirty="0">
                <a:solidFill>
                  <a:schemeClr val="bg1"/>
                </a:solidFill>
                <a:latin typeface="Google Sans"/>
                <a:ea typeface="Google Sans"/>
                <a:cs typeface="Google Sans"/>
              </a:rPr>
              <a:t> (a)</a:t>
            </a:r>
            <a:r>
              <a:rPr lang="en-PK" sz="1200" dirty="0">
                <a:solidFill>
                  <a:schemeClr val="bg1"/>
                </a:solidFill>
                <a:latin typeface="Google Sans"/>
                <a:ea typeface="Google Sans"/>
                <a:cs typeface="Google Sans"/>
              </a:rPr>
              <a:t>: AI CORE ]</a:t>
            </a:r>
            <a:br>
              <a:rPr lang="en-US" sz="1200" dirty="0">
                <a:solidFill>
                  <a:schemeClr val="bg1"/>
                </a:solidFill>
                <a:latin typeface="Google Sans"/>
                <a:ea typeface="Google Sans"/>
                <a:cs typeface="Google Sans"/>
              </a:rPr>
            </a:br>
            <a:r>
              <a:rPr lang="en-PK" sz="1200" dirty="0">
                <a:solidFill>
                  <a:schemeClr val="bg1"/>
                </a:solidFill>
                <a:latin typeface="Google Sans"/>
                <a:ea typeface="Google Sans"/>
                <a:cs typeface="Google Sans"/>
              </a:rPr>
              <a:t>(Xception</a:t>
            </a:r>
            <a:r>
              <a:rPr lang="en-US" sz="1200" dirty="0">
                <a:solidFill>
                  <a:schemeClr val="bg1"/>
                </a:solidFill>
                <a:latin typeface="Google Sans"/>
                <a:ea typeface="Google Sans"/>
                <a:cs typeface="Google Sans"/>
              </a:rPr>
              <a:t> + Xception ++</a:t>
            </a:r>
            <a:r>
              <a:rPr lang="en-PK" sz="1200" dirty="0">
                <a:solidFill>
                  <a:schemeClr val="bg1"/>
                </a:solidFill>
                <a:latin typeface="Google Sans"/>
                <a:ea typeface="Google Sans"/>
                <a:cs typeface="Google Sans"/>
              </a:rPr>
              <a:t> Model)</a:t>
            </a:r>
            <a:endParaRPr lang="en-PK" sz="1200" dirty="0">
              <a:solidFill>
                <a:schemeClr val="bg1"/>
              </a:solidFill>
            </a:endParaRPr>
          </a:p>
        </p:txBody>
      </p:sp>
      <p:sp>
        <p:nvSpPr>
          <p:cNvPr id="16" name="Rectangle: Rounded Corners 15">
            <a:extLst>
              <a:ext uri="{FF2B5EF4-FFF2-40B4-BE49-F238E27FC236}">
                <a16:creationId xmlns:a16="http://schemas.microsoft.com/office/drawing/2014/main" id="{908F0D71-4968-1E98-A437-B237080F0022}"/>
              </a:ext>
            </a:extLst>
          </p:cNvPr>
          <p:cNvSpPr/>
          <p:nvPr/>
        </p:nvSpPr>
        <p:spPr>
          <a:xfrm>
            <a:off x="4367681" y="3230741"/>
            <a:ext cx="886498" cy="3862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(Real) </a:t>
            </a:r>
            <a:endParaRPr lang="en-PK" dirty="0">
              <a:solidFill>
                <a:schemeClr val="bg1"/>
              </a:solidFill>
            </a:endParaRPr>
          </a:p>
        </p:txBody>
      </p:sp>
      <p:sp>
        <p:nvSpPr>
          <p:cNvPr id="19" name="Rectangle: Rounded Corners 18">
            <a:extLst>
              <a:ext uri="{FF2B5EF4-FFF2-40B4-BE49-F238E27FC236}">
                <a16:creationId xmlns:a16="http://schemas.microsoft.com/office/drawing/2014/main" id="{383229DA-0FE1-84B4-F9AE-93D4FBBD79A8}"/>
              </a:ext>
            </a:extLst>
          </p:cNvPr>
          <p:cNvSpPr/>
          <p:nvPr/>
        </p:nvSpPr>
        <p:spPr>
          <a:xfrm>
            <a:off x="2338322" y="4990285"/>
            <a:ext cx="3503051" cy="7015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 FORENSIC REPORT GENERATION ]</a:t>
            </a:r>
            <a:br>
              <a:rPr lang="en-PK" dirty="0">
                <a:solidFill>
                  <a:schemeClr val="bg1"/>
                </a:solidFill>
                <a:latin typeface="Google Sans"/>
                <a:ea typeface="Google Sans"/>
                <a:cs typeface="Google Sans"/>
              </a:rPr>
            </a:br>
            <a:r>
              <a:rPr lang="en-PK" dirty="0">
                <a:solidFill>
                  <a:schemeClr val="bg1"/>
                </a:solidFill>
                <a:latin typeface="Google Sans"/>
                <a:ea typeface="Google Sans"/>
                <a:cs typeface="Google Sans"/>
              </a:rPr>
              <a:t>(Grad-CAM Heatmaps + Probability Score)</a:t>
            </a:r>
            <a:endParaRPr lang="en-PK" dirty="0">
              <a:solidFill>
                <a:schemeClr val="bg1"/>
              </a:solidFill>
            </a:endParaRPr>
          </a:p>
        </p:txBody>
      </p:sp>
      <p:sp>
        <p:nvSpPr>
          <p:cNvPr id="20" name="Rectangle: Rounded Corners 19">
            <a:extLst>
              <a:ext uri="{FF2B5EF4-FFF2-40B4-BE49-F238E27FC236}">
                <a16:creationId xmlns:a16="http://schemas.microsoft.com/office/drawing/2014/main" id="{DA0D7213-56FF-0BE3-F484-5483ABAE5350}"/>
              </a:ext>
            </a:extLst>
          </p:cNvPr>
          <p:cNvSpPr/>
          <p:nvPr/>
        </p:nvSpPr>
        <p:spPr>
          <a:xfrm>
            <a:off x="3148079" y="5884959"/>
            <a:ext cx="1883535" cy="5835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FRONTEND DISPLAY &amp; HISTORY SYNC</a:t>
            </a:r>
            <a:endParaRPr lang="en-PK" dirty="0">
              <a:solidFill>
                <a:schemeClr val="bg1"/>
              </a:solidFill>
            </a:endParaRPr>
          </a:p>
        </p:txBody>
      </p:sp>
      <p:sp>
        <p:nvSpPr>
          <p:cNvPr id="21" name="Rectangle: Rounded Corners 20">
            <a:extLst>
              <a:ext uri="{FF2B5EF4-FFF2-40B4-BE49-F238E27FC236}">
                <a16:creationId xmlns:a16="http://schemas.microsoft.com/office/drawing/2014/main" id="{464870AC-F0BA-101D-F1CA-45F25620E7C9}"/>
              </a:ext>
            </a:extLst>
          </p:cNvPr>
          <p:cNvSpPr/>
          <p:nvPr/>
        </p:nvSpPr>
        <p:spPr>
          <a:xfrm>
            <a:off x="1732208" y="1574139"/>
            <a:ext cx="1931831" cy="3791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solidFill>
                  <a:schemeClr val="bg1"/>
                </a:solidFill>
                <a:latin typeface="Google Sans"/>
                <a:ea typeface="Google Sans"/>
                <a:cs typeface="Google Sans"/>
              </a:rPr>
              <a:t>USER UPLOADS IMAGE</a:t>
            </a:r>
            <a:endParaRPr lang="en-PK" dirty="0">
              <a:solidFill>
                <a:schemeClr val="bg1"/>
              </a:solidFill>
            </a:endParaRPr>
          </a:p>
        </p:txBody>
      </p:sp>
      <p:cxnSp>
        <p:nvCxnSpPr>
          <p:cNvPr id="23" name="Straight Arrow Connector 22">
            <a:extLst>
              <a:ext uri="{FF2B5EF4-FFF2-40B4-BE49-F238E27FC236}">
                <a16:creationId xmlns:a16="http://schemas.microsoft.com/office/drawing/2014/main" id="{0483DCCF-603C-D3B1-A630-BC1EFAAF4A0C}"/>
              </a:ext>
            </a:extLst>
          </p:cNvPr>
          <p:cNvCxnSpPr>
            <a:cxnSpLocks/>
            <a:stCxn id="21" idx="3"/>
            <a:endCxn id="14" idx="1"/>
          </p:cNvCxnSpPr>
          <p:nvPr/>
        </p:nvCxnSpPr>
        <p:spPr>
          <a:xfrm>
            <a:off x="3664039" y="1763714"/>
            <a:ext cx="851618" cy="74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08CD09F-05EF-4FDF-C0D5-93598D9E0D29}"/>
              </a:ext>
            </a:extLst>
          </p:cNvPr>
          <p:cNvCxnSpPr>
            <a:cxnSpLocks/>
            <a:stCxn id="14" idx="3"/>
            <a:endCxn id="10" idx="1"/>
          </p:cNvCxnSpPr>
          <p:nvPr/>
        </p:nvCxnSpPr>
        <p:spPr>
          <a:xfrm flipV="1">
            <a:off x="6836539" y="1727359"/>
            <a:ext cx="863082" cy="437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F754A13C-3C7D-05A4-F2A3-7627C5F3B75A}"/>
              </a:ext>
            </a:extLst>
          </p:cNvPr>
          <p:cNvCxnSpPr>
            <a:cxnSpLocks/>
            <a:stCxn id="14" idx="2"/>
            <a:endCxn id="8" idx="0"/>
          </p:cNvCxnSpPr>
          <p:nvPr/>
        </p:nvCxnSpPr>
        <p:spPr>
          <a:xfrm>
            <a:off x="5676098" y="1968166"/>
            <a:ext cx="0" cy="284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BD52FB45-91AB-4C36-4B53-5B23638A0EAE}"/>
              </a:ext>
            </a:extLst>
          </p:cNvPr>
          <p:cNvCxnSpPr>
            <a:cxnSpLocks/>
            <a:endCxn id="13" idx="0"/>
          </p:cNvCxnSpPr>
          <p:nvPr/>
        </p:nvCxnSpPr>
        <p:spPr>
          <a:xfrm flipH="1">
            <a:off x="2698123" y="2564780"/>
            <a:ext cx="2094599" cy="549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C66463E9-F583-319B-D24A-3619CF09E59B}"/>
              </a:ext>
            </a:extLst>
          </p:cNvPr>
          <p:cNvCxnSpPr>
            <a:cxnSpLocks/>
            <a:stCxn id="13" idx="3"/>
            <a:endCxn id="16" idx="1"/>
          </p:cNvCxnSpPr>
          <p:nvPr/>
        </p:nvCxnSpPr>
        <p:spPr>
          <a:xfrm>
            <a:off x="3717702" y="3418224"/>
            <a:ext cx="649979" cy="56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EF84A554-1D81-261A-441A-9D40009FE8B2}"/>
              </a:ext>
            </a:extLst>
          </p:cNvPr>
          <p:cNvCxnSpPr>
            <a:cxnSpLocks/>
            <a:stCxn id="15" idx="3"/>
            <a:endCxn id="9" idx="1"/>
          </p:cNvCxnSpPr>
          <p:nvPr/>
        </p:nvCxnSpPr>
        <p:spPr>
          <a:xfrm>
            <a:off x="7654813" y="3418344"/>
            <a:ext cx="369328" cy="157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0BFBFE4E-F3F4-F0B0-2C8E-BC21444F2FD5}"/>
              </a:ext>
            </a:extLst>
          </p:cNvPr>
          <p:cNvCxnSpPr>
            <a:cxnSpLocks/>
            <a:stCxn id="16" idx="3"/>
            <a:endCxn id="15" idx="1"/>
          </p:cNvCxnSpPr>
          <p:nvPr/>
        </p:nvCxnSpPr>
        <p:spPr>
          <a:xfrm flipV="1">
            <a:off x="5254179" y="3418344"/>
            <a:ext cx="517099" cy="55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3DC86CA7-4C55-618E-6253-B4EE6BCACCA4}"/>
              </a:ext>
            </a:extLst>
          </p:cNvPr>
          <p:cNvCxnSpPr>
            <a:cxnSpLocks/>
            <a:stCxn id="13" idx="2"/>
            <a:endCxn id="11" idx="0"/>
          </p:cNvCxnSpPr>
          <p:nvPr/>
        </p:nvCxnSpPr>
        <p:spPr>
          <a:xfrm flipH="1">
            <a:off x="2696516" y="3722158"/>
            <a:ext cx="1607" cy="327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039D28B1-DFB1-528A-615A-BE73DFE81F78}"/>
              </a:ext>
            </a:extLst>
          </p:cNvPr>
          <p:cNvCxnSpPr>
            <a:cxnSpLocks/>
            <a:stCxn id="15" idx="2"/>
            <a:endCxn id="12" idx="0"/>
          </p:cNvCxnSpPr>
          <p:nvPr/>
        </p:nvCxnSpPr>
        <p:spPr>
          <a:xfrm>
            <a:off x="6713046" y="3716223"/>
            <a:ext cx="1148298" cy="371662"/>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81CCB1C-EA95-51E5-DC11-95B8D369817E}"/>
              </a:ext>
            </a:extLst>
          </p:cNvPr>
          <p:cNvCxnSpPr>
            <a:cxnSpLocks/>
            <a:stCxn id="9" idx="2"/>
            <a:endCxn id="12" idx="0"/>
          </p:cNvCxnSpPr>
          <p:nvPr/>
        </p:nvCxnSpPr>
        <p:spPr>
          <a:xfrm flipH="1">
            <a:off x="7861344" y="3725548"/>
            <a:ext cx="1818705" cy="362337"/>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8ED94D55-953A-5F7D-7E74-2B58DAE11AFB}"/>
              </a:ext>
            </a:extLst>
          </p:cNvPr>
          <p:cNvCxnSpPr>
            <a:cxnSpLocks/>
            <a:stCxn id="12" idx="1"/>
            <a:endCxn id="19" idx="0"/>
          </p:cNvCxnSpPr>
          <p:nvPr/>
        </p:nvCxnSpPr>
        <p:spPr>
          <a:xfrm flipH="1">
            <a:off x="4089848" y="4421422"/>
            <a:ext cx="1710105" cy="5688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2BC24ECE-E29B-D050-B650-9DF611B35ADE}"/>
              </a:ext>
            </a:extLst>
          </p:cNvPr>
          <p:cNvCxnSpPr>
            <a:cxnSpLocks/>
            <a:stCxn id="19" idx="2"/>
            <a:endCxn id="20" idx="0"/>
          </p:cNvCxnSpPr>
          <p:nvPr/>
        </p:nvCxnSpPr>
        <p:spPr>
          <a:xfrm flipH="1">
            <a:off x="4089847" y="5691843"/>
            <a:ext cx="1" cy="1931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56186D00-50CE-7932-6717-C49EAD75A754}"/>
              </a:ext>
            </a:extLst>
          </p:cNvPr>
          <p:cNvCxnSpPr>
            <a:cxnSpLocks/>
            <a:stCxn id="20" idx="3"/>
            <a:endCxn id="7" idx="1"/>
          </p:cNvCxnSpPr>
          <p:nvPr/>
        </p:nvCxnSpPr>
        <p:spPr>
          <a:xfrm flipV="1">
            <a:off x="5031614" y="6145812"/>
            <a:ext cx="2829730" cy="309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Straight Arrow Connector 135">
            <a:extLst>
              <a:ext uri="{FF2B5EF4-FFF2-40B4-BE49-F238E27FC236}">
                <a16:creationId xmlns:a16="http://schemas.microsoft.com/office/drawing/2014/main" id="{187D0B9A-6692-1ED5-D397-96D601252544}"/>
              </a:ext>
            </a:extLst>
          </p:cNvPr>
          <p:cNvCxnSpPr>
            <a:cxnSpLocks/>
            <a:stCxn id="11" idx="2"/>
            <a:endCxn id="19" idx="0"/>
          </p:cNvCxnSpPr>
          <p:nvPr/>
        </p:nvCxnSpPr>
        <p:spPr>
          <a:xfrm>
            <a:off x="2696516" y="4409078"/>
            <a:ext cx="1393332" cy="5812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44079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055FAA83-296F-2ECA-F6D8-CF3F8EBCC82C}"/>
              </a:ext>
            </a:extLst>
          </p:cNvPr>
          <p:cNvSpPr/>
          <p:nvPr/>
        </p:nvSpPr>
        <p:spPr>
          <a:xfrm>
            <a:off x="697606" y="1143000"/>
            <a:ext cx="2302099" cy="5078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 name="Title 1">
            <a:extLst>
              <a:ext uri="{FF2B5EF4-FFF2-40B4-BE49-F238E27FC236}">
                <a16:creationId xmlns:a16="http://schemas.microsoft.com/office/drawing/2014/main" id="{54D12D3D-954E-9F61-61FE-8D3AE1C1D0FC}"/>
              </a:ext>
            </a:extLst>
          </p:cNvPr>
          <p:cNvSpPr>
            <a:spLocks noGrp="1"/>
          </p:cNvSpPr>
          <p:nvPr>
            <p:ph type="ctrTitle"/>
          </p:nvPr>
        </p:nvSpPr>
        <p:spPr/>
        <p:txBody>
          <a:bodyPr/>
          <a:lstStyle/>
          <a:p>
            <a:endParaRPr lang="en-PK"/>
          </a:p>
        </p:txBody>
      </p:sp>
      <p:sp>
        <p:nvSpPr>
          <p:cNvPr id="3" name="Subtitle 2">
            <a:extLst>
              <a:ext uri="{FF2B5EF4-FFF2-40B4-BE49-F238E27FC236}">
                <a16:creationId xmlns:a16="http://schemas.microsoft.com/office/drawing/2014/main" id="{C6B298E2-1FEB-1443-2FF8-3F3D928D11E5}"/>
              </a:ext>
            </a:extLst>
          </p:cNvPr>
          <p:cNvSpPr>
            <a:spLocks noGrp="1"/>
          </p:cNvSpPr>
          <p:nvPr>
            <p:ph type="subTitle" idx="1"/>
          </p:nvPr>
        </p:nvSpPr>
        <p:spPr/>
        <p:txBody>
          <a:bodyPr/>
          <a:lstStyle/>
          <a:p>
            <a:endParaRPr lang="en-PK"/>
          </a:p>
        </p:txBody>
      </p:sp>
      <p:pic>
        <p:nvPicPr>
          <p:cNvPr id="4" name="Google Shape;226;p22" descr="image.png">
            <a:extLst>
              <a:ext uri="{FF2B5EF4-FFF2-40B4-BE49-F238E27FC236}">
                <a16:creationId xmlns:a16="http://schemas.microsoft.com/office/drawing/2014/main" id="{F9291EBC-6B91-9E26-49ED-48CDD9B12B2B}"/>
              </a:ext>
            </a:extLst>
          </p:cNvPr>
          <p:cNvPicPr preferRelativeResize="0"/>
          <p:nvPr/>
        </p:nvPicPr>
        <p:blipFill rotWithShape="1">
          <a:blip r:embed="rId2">
            <a:alphaModFix/>
          </a:blip>
          <a:srcRect/>
          <a:stretch/>
        </p:blipFill>
        <p:spPr>
          <a:xfrm>
            <a:off x="0" y="171450"/>
            <a:ext cx="12192000" cy="6858000"/>
          </a:xfrm>
          <a:prstGeom prst="rect">
            <a:avLst/>
          </a:prstGeom>
          <a:noFill/>
          <a:ln>
            <a:noFill/>
          </a:ln>
        </p:spPr>
      </p:pic>
      <p:sp>
        <p:nvSpPr>
          <p:cNvPr id="9" name="Google Shape;199;p20">
            <a:extLst>
              <a:ext uri="{FF2B5EF4-FFF2-40B4-BE49-F238E27FC236}">
                <a16:creationId xmlns:a16="http://schemas.microsoft.com/office/drawing/2014/main" id="{E42FE876-4636-B265-BFF0-97671BF9639E}"/>
              </a:ext>
            </a:extLst>
          </p:cNvPr>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System Architecture </a:t>
            </a:r>
            <a:endParaRPr dirty="0"/>
          </a:p>
        </p:txBody>
      </p:sp>
      <p:sp>
        <p:nvSpPr>
          <p:cNvPr id="10" name="Google Shape;200;p20">
            <a:extLst>
              <a:ext uri="{FF2B5EF4-FFF2-40B4-BE49-F238E27FC236}">
                <a16:creationId xmlns:a16="http://schemas.microsoft.com/office/drawing/2014/main" id="{CBCF61C6-412F-D1CA-D7F4-F11D917B4CDE}"/>
              </a:ext>
            </a:extLst>
          </p:cNvPr>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 name="Google Shape;199;p20">
            <a:extLst>
              <a:ext uri="{FF2B5EF4-FFF2-40B4-BE49-F238E27FC236}">
                <a16:creationId xmlns:a16="http://schemas.microsoft.com/office/drawing/2014/main" id="{8838E19D-1B44-2ACD-35CB-C1EB9DCF5BCB}"/>
              </a:ext>
            </a:extLst>
          </p:cNvPr>
          <p:cNvSpPr txBox="1"/>
          <p:nvPr/>
        </p:nvSpPr>
        <p:spPr>
          <a:xfrm>
            <a:off x="2999705" y="3184951"/>
            <a:ext cx="6670394" cy="830997"/>
          </a:xfrm>
          <a:prstGeom prst="rect">
            <a:avLst/>
          </a:prstGeom>
          <a:noFill/>
          <a:ln>
            <a:noFill/>
          </a:ln>
        </p:spPr>
        <p:txBody>
          <a:bodyPr spcFirstLastPara="1" wrap="square" lIns="0" tIns="0" rIns="0" bIns="0" anchor="t" anchorCtr="0">
            <a:spAutoFit/>
          </a:bodyPr>
          <a:lstStyle/>
          <a:p>
            <a:pPr lvl="0"/>
            <a:r>
              <a:rPr lang="en-US" sz="5400" dirty="0">
                <a:latin typeface="Poppins" panose="00000500000000000000" pitchFamily="2" charset="0"/>
                <a:cs typeface="Poppins" panose="00000500000000000000" pitchFamily="2" charset="0"/>
              </a:rPr>
              <a:t>Live Demo </a:t>
            </a:r>
            <a:r>
              <a:rPr lang="en-US" sz="2400" dirty="0">
                <a:latin typeface="Poppins" panose="00000500000000000000" pitchFamily="2" charset="0"/>
                <a:cs typeface="Poppins" panose="00000500000000000000" pitchFamily="2" charset="0"/>
              </a:rPr>
              <a:t>(verifexapp.com) </a:t>
            </a:r>
            <a:endParaRPr sz="54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8344657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3" name="Google Shape;273;p24"/>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System Feasibility</a:t>
            </a:r>
            <a:endParaRPr dirty="0"/>
          </a:p>
        </p:txBody>
      </p:sp>
      <p:sp>
        <p:nvSpPr>
          <p:cNvPr id="274" name="Google Shape;274;p24"/>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098" name="Picture 2">
            <a:extLst>
              <a:ext uri="{FF2B5EF4-FFF2-40B4-BE49-F238E27FC236}">
                <a16:creationId xmlns:a16="http://schemas.microsoft.com/office/drawing/2014/main" id="{54808319-CF90-C2B6-C50F-5D3018741F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661" y="2304490"/>
            <a:ext cx="3098800" cy="28449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473A2B-809D-A267-ACD5-4EAA61AF5F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6125" y="2293192"/>
            <a:ext cx="3098800" cy="284494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99E7CDB1-B3AE-935D-F4FA-B28C46F701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4755" y="2293193"/>
            <a:ext cx="3098800" cy="284494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76A1CD9-8975-485B-8D0D-A1BE58375C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2095" y="2597326"/>
            <a:ext cx="571500" cy="4667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E98D7C24-E3E2-2A77-841A-37536CD54D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38825" y="2597326"/>
            <a:ext cx="514350" cy="46672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B07AB298-20D9-A6EB-5AC7-B0FECB7A73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38405" y="2597326"/>
            <a:ext cx="571500" cy="4667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97A6FCE-FC7B-145B-D034-115A20FC526C}"/>
              </a:ext>
            </a:extLst>
          </p:cNvPr>
          <p:cNvSpPr txBox="1"/>
          <p:nvPr/>
        </p:nvSpPr>
        <p:spPr>
          <a:xfrm>
            <a:off x="110649" y="3288583"/>
            <a:ext cx="4574934" cy="1015663"/>
          </a:xfrm>
          <a:prstGeom prst="rect">
            <a:avLst/>
          </a:prstGeom>
          <a:noFill/>
        </p:spPr>
        <p:txBody>
          <a:bodyPr wrap="square">
            <a:spAutoFit/>
          </a:bodyPr>
          <a:lstStyle/>
          <a:p>
            <a:pPr algn="ctr" rtl="0">
              <a:buNone/>
            </a:pPr>
            <a:r>
              <a:rPr lang="en-US" sz="2000" b="1" i="0" u="none" strike="noStrike" dirty="0">
                <a:solidFill>
                  <a:srgbClr val="1E3A8A"/>
                </a:solidFill>
                <a:effectLst/>
                <a:latin typeface="Inter"/>
              </a:rPr>
              <a:t>Technical</a:t>
            </a:r>
            <a:endParaRPr lang="en-US" sz="2000" b="0" dirty="0">
              <a:effectLst/>
            </a:endParaRPr>
          </a:p>
          <a:p>
            <a:pPr>
              <a:buNone/>
            </a:pPr>
            <a:br>
              <a:rPr lang="en-US" sz="2000" dirty="0"/>
            </a:br>
            <a:endParaRPr lang="en-PK" sz="2000" dirty="0"/>
          </a:p>
        </p:txBody>
      </p:sp>
      <p:sp>
        <p:nvSpPr>
          <p:cNvPr id="10" name="TextBox 9">
            <a:extLst>
              <a:ext uri="{FF2B5EF4-FFF2-40B4-BE49-F238E27FC236}">
                <a16:creationId xmlns:a16="http://schemas.microsoft.com/office/drawing/2014/main" id="{273F5B8F-7946-0478-2C67-7FD4C87FB2BF}"/>
              </a:ext>
            </a:extLst>
          </p:cNvPr>
          <p:cNvSpPr txBox="1"/>
          <p:nvPr/>
        </p:nvSpPr>
        <p:spPr>
          <a:xfrm>
            <a:off x="2881489" y="3249532"/>
            <a:ext cx="6429022" cy="1015663"/>
          </a:xfrm>
          <a:prstGeom prst="rect">
            <a:avLst/>
          </a:prstGeom>
          <a:noFill/>
        </p:spPr>
        <p:txBody>
          <a:bodyPr wrap="square">
            <a:spAutoFit/>
          </a:bodyPr>
          <a:lstStyle/>
          <a:p>
            <a:pPr algn="ctr" rtl="0">
              <a:buNone/>
            </a:pPr>
            <a:r>
              <a:rPr lang="en-US" sz="2000" b="1" i="0" u="none" strike="noStrike" dirty="0">
                <a:solidFill>
                  <a:srgbClr val="1E3A8A"/>
                </a:solidFill>
                <a:effectLst/>
                <a:latin typeface="Inter"/>
              </a:rPr>
              <a:t>Economic</a:t>
            </a:r>
            <a:endParaRPr lang="en-US" sz="2000" b="0" dirty="0">
              <a:effectLst/>
            </a:endParaRPr>
          </a:p>
          <a:p>
            <a:pPr>
              <a:buNone/>
            </a:pPr>
            <a:br>
              <a:rPr lang="en-US" sz="2000" dirty="0"/>
            </a:br>
            <a:endParaRPr lang="en-PK" sz="2000" dirty="0"/>
          </a:p>
        </p:txBody>
      </p:sp>
      <p:sp>
        <p:nvSpPr>
          <p:cNvPr id="14" name="TextBox 13">
            <a:extLst>
              <a:ext uri="{FF2B5EF4-FFF2-40B4-BE49-F238E27FC236}">
                <a16:creationId xmlns:a16="http://schemas.microsoft.com/office/drawing/2014/main" id="{64D6A8E8-B8E0-4FEB-A961-D6F88E871EDE}"/>
              </a:ext>
            </a:extLst>
          </p:cNvPr>
          <p:cNvSpPr txBox="1"/>
          <p:nvPr/>
        </p:nvSpPr>
        <p:spPr>
          <a:xfrm>
            <a:off x="7536688" y="3242251"/>
            <a:ext cx="4574934" cy="1015663"/>
          </a:xfrm>
          <a:prstGeom prst="rect">
            <a:avLst/>
          </a:prstGeom>
          <a:noFill/>
        </p:spPr>
        <p:txBody>
          <a:bodyPr wrap="square">
            <a:spAutoFit/>
          </a:bodyPr>
          <a:lstStyle/>
          <a:p>
            <a:pPr algn="ctr" rtl="0">
              <a:buNone/>
            </a:pPr>
            <a:r>
              <a:rPr lang="en-US" sz="2000" b="1" i="0" u="none" strike="noStrike" dirty="0">
                <a:solidFill>
                  <a:srgbClr val="1E3A8A"/>
                </a:solidFill>
                <a:effectLst/>
                <a:latin typeface="Inter"/>
              </a:rPr>
              <a:t>Behavioral</a:t>
            </a:r>
            <a:endParaRPr lang="en-US" sz="2000" b="0" dirty="0">
              <a:effectLst/>
            </a:endParaRPr>
          </a:p>
          <a:p>
            <a:pPr>
              <a:buNone/>
            </a:pPr>
            <a:br>
              <a:rPr lang="en-US" sz="2000" dirty="0"/>
            </a:br>
            <a:endParaRPr lang="en-PK" sz="2000" dirty="0"/>
          </a:p>
        </p:txBody>
      </p:sp>
      <p:sp>
        <p:nvSpPr>
          <p:cNvPr id="16" name="TextBox 15">
            <a:extLst>
              <a:ext uri="{FF2B5EF4-FFF2-40B4-BE49-F238E27FC236}">
                <a16:creationId xmlns:a16="http://schemas.microsoft.com/office/drawing/2014/main" id="{6135B30B-C78B-D680-4A2B-A12CAFBBA5FF}"/>
              </a:ext>
            </a:extLst>
          </p:cNvPr>
          <p:cNvSpPr txBox="1"/>
          <p:nvPr/>
        </p:nvSpPr>
        <p:spPr>
          <a:xfrm>
            <a:off x="560861" y="3704082"/>
            <a:ext cx="3613968" cy="1477328"/>
          </a:xfrm>
          <a:prstGeom prst="rect">
            <a:avLst/>
          </a:prstGeom>
          <a:noFill/>
        </p:spPr>
        <p:txBody>
          <a:bodyPr wrap="square">
            <a:spAutoFit/>
          </a:bodyPr>
          <a:lstStyle/>
          <a:p>
            <a:pPr algn="ctr"/>
            <a:r>
              <a:rPr lang="en-US" sz="1800" b="0" i="0" u="none" strike="noStrike" dirty="0">
                <a:solidFill>
                  <a:srgbClr val="334155"/>
                </a:solidFill>
                <a:effectLst/>
                <a:latin typeface="Inter"/>
              </a:rPr>
              <a:t>Python ecosystem ensures</a:t>
            </a:r>
            <a:br>
              <a:rPr lang="en-US" sz="1800" b="0" i="0" u="none" strike="noStrike" dirty="0">
                <a:solidFill>
                  <a:srgbClr val="334155"/>
                </a:solidFill>
                <a:effectLst/>
                <a:latin typeface="Inter"/>
              </a:rPr>
            </a:br>
            <a:r>
              <a:rPr lang="en-US" sz="1800" b="0" i="0" u="none" strike="noStrike" dirty="0">
                <a:solidFill>
                  <a:srgbClr val="334155"/>
                </a:solidFill>
                <a:effectLst/>
                <a:latin typeface="Inter"/>
              </a:rPr>
              <a:t> </a:t>
            </a:r>
            <a:r>
              <a:rPr lang="en-US" sz="1800" dirty="0">
                <a:solidFill>
                  <a:srgbClr val="334155"/>
                </a:solidFill>
                <a:latin typeface="Inter"/>
                <a:ea typeface="Lato" panose="020F0502020204030203" pitchFamily="34" charset="0"/>
                <a:cs typeface="Lato" panose="020F0502020204030203" pitchFamily="34" charset="0"/>
              </a:rPr>
              <a:t>highly compatible with AI </a:t>
            </a:r>
            <a:br>
              <a:rPr lang="en-US" sz="1800" dirty="0">
                <a:solidFill>
                  <a:srgbClr val="334155"/>
                </a:solidFill>
                <a:latin typeface="Inter"/>
                <a:ea typeface="Lato" panose="020F0502020204030203" pitchFamily="34" charset="0"/>
                <a:cs typeface="Lato" panose="020F0502020204030203" pitchFamily="34" charset="0"/>
              </a:rPr>
            </a:br>
            <a:r>
              <a:rPr lang="en-US" sz="1800" dirty="0">
                <a:solidFill>
                  <a:srgbClr val="334155"/>
                </a:solidFill>
                <a:latin typeface="Inter"/>
                <a:ea typeface="Lato" panose="020F0502020204030203" pitchFamily="34" charset="0"/>
                <a:cs typeface="Lato" panose="020F0502020204030203" pitchFamily="34" charset="0"/>
              </a:rPr>
              <a:t>libraries like TensorFlow and PyTorch. </a:t>
            </a:r>
            <a:br>
              <a:rPr lang="en-US" sz="1800" dirty="0">
                <a:solidFill>
                  <a:srgbClr val="334155"/>
                </a:solidFill>
              </a:rPr>
            </a:br>
            <a:endParaRPr lang="en-PK" sz="1800" dirty="0">
              <a:solidFill>
                <a:srgbClr val="334155"/>
              </a:solidFill>
            </a:endParaRPr>
          </a:p>
        </p:txBody>
      </p:sp>
      <p:sp>
        <p:nvSpPr>
          <p:cNvPr id="18" name="TextBox 17">
            <a:extLst>
              <a:ext uri="{FF2B5EF4-FFF2-40B4-BE49-F238E27FC236}">
                <a16:creationId xmlns:a16="http://schemas.microsoft.com/office/drawing/2014/main" id="{A38287C5-A0A8-9D3A-D81D-DD4614A7B20F}"/>
              </a:ext>
            </a:extLst>
          </p:cNvPr>
          <p:cNvSpPr txBox="1"/>
          <p:nvPr/>
        </p:nvSpPr>
        <p:spPr>
          <a:xfrm>
            <a:off x="2589715" y="3704082"/>
            <a:ext cx="7031620" cy="1754326"/>
          </a:xfrm>
          <a:prstGeom prst="rect">
            <a:avLst/>
          </a:prstGeom>
          <a:noFill/>
        </p:spPr>
        <p:txBody>
          <a:bodyPr wrap="square">
            <a:spAutoFit/>
          </a:bodyPr>
          <a:lstStyle/>
          <a:p>
            <a:pPr algn="ctr" rtl="0">
              <a:buNone/>
            </a:pPr>
            <a:r>
              <a:rPr lang="en-US" sz="1800" b="0" i="0" u="none" strike="noStrike" dirty="0">
                <a:solidFill>
                  <a:srgbClr val="334155"/>
                </a:solidFill>
                <a:effectLst/>
                <a:latin typeface="Inter"/>
              </a:rPr>
              <a:t>Open-source models </a:t>
            </a:r>
            <a:br>
              <a:rPr lang="en-US" sz="1800" b="0" i="0" u="none" strike="noStrike" dirty="0">
                <a:solidFill>
                  <a:srgbClr val="334155"/>
                </a:solidFill>
                <a:effectLst/>
                <a:latin typeface="Inter"/>
              </a:rPr>
            </a:br>
            <a:r>
              <a:rPr lang="en-US" sz="1800" b="0" i="0" u="none" strike="noStrike" dirty="0">
                <a:solidFill>
                  <a:srgbClr val="334155"/>
                </a:solidFill>
                <a:effectLst/>
                <a:latin typeface="Inter"/>
              </a:rPr>
              <a:t>eliminate licensing fees; </a:t>
            </a:r>
            <a:br>
              <a:rPr lang="en-US" sz="1800" b="0" i="0" u="none" strike="noStrike" dirty="0">
                <a:solidFill>
                  <a:srgbClr val="334155"/>
                </a:solidFill>
                <a:effectLst/>
                <a:latin typeface="Inter"/>
              </a:rPr>
            </a:br>
            <a:r>
              <a:rPr lang="en-US" sz="1800" b="0" i="0" u="none" strike="noStrike" dirty="0">
                <a:solidFill>
                  <a:srgbClr val="334155"/>
                </a:solidFill>
                <a:effectLst/>
                <a:latin typeface="Inter"/>
              </a:rPr>
              <a:t>minimal one-time hosting</a:t>
            </a:r>
            <a:br>
              <a:rPr lang="en-US" sz="1800" b="0" i="0" u="none" strike="noStrike" dirty="0">
                <a:solidFill>
                  <a:srgbClr val="334155"/>
                </a:solidFill>
                <a:effectLst/>
                <a:latin typeface="Inter"/>
              </a:rPr>
            </a:br>
            <a:r>
              <a:rPr lang="en-US" sz="1800" b="0" i="0" u="none" strike="noStrike" dirty="0">
                <a:solidFill>
                  <a:srgbClr val="334155"/>
                </a:solidFill>
                <a:effectLst/>
                <a:latin typeface="Inter"/>
              </a:rPr>
              <a:t> costs.</a:t>
            </a:r>
            <a:endParaRPr lang="en-US" sz="1800" b="0" dirty="0">
              <a:effectLst/>
            </a:endParaRPr>
          </a:p>
          <a:p>
            <a:pPr>
              <a:buNone/>
            </a:pPr>
            <a:br>
              <a:rPr lang="en-US" sz="1800" dirty="0"/>
            </a:br>
            <a:endParaRPr lang="en-PK" sz="1800" dirty="0"/>
          </a:p>
        </p:txBody>
      </p:sp>
      <p:sp>
        <p:nvSpPr>
          <p:cNvPr id="20" name="TextBox 19">
            <a:extLst>
              <a:ext uri="{FF2B5EF4-FFF2-40B4-BE49-F238E27FC236}">
                <a16:creationId xmlns:a16="http://schemas.microsoft.com/office/drawing/2014/main" id="{9CF70DD8-B0A7-6A20-468C-3B10E7B42AE1}"/>
              </a:ext>
            </a:extLst>
          </p:cNvPr>
          <p:cNvSpPr txBox="1"/>
          <p:nvPr/>
        </p:nvSpPr>
        <p:spPr>
          <a:xfrm>
            <a:off x="8199940" y="3704082"/>
            <a:ext cx="3230060" cy="1200329"/>
          </a:xfrm>
          <a:prstGeom prst="rect">
            <a:avLst/>
          </a:prstGeom>
          <a:noFill/>
        </p:spPr>
        <p:txBody>
          <a:bodyPr wrap="square">
            <a:spAutoFit/>
          </a:bodyPr>
          <a:lstStyle/>
          <a:p>
            <a:pPr algn="ctr"/>
            <a:r>
              <a:rPr lang="en-US" sz="1800" dirty="0">
                <a:solidFill>
                  <a:srgbClr val="334155"/>
                </a:solidFill>
                <a:latin typeface="Inter"/>
              </a:rPr>
              <a:t>The inclusion of a </a:t>
            </a:r>
            <a:br>
              <a:rPr lang="en-US" sz="1800" dirty="0">
                <a:solidFill>
                  <a:srgbClr val="334155"/>
                </a:solidFill>
                <a:latin typeface="Inter"/>
              </a:rPr>
            </a:br>
            <a:r>
              <a:rPr lang="en-US" sz="1800" dirty="0">
                <a:solidFill>
                  <a:srgbClr val="334155"/>
                </a:solidFill>
                <a:latin typeface="Inter"/>
              </a:rPr>
              <a:t>“Graphs and Heatmap" helps</a:t>
            </a:r>
            <a:br>
              <a:rPr lang="en-US" sz="1800" dirty="0">
                <a:solidFill>
                  <a:srgbClr val="334155"/>
                </a:solidFill>
                <a:latin typeface="Inter"/>
              </a:rPr>
            </a:br>
            <a:r>
              <a:rPr lang="en-US" sz="1800" dirty="0">
                <a:solidFill>
                  <a:srgbClr val="334155"/>
                </a:solidFill>
                <a:latin typeface="Inter"/>
              </a:rPr>
              <a:t> users understand the</a:t>
            </a:r>
            <a:br>
              <a:rPr lang="en-US" sz="1800" dirty="0">
                <a:solidFill>
                  <a:srgbClr val="334155"/>
                </a:solidFill>
                <a:latin typeface="Inter"/>
              </a:rPr>
            </a:br>
            <a:r>
              <a:rPr lang="en-US" sz="1800" dirty="0">
                <a:solidFill>
                  <a:srgbClr val="334155"/>
                </a:solidFill>
                <a:latin typeface="Inter"/>
              </a:rPr>
              <a:t> "why" behind a verdict.</a:t>
            </a:r>
            <a:endParaRPr lang="en-PK" sz="1800" dirty="0">
              <a:solidFill>
                <a:srgbClr val="334155"/>
              </a:solidFill>
              <a:latin typeface="Inter"/>
            </a:endParaRPr>
          </a:p>
        </p:txBody>
      </p:sp>
      <p:sp>
        <p:nvSpPr>
          <p:cNvPr id="2" name="TextBox 1">
            <a:extLst>
              <a:ext uri="{FF2B5EF4-FFF2-40B4-BE49-F238E27FC236}">
                <a16:creationId xmlns:a16="http://schemas.microsoft.com/office/drawing/2014/main" id="{32119609-E28F-B32D-2F24-BC416296C9A2}"/>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3533528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8"/>
        <p:cNvGrpSpPr/>
        <p:nvPr/>
      </p:nvGrpSpPr>
      <p:grpSpPr>
        <a:xfrm>
          <a:off x="0" y="0"/>
          <a:ext cx="0" cy="0"/>
          <a:chOff x="0" y="0"/>
          <a:chExt cx="0" cy="0"/>
        </a:xfrm>
      </p:grpSpPr>
      <p:pic>
        <p:nvPicPr>
          <p:cNvPr id="269" name="Google Shape;269;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3" name="Google Shape;273;p24"/>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System Feasibility</a:t>
            </a:r>
            <a:endParaRPr dirty="0"/>
          </a:p>
        </p:txBody>
      </p:sp>
      <p:sp>
        <p:nvSpPr>
          <p:cNvPr id="274" name="Google Shape;274;p24"/>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4"/>
          <p:cNvSpPr txBox="1"/>
          <p:nvPr/>
        </p:nvSpPr>
        <p:spPr>
          <a:xfrm>
            <a:off x="753763" y="1777681"/>
            <a:ext cx="312132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1E3A8A"/>
                </a:solidFill>
                <a:latin typeface="Lato"/>
                <a:ea typeface="Lato"/>
                <a:cs typeface="Lato"/>
                <a:sym typeface="Lato"/>
              </a:rPr>
              <a:t>Technical Feasibility:</a:t>
            </a:r>
            <a:endParaRPr sz="1800" dirty="0"/>
          </a:p>
        </p:txBody>
      </p:sp>
      <p:sp>
        <p:nvSpPr>
          <p:cNvPr id="276" name="Google Shape;276;p24"/>
          <p:cNvSpPr txBox="1"/>
          <p:nvPr/>
        </p:nvSpPr>
        <p:spPr>
          <a:xfrm>
            <a:off x="1057275" y="2159469"/>
            <a:ext cx="10077450" cy="830997"/>
          </a:xfrm>
          <a:prstGeom prst="rect">
            <a:avLst/>
          </a:prstGeom>
          <a:noFill/>
          <a:ln>
            <a:noFill/>
          </a:ln>
        </p:spPr>
        <p:txBody>
          <a:bodyPr spcFirstLastPara="1" wrap="square" lIns="0" tIns="0" rIns="0" bIns="0" anchor="t" anchorCtr="0">
            <a:spAutoFit/>
          </a:bodyPr>
          <a:lstStyle/>
          <a:p>
            <a:pPr lvl="0">
              <a:lnSpc>
                <a:spcPct val="150000"/>
              </a:lnSpc>
            </a:pPr>
            <a:r>
              <a:rPr lang="en-US" sz="1800" dirty="0">
                <a:latin typeface="Lato" panose="020F0502020204030203" pitchFamily="34" charset="0"/>
                <a:ea typeface="Lato" panose="020F0502020204030203" pitchFamily="34" charset="0"/>
                <a:cs typeface="Lato" panose="020F0502020204030203" pitchFamily="34" charset="0"/>
              </a:rPr>
              <a:t>The system is built using the Python ecosystem, which is highly compatible with AI libraries like TensorFlow and PyTorch</a:t>
            </a:r>
            <a:endParaRPr sz="1800" dirty="0">
              <a:latin typeface="Lato" panose="020F0502020204030203" pitchFamily="34" charset="0"/>
              <a:ea typeface="Lato" panose="020F0502020204030203" pitchFamily="34" charset="0"/>
              <a:cs typeface="Lato" panose="020F0502020204030203" pitchFamily="34" charset="0"/>
            </a:endParaRPr>
          </a:p>
        </p:txBody>
      </p:sp>
      <p:sp>
        <p:nvSpPr>
          <p:cNvPr id="277" name="Google Shape;277;p24"/>
          <p:cNvSpPr txBox="1"/>
          <p:nvPr/>
        </p:nvSpPr>
        <p:spPr>
          <a:xfrm>
            <a:off x="762000" y="3372256"/>
            <a:ext cx="2821172"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1E3A8A"/>
                </a:solidFill>
                <a:latin typeface="Lato"/>
                <a:ea typeface="Lato"/>
                <a:cs typeface="Lato"/>
                <a:sym typeface="Lato"/>
              </a:rPr>
              <a:t>Economic Feasibility:</a:t>
            </a:r>
            <a:endParaRPr sz="1800" dirty="0"/>
          </a:p>
        </p:txBody>
      </p:sp>
      <p:sp>
        <p:nvSpPr>
          <p:cNvPr id="278" name="Google Shape;278;p24"/>
          <p:cNvSpPr txBox="1"/>
          <p:nvPr/>
        </p:nvSpPr>
        <p:spPr>
          <a:xfrm>
            <a:off x="1057275" y="3684794"/>
            <a:ext cx="10077450" cy="1246495"/>
          </a:xfrm>
          <a:prstGeom prst="rect">
            <a:avLst/>
          </a:prstGeom>
          <a:noFill/>
          <a:ln>
            <a:noFill/>
          </a:ln>
        </p:spPr>
        <p:txBody>
          <a:bodyPr spcFirstLastPara="1" wrap="square" lIns="0" tIns="0" rIns="0" bIns="0" anchor="t" anchorCtr="0">
            <a:spAutoFit/>
          </a:bodyPr>
          <a:lstStyle/>
          <a:p>
            <a:pPr lvl="0">
              <a:lnSpc>
                <a:spcPct val="150000"/>
              </a:lnSpc>
            </a:pPr>
            <a:r>
              <a:rPr lang="en-US" sz="1800" dirty="0">
                <a:latin typeface="Lato" panose="020F0502020204030203" pitchFamily="34" charset="0"/>
                <a:ea typeface="Lato" panose="020F0502020204030203" pitchFamily="34" charset="0"/>
                <a:cs typeface="Lato" panose="020F0502020204030203" pitchFamily="34" charset="0"/>
              </a:rPr>
              <a:t>By utilizing open-source models and a custom-engineered dataset, the project eliminates ongoing licensing fees making the system economically viable for long-term use. There are only one time expenditure on colab and hosting.</a:t>
            </a:r>
            <a:endParaRPr sz="1800" dirty="0">
              <a:latin typeface="Lato" panose="020F0502020204030203" pitchFamily="34" charset="0"/>
              <a:ea typeface="Lato" panose="020F0502020204030203" pitchFamily="34" charset="0"/>
              <a:cs typeface="Lato" panose="020F0502020204030203" pitchFamily="34" charset="0"/>
            </a:endParaRPr>
          </a:p>
        </p:txBody>
      </p:sp>
      <p:sp>
        <p:nvSpPr>
          <p:cNvPr id="279" name="Google Shape;279;p24"/>
          <p:cNvSpPr txBox="1"/>
          <p:nvPr/>
        </p:nvSpPr>
        <p:spPr>
          <a:xfrm>
            <a:off x="761999" y="5181741"/>
            <a:ext cx="257662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1E3A8A"/>
                </a:solidFill>
                <a:latin typeface="Lato"/>
                <a:ea typeface="Lato"/>
                <a:cs typeface="Lato"/>
                <a:sym typeface="Lato"/>
              </a:rPr>
              <a:t>Behavioral Feasibility:</a:t>
            </a:r>
            <a:endParaRPr sz="1800" dirty="0"/>
          </a:p>
        </p:txBody>
      </p:sp>
      <p:sp>
        <p:nvSpPr>
          <p:cNvPr id="280" name="Google Shape;280;p24"/>
          <p:cNvSpPr txBox="1"/>
          <p:nvPr/>
        </p:nvSpPr>
        <p:spPr>
          <a:xfrm>
            <a:off x="1057275" y="5625617"/>
            <a:ext cx="10077600" cy="415498"/>
          </a:xfrm>
          <a:prstGeom prst="rect">
            <a:avLst/>
          </a:prstGeom>
          <a:noFill/>
          <a:ln>
            <a:noFill/>
          </a:ln>
        </p:spPr>
        <p:txBody>
          <a:bodyPr spcFirstLastPara="1" wrap="square" lIns="0" tIns="0" rIns="0" bIns="0" anchor="t" anchorCtr="0">
            <a:spAutoFit/>
          </a:bodyPr>
          <a:lstStyle/>
          <a:p>
            <a:pPr lvl="0">
              <a:lnSpc>
                <a:spcPct val="150000"/>
              </a:lnSpc>
            </a:pPr>
            <a:r>
              <a:rPr lang="en-US" sz="1800" dirty="0"/>
              <a:t>And The inclusion of a “Graphs and Heatmap" helps users understand the "why" behind an answer.</a:t>
            </a:r>
            <a:endParaRPr sz="1800" dirty="0"/>
          </a:p>
        </p:txBody>
      </p:sp>
      <p:sp>
        <p:nvSpPr>
          <p:cNvPr id="2" name="Google Shape;173;p18">
            <a:extLst>
              <a:ext uri="{FF2B5EF4-FFF2-40B4-BE49-F238E27FC236}">
                <a16:creationId xmlns:a16="http://schemas.microsoft.com/office/drawing/2014/main" id="{268AA16A-93E5-F4B0-3857-01AD08AFB8D4}"/>
              </a:ext>
            </a:extLst>
          </p:cNvPr>
          <p:cNvSpPr txBox="1"/>
          <p:nvPr/>
        </p:nvSpPr>
        <p:spPr>
          <a:xfrm>
            <a:off x="116958" y="13228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9"/>
        <p:cNvGrpSpPr/>
        <p:nvPr/>
      </p:nvGrpSpPr>
      <p:grpSpPr>
        <a:xfrm>
          <a:off x="0" y="0"/>
          <a:ext cx="0" cy="0"/>
          <a:chOff x="0" y="0"/>
          <a:chExt cx="0" cy="0"/>
        </a:xfrm>
      </p:grpSpPr>
      <p:sp>
        <p:nvSpPr>
          <p:cNvPr id="311" name="Google Shape;311;p26"/>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Results &amp; Metrics</a:t>
            </a:r>
            <a:endParaRPr dirty="0"/>
          </a:p>
        </p:txBody>
      </p:sp>
      <p:sp>
        <p:nvSpPr>
          <p:cNvPr id="312" name="Google Shape;312;p26"/>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6"/>
          <p:cNvSpPr txBox="1"/>
          <p:nvPr/>
        </p:nvSpPr>
        <p:spPr>
          <a:xfrm>
            <a:off x="644604" y="3439610"/>
            <a:ext cx="4930616" cy="1143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9000" b="1" i="0" u="none" strike="noStrike" cap="none" dirty="0">
                <a:solidFill>
                  <a:srgbClr val="1E3A8A"/>
                </a:solidFill>
                <a:latin typeface="Poppins"/>
                <a:ea typeface="Poppins"/>
                <a:cs typeface="Poppins"/>
                <a:sym typeface="Poppins"/>
              </a:rPr>
              <a:t>98.46%</a:t>
            </a:r>
            <a:endParaRPr dirty="0"/>
          </a:p>
        </p:txBody>
      </p:sp>
      <p:sp>
        <p:nvSpPr>
          <p:cNvPr id="314" name="Google Shape;314;p26"/>
          <p:cNvSpPr txBox="1"/>
          <p:nvPr/>
        </p:nvSpPr>
        <p:spPr>
          <a:xfrm>
            <a:off x="762000" y="4717864"/>
            <a:ext cx="4695825"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400" b="1" i="0" u="none" strike="noStrike" cap="none" dirty="0">
                <a:solidFill>
                  <a:srgbClr val="1E3A8A"/>
                </a:solidFill>
                <a:latin typeface="Lato"/>
                <a:ea typeface="Lato"/>
                <a:cs typeface="Lato"/>
                <a:sym typeface="Lato"/>
              </a:rPr>
              <a:t>Validation Accuracy</a:t>
            </a:r>
            <a:endParaRPr dirty="0"/>
          </a:p>
        </p:txBody>
      </p:sp>
      <p:sp>
        <p:nvSpPr>
          <p:cNvPr id="315" name="Google Shape;315;p26"/>
          <p:cNvSpPr txBox="1"/>
          <p:nvPr/>
        </p:nvSpPr>
        <p:spPr>
          <a:xfrm>
            <a:off x="6334125" y="4589046"/>
            <a:ext cx="5095875"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chemeClr val="tx1"/>
                </a:solidFill>
                <a:latin typeface="Lato"/>
                <a:ea typeface="Lato"/>
                <a:cs typeface="Lato"/>
                <a:sym typeface="Lato"/>
              </a:rPr>
              <a:t>The system bridges the gap between binary AI theory and practical forensic verification tools for digital investigators</a:t>
            </a:r>
            <a:r>
              <a:rPr lang="en-US" sz="1500" b="0" i="0" u="none" strike="noStrike" cap="none" dirty="0">
                <a:solidFill>
                  <a:srgbClr val="334155"/>
                </a:solidFill>
                <a:latin typeface="Lato"/>
                <a:ea typeface="Lato"/>
                <a:cs typeface="Lato"/>
                <a:sym typeface="Lato"/>
              </a:rPr>
              <a:t>.</a:t>
            </a:r>
            <a:endParaRPr dirty="0"/>
          </a:p>
        </p:txBody>
      </p:sp>
      <p:sp>
        <p:nvSpPr>
          <p:cNvPr id="316" name="Google Shape;316;p26"/>
          <p:cNvSpPr txBox="1"/>
          <p:nvPr/>
        </p:nvSpPr>
        <p:spPr>
          <a:xfrm>
            <a:off x="6715121" y="2287147"/>
            <a:ext cx="4714875" cy="677108"/>
          </a:xfrm>
          <a:prstGeom prst="rect">
            <a:avLst/>
          </a:prstGeom>
          <a:noFill/>
          <a:ln>
            <a:noFill/>
          </a:ln>
        </p:spPr>
        <p:txBody>
          <a:bodyPr spcFirstLastPara="1" wrap="square" lIns="0" tIns="0" rIns="0" bIns="0" anchor="t" anchorCtr="0">
            <a:spAutoFit/>
          </a:bodyPr>
          <a:lstStyle/>
          <a:p>
            <a:br>
              <a:rPr lang="en-US" dirty="0"/>
            </a:br>
            <a:endParaRPr lang="en-US" dirty="0"/>
          </a:p>
          <a:p>
            <a:r>
              <a:rPr lang="en-US" sz="1600" b="1" dirty="0">
                <a:solidFill>
                  <a:srgbClr val="1E3A8A"/>
                </a:solidFill>
                <a:latin typeface="Poppins" panose="00000500000000000000" pitchFamily="2" charset="0"/>
                <a:cs typeface="Poppins" panose="00000500000000000000" pitchFamily="2" charset="0"/>
              </a:rPr>
              <a:t>Edge Continuity (ELA):</a:t>
            </a:r>
            <a:r>
              <a:rPr lang="en-US" sz="1600" dirty="0">
                <a:solidFill>
                  <a:srgbClr val="1E3A8A"/>
                </a:solidFill>
                <a:latin typeface="Poppins" panose="00000500000000000000" pitchFamily="2" charset="0"/>
                <a:cs typeface="Poppins" panose="00000500000000000000" pitchFamily="2" charset="0"/>
              </a:rPr>
              <a:t> </a:t>
            </a:r>
            <a:r>
              <a:rPr lang="en-US" dirty="0">
                <a:latin typeface="Lato" panose="020F0502020204030203" pitchFamily="34" charset="0"/>
                <a:ea typeface="Lato" panose="020F0502020204030203" pitchFamily="34" charset="0"/>
                <a:cs typeface="Lato" panose="020F0502020204030203" pitchFamily="34" charset="0"/>
              </a:rPr>
              <a:t>97.8% Consistent</a:t>
            </a:r>
          </a:p>
        </p:txBody>
      </p:sp>
      <p:sp>
        <p:nvSpPr>
          <p:cNvPr id="317" name="Google Shape;317;p26"/>
          <p:cNvSpPr txBox="1"/>
          <p:nvPr/>
        </p:nvSpPr>
        <p:spPr>
          <a:xfrm>
            <a:off x="6715122" y="3199374"/>
            <a:ext cx="4714875" cy="246221"/>
          </a:xfrm>
          <a:prstGeom prst="rect">
            <a:avLst/>
          </a:prstGeom>
          <a:noFill/>
          <a:ln>
            <a:noFill/>
          </a:ln>
        </p:spPr>
        <p:txBody>
          <a:bodyPr spcFirstLastPara="1" wrap="square" lIns="0" tIns="0" rIns="0" bIns="0" anchor="t" anchorCtr="0">
            <a:spAutoFit/>
          </a:bodyPr>
          <a:lstStyle/>
          <a:p>
            <a:r>
              <a:rPr lang="en-US" sz="1600" b="1" dirty="0">
                <a:solidFill>
                  <a:srgbClr val="1E3A8A"/>
                </a:solidFill>
                <a:latin typeface="Poppins" panose="00000500000000000000" pitchFamily="2" charset="0"/>
                <a:cs typeface="Poppins" panose="00000500000000000000" pitchFamily="2" charset="0"/>
              </a:rPr>
              <a:t>Noise Variance:</a:t>
            </a:r>
            <a:r>
              <a:rPr lang="en-US" sz="1600" dirty="0">
                <a:solidFill>
                  <a:srgbClr val="1E3A8A"/>
                </a:solidFill>
                <a:latin typeface="Poppins" panose="00000500000000000000" pitchFamily="2" charset="0"/>
                <a:cs typeface="Poppins" panose="00000500000000000000" pitchFamily="2" charset="0"/>
              </a:rPr>
              <a:t> </a:t>
            </a:r>
            <a:r>
              <a:rPr lang="en-US" dirty="0">
                <a:latin typeface="Lato" panose="020F0502020204030203" pitchFamily="34" charset="0"/>
                <a:ea typeface="Lato" panose="020F0502020204030203" pitchFamily="34" charset="0"/>
                <a:cs typeface="Lato" panose="020F0502020204030203" pitchFamily="34" charset="0"/>
              </a:rPr>
              <a:t>97.2% Match</a:t>
            </a:r>
          </a:p>
        </p:txBody>
      </p:sp>
      <p:sp>
        <p:nvSpPr>
          <p:cNvPr id="318" name="Google Shape;318;p26"/>
          <p:cNvSpPr txBox="1"/>
          <p:nvPr/>
        </p:nvSpPr>
        <p:spPr>
          <a:xfrm>
            <a:off x="6715124" y="3595097"/>
            <a:ext cx="4714875" cy="369332"/>
          </a:xfrm>
          <a:prstGeom prst="rect">
            <a:avLst/>
          </a:prstGeom>
          <a:noFill/>
          <a:ln>
            <a:noFill/>
          </a:ln>
        </p:spPr>
        <p:txBody>
          <a:bodyPr spcFirstLastPara="1" wrap="square" lIns="0" tIns="0" rIns="0" bIns="0" anchor="t" anchorCtr="0">
            <a:spAutoFit/>
          </a:bodyPr>
          <a:lstStyle/>
          <a:p>
            <a:pPr>
              <a:lnSpc>
                <a:spcPct val="150000"/>
              </a:lnSpc>
            </a:pPr>
            <a:r>
              <a:rPr lang="en-US" sz="1600" b="1" dirty="0">
                <a:solidFill>
                  <a:srgbClr val="1E3A8A"/>
                </a:solidFill>
                <a:latin typeface="Poppins" panose="00000500000000000000" pitchFamily="2" charset="0"/>
                <a:ea typeface="Lato" panose="020F0502020204030203" pitchFamily="34" charset="0"/>
                <a:cs typeface="Poppins" panose="00000500000000000000" pitchFamily="2" charset="0"/>
              </a:rPr>
              <a:t>Frequency FFT:</a:t>
            </a:r>
            <a:r>
              <a:rPr lang="en-US" sz="1600" dirty="0">
                <a:solidFill>
                  <a:srgbClr val="1E3A8A"/>
                </a:solidFill>
                <a:latin typeface="Poppins" panose="00000500000000000000" pitchFamily="2" charset="0"/>
                <a:ea typeface="Lato" panose="020F0502020204030203" pitchFamily="34" charset="0"/>
                <a:cs typeface="Poppins" panose="00000500000000000000" pitchFamily="2" charset="0"/>
              </a:rPr>
              <a:t> </a:t>
            </a:r>
            <a:r>
              <a:rPr lang="en-US" dirty="0">
                <a:latin typeface="Lato" panose="020F0502020204030203" pitchFamily="34" charset="0"/>
                <a:ea typeface="Lato" panose="020F0502020204030203" pitchFamily="34" charset="0"/>
                <a:cs typeface="Lato" panose="020F0502020204030203" pitchFamily="34" charset="0"/>
              </a:rPr>
              <a:t>98.1% Accuracy</a:t>
            </a:r>
            <a:endParaRPr dirty="0">
              <a:latin typeface="Lato" panose="020F0502020204030203" pitchFamily="34" charset="0"/>
              <a:ea typeface="Lato" panose="020F0502020204030203" pitchFamily="34" charset="0"/>
              <a:cs typeface="Lato" panose="020F0502020204030203" pitchFamily="34" charset="0"/>
            </a:endParaRPr>
          </a:p>
        </p:txBody>
      </p:sp>
      <p:sp>
        <p:nvSpPr>
          <p:cNvPr id="319" name="Google Shape;319;p26"/>
          <p:cNvSpPr txBox="1"/>
          <p:nvPr/>
        </p:nvSpPr>
        <p:spPr>
          <a:xfrm>
            <a:off x="6715125" y="4112796"/>
            <a:ext cx="4714875" cy="36933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b="1" i="0" u="none" strike="noStrike" cap="none" dirty="0">
                <a:solidFill>
                  <a:srgbClr val="1E3A8A"/>
                </a:solidFill>
                <a:latin typeface="Poppins" panose="00000500000000000000" pitchFamily="2" charset="0"/>
                <a:ea typeface="Lato"/>
                <a:cs typeface="Poppins" panose="00000500000000000000" pitchFamily="2" charset="0"/>
                <a:sym typeface="Lato"/>
              </a:rPr>
              <a:t>Deployment:</a:t>
            </a:r>
            <a:r>
              <a:rPr lang="en-US" sz="1600" b="0" i="0" u="none" strike="noStrike" cap="none" dirty="0">
                <a:solidFill>
                  <a:srgbClr val="334155"/>
                </a:solidFill>
                <a:latin typeface="Poppins" panose="00000500000000000000" pitchFamily="2" charset="0"/>
                <a:ea typeface="Lato"/>
                <a:cs typeface="Poppins" panose="00000500000000000000" pitchFamily="2" charset="0"/>
                <a:sym typeface="Lato"/>
              </a:rPr>
              <a:t> </a:t>
            </a:r>
            <a:r>
              <a:rPr lang="en-US" sz="1600" b="0" i="0" u="none" strike="noStrike" cap="none" dirty="0">
                <a:solidFill>
                  <a:schemeClr val="tx1"/>
                </a:solidFill>
                <a:latin typeface="Lato"/>
                <a:ea typeface="Lato"/>
                <a:cs typeface="Lato"/>
                <a:sym typeface="Lato"/>
              </a:rPr>
              <a:t>Successfully live at </a:t>
            </a:r>
            <a:r>
              <a:rPr lang="en-US" sz="1600" b="1" i="0" u="none" strike="noStrike" cap="none" dirty="0">
                <a:solidFill>
                  <a:schemeClr val="tx1"/>
                </a:solidFill>
                <a:latin typeface="Lato"/>
                <a:ea typeface="Lato"/>
                <a:cs typeface="Lato"/>
                <a:sym typeface="Lato"/>
              </a:rPr>
              <a:t>verifex.org</a:t>
            </a:r>
            <a:endParaRPr sz="1600" dirty="0">
              <a:solidFill>
                <a:schemeClr val="tx1"/>
              </a:solidFill>
            </a:endParaRPr>
          </a:p>
        </p:txBody>
      </p:sp>
      <p:pic>
        <p:nvPicPr>
          <p:cNvPr id="320" name="Google Shape;320;p26" descr="image.png"/>
          <p:cNvPicPr preferRelativeResize="0"/>
          <p:nvPr/>
        </p:nvPicPr>
        <p:blipFill rotWithShape="1">
          <a:blip r:embed="rId3">
            <a:alphaModFix/>
          </a:blip>
          <a:srcRect/>
          <a:stretch/>
        </p:blipFill>
        <p:spPr>
          <a:xfrm>
            <a:off x="6334125" y="2784058"/>
            <a:ext cx="171450" cy="200025"/>
          </a:xfrm>
          <a:prstGeom prst="rect">
            <a:avLst/>
          </a:prstGeom>
          <a:noFill/>
          <a:ln>
            <a:noFill/>
          </a:ln>
        </p:spPr>
      </p:pic>
      <p:pic>
        <p:nvPicPr>
          <p:cNvPr id="321" name="Google Shape;321;p26" descr="image.png"/>
          <p:cNvPicPr preferRelativeResize="0"/>
          <p:nvPr/>
        </p:nvPicPr>
        <p:blipFill rotWithShape="1">
          <a:blip r:embed="rId3">
            <a:alphaModFix/>
          </a:blip>
          <a:srcRect/>
          <a:stretch/>
        </p:blipFill>
        <p:spPr>
          <a:xfrm>
            <a:off x="6334125" y="3241258"/>
            <a:ext cx="171450" cy="200025"/>
          </a:xfrm>
          <a:prstGeom prst="rect">
            <a:avLst/>
          </a:prstGeom>
          <a:noFill/>
          <a:ln>
            <a:noFill/>
          </a:ln>
        </p:spPr>
      </p:pic>
      <p:pic>
        <p:nvPicPr>
          <p:cNvPr id="322" name="Google Shape;322;p26" descr="image.png"/>
          <p:cNvPicPr preferRelativeResize="0"/>
          <p:nvPr/>
        </p:nvPicPr>
        <p:blipFill rotWithShape="1">
          <a:blip r:embed="rId3">
            <a:alphaModFix/>
          </a:blip>
          <a:srcRect/>
          <a:stretch/>
        </p:blipFill>
        <p:spPr>
          <a:xfrm>
            <a:off x="6334125" y="3658995"/>
            <a:ext cx="171450" cy="200025"/>
          </a:xfrm>
          <a:prstGeom prst="rect">
            <a:avLst/>
          </a:prstGeom>
          <a:noFill/>
          <a:ln>
            <a:noFill/>
          </a:ln>
        </p:spPr>
      </p:pic>
      <p:pic>
        <p:nvPicPr>
          <p:cNvPr id="323" name="Google Shape;323;p26" descr="image.png"/>
          <p:cNvPicPr preferRelativeResize="0"/>
          <p:nvPr/>
        </p:nvPicPr>
        <p:blipFill rotWithShape="1">
          <a:blip r:embed="rId3">
            <a:alphaModFix/>
          </a:blip>
          <a:srcRect/>
          <a:stretch/>
        </p:blipFill>
        <p:spPr>
          <a:xfrm>
            <a:off x="6334125" y="4155658"/>
            <a:ext cx="171450" cy="200025"/>
          </a:xfrm>
          <a:prstGeom prst="rect">
            <a:avLst/>
          </a:prstGeom>
          <a:noFill/>
          <a:ln>
            <a:noFill/>
          </a:ln>
        </p:spPr>
      </p:pic>
      <p:sp>
        <p:nvSpPr>
          <p:cNvPr id="3" name="Google Shape;316;p26">
            <a:extLst>
              <a:ext uri="{FF2B5EF4-FFF2-40B4-BE49-F238E27FC236}">
                <a16:creationId xmlns:a16="http://schemas.microsoft.com/office/drawing/2014/main" id="{9631E47E-2BAF-9E18-D51D-779097BE13B9}"/>
              </a:ext>
            </a:extLst>
          </p:cNvPr>
          <p:cNvSpPr txBox="1"/>
          <p:nvPr/>
        </p:nvSpPr>
        <p:spPr>
          <a:xfrm>
            <a:off x="402708" y="1515437"/>
            <a:ext cx="8209664" cy="553998"/>
          </a:xfrm>
          <a:prstGeom prst="rect">
            <a:avLst/>
          </a:prstGeom>
          <a:noFill/>
          <a:ln>
            <a:noFill/>
          </a:ln>
        </p:spPr>
        <p:txBody>
          <a:bodyPr spcFirstLastPara="1" wrap="square" lIns="0" tIns="0" rIns="0" bIns="0" anchor="t" anchorCtr="0">
            <a:spAutoFit/>
          </a:bodyPr>
          <a:lstStyle/>
          <a:p>
            <a:br>
              <a:rPr lang="en-US" sz="1800" dirty="0"/>
            </a:br>
            <a:r>
              <a:rPr lang="en-US" sz="1800" dirty="0"/>
              <a:t>These are the results we got from our model after testing it on multiple pics</a:t>
            </a:r>
          </a:p>
        </p:txBody>
      </p:sp>
      <p:sp>
        <p:nvSpPr>
          <p:cNvPr id="5" name="TextBox 4">
            <a:extLst>
              <a:ext uri="{FF2B5EF4-FFF2-40B4-BE49-F238E27FC236}">
                <a16:creationId xmlns:a16="http://schemas.microsoft.com/office/drawing/2014/main" id="{55BF0C17-2891-7A0D-0515-DEAE1B99DDA9}"/>
              </a:ext>
            </a:extLst>
          </p:cNvPr>
          <p:cNvSpPr txBox="1"/>
          <p:nvPr/>
        </p:nvSpPr>
        <p:spPr>
          <a:xfrm>
            <a:off x="146087" y="66914"/>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 and </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
        <p:nvSpPr>
          <p:cNvPr id="6" name="Google Shape;173;p18">
            <a:extLst>
              <a:ext uri="{FF2B5EF4-FFF2-40B4-BE49-F238E27FC236}">
                <a16:creationId xmlns:a16="http://schemas.microsoft.com/office/drawing/2014/main" id="{D60DE24B-3DD2-28B7-EAFE-0C1719216C48}"/>
              </a:ext>
            </a:extLst>
          </p:cNvPr>
          <p:cNvSpPr txBox="1"/>
          <p:nvPr/>
        </p:nvSpPr>
        <p:spPr>
          <a:xfrm>
            <a:off x="1414130" y="129604"/>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7"/>
        <p:cNvGrpSpPr/>
        <p:nvPr/>
      </p:nvGrpSpPr>
      <p:grpSpPr>
        <a:xfrm>
          <a:off x="0" y="0"/>
          <a:ext cx="0" cy="0"/>
          <a:chOff x="0" y="0"/>
          <a:chExt cx="0" cy="0"/>
        </a:xfrm>
      </p:grpSpPr>
      <p:pic>
        <p:nvPicPr>
          <p:cNvPr id="328" name="Google Shape;328;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9" name="Google Shape;329;p27" descr="image.png"/>
          <p:cNvPicPr preferRelativeResize="0"/>
          <p:nvPr/>
        </p:nvPicPr>
        <p:blipFill rotWithShape="1">
          <a:blip r:embed="rId4">
            <a:alphaModFix/>
          </a:blip>
          <a:srcRect/>
          <a:stretch/>
        </p:blipFill>
        <p:spPr>
          <a:xfrm>
            <a:off x="762000" y="1695450"/>
            <a:ext cx="10668000" cy="1543050"/>
          </a:xfrm>
          <a:prstGeom prst="rect">
            <a:avLst/>
          </a:prstGeom>
          <a:noFill/>
          <a:ln>
            <a:noFill/>
          </a:ln>
        </p:spPr>
      </p:pic>
      <p:sp>
        <p:nvSpPr>
          <p:cNvPr id="330" name="Google Shape;330;p27"/>
          <p:cNvSpPr txBox="1"/>
          <p:nvPr/>
        </p:nvSpPr>
        <p:spPr>
          <a:xfrm>
            <a:off x="762000" y="571500"/>
            <a:ext cx="112014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0F172A"/>
                </a:solidFill>
                <a:latin typeface="Poppins"/>
                <a:ea typeface="Poppins"/>
                <a:cs typeface="Poppins"/>
                <a:sym typeface="Poppins"/>
              </a:rPr>
              <a:t>Future Scope</a:t>
            </a:r>
            <a:endParaRPr dirty="0"/>
          </a:p>
        </p:txBody>
      </p:sp>
      <p:sp>
        <p:nvSpPr>
          <p:cNvPr id="331" name="Google Shape;331;p27"/>
          <p:cNvSpPr/>
          <p:nvPr/>
        </p:nvSpPr>
        <p:spPr>
          <a:xfrm>
            <a:off x="762000" y="1285875"/>
            <a:ext cx="10668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2" name="Google Shape;332;p27"/>
          <p:cNvSpPr txBox="1"/>
          <p:nvPr/>
        </p:nvSpPr>
        <p:spPr>
          <a:xfrm>
            <a:off x="1057275" y="2181225"/>
            <a:ext cx="10077450" cy="4154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dirty="0">
                <a:solidFill>
                  <a:schemeClr val="tx1"/>
                </a:solidFill>
              </a:rPr>
              <a:t>The future scope of our app is:</a:t>
            </a:r>
            <a:endParaRPr sz="1800" dirty="0">
              <a:solidFill>
                <a:schemeClr val="tx1"/>
              </a:solidFill>
            </a:endParaRPr>
          </a:p>
        </p:txBody>
      </p:sp>
      <p:sp>
        <p:nvSpPr>
          <p:cNvPr id="333" name="Google Shape;333;p27"/>
          <p:cNvSpPr txBox="1"/>
          <p:nvPr/>
        </p:nvSpPr>
        <p:spPr>
          <a:xfrm>
            <a:off x="762000" y="3524250"/>
            <a:ext cx="5350668"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Poppins"/>
                <a:ea typeface="Poppins"/>
                <a:cs typeface="Poppins"/>
                <a:sym typeface="Poppins"/>
              </a:rPr>
              <a:t>Future Roadmap</a:t>
            </a:r>
            <a:endParaRPr/>
          </a:p>
        </p:txBody>
      </p:sp>
      <p:sp>
        <p:nvSpPr>
          <p:cNvPr id="334" name="Google Shape;334;p27"/>
          <p:cNvSpPr txBox="1"/>
          <p:nvPr/>
        </p:nvSpPr>
        <p:spPr>
          <a:xfrm>
            <a:off x="6334125" y="3524250"/>
            <a:ext cx="5350668"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Poppins"/>
                <a:ea typeface="Poppins"/>
                <a:cs typeface="Poppins"/>
                <a:sym typeface="Poppins"/>
              </a:rPr>
              <a:t>Expansion</a:t>
            </a:r>
            <a:endParaRPr/>
          </a:p>
        </p:txBody>
      </p:sp>
      <p:sp>
        <p:nvSpPr>
          <p:cNvPr id="335" name="Google Shape;335;p27"/>
          <p:cNvSpPr txBox="1"/>
          <p:nvPr/>
        </p:nvSpPr>
        <p:spPr>
          <a:xfrm>
            <a:off x="1143000" y="3943350"/>
            <a:ext cx="4714875" cy="34624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1E3A8A"/>
                </a:solidFill>
                <a:latin typeface="Lato"/>
                <a:ea typeface="Lato"/>
                <a:cs typeface="Lato"/>
                <a:sym typeface="Lato"/>
              </a:rPr>
              <a:t>Audio Forensics:</a:t>
            </a:r>
            <a:r>
              <a:rPr lang="en-US" sz="1500" b="0" i="0" u="none" strike="noStrike" cap="none" dirty="0">
                <a:solidFill>
                  <a:srgbClr val="334155"/>
                </a:solidFill>
                <a:latin typeface="Lato"/>
                <a:ea typeface="Lato"/>
                <a:cs typeface="Lato"/>
                <a:sym typeface="Lato"/>
              </a:rPr>
              <a:t> </a:t>
            </a:r>
            <a:r>
              <a:rPr lang="en-US" sz="1500" dirty="0">
                <a:solidFill>
                  <a:schemeClr val="tx1"/>
                </a:solidFill>
                <a:latin typeface="Lato"/>
                <a:ea typeface="Lato"/>
                <a:cs typeface="Lato"/>
                <a:sym typeface="Lato"/>
              </a:rPr>
              <a:t>Detecting fake voices</a:t>
            </a:r>
            <a:r>
              <a:rPr lang="en-US" sz="1500" b="0" i="0" u="none" strike="noStrike" cap="none" dirty="0">
                <a:solidFill>
                  <a:srgbClr val="334155"/>
                </a:solidFill>
                <a:latin typeface="Lato"/>
                <a:ea typeface="Lato"/>
                <a:cs typeface="Lato"/>
                <a:sym typeface="Lato"/>
              </a:rPr>
              <a:t>.</a:t>
            </a:r>
            <a:endParaRPr dirty="0"/>
          </a:p>
        </p:txBody>
      </p:sp>
      <p:sp>
        <p:nvSpPr>
          <p:cNvPr id="336" name="Google Shape;336;p27"/>
          <p:cNvSpPr txBox="1"/>
          <p:nvPr/>
        </p:nvSpPr>
        <p:spPr>
          <a:xfrm>
            <a:off x="1143000" y="4400550"/>
            <a:ext cx="4714875" cy="34624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1E3A8A"/>
                </a:solidFill>
                <a:latin typeface="Lato"/>
                <a:ea typeface="Lato"/>
                <a:cs typeface="Lato"/>
                <a:sym typeface="Lato"/>
              </a:rPr>
              <a:t>Video Deepfakes: </a:t>
            </a:r>
            <a:r>
              <a:rPr lang="en-US" sz="1500" b="1" i="0" u="none" strike="noStrike" cap="none" dirty="0">
                <a:solidFill>
                  <a:schemeClr val="tx1"/>
                </a:solidFill>
                <a:latin typeface="Lato"/>
                <a:ea typeface="Lato"/>
                <a:cs typeface="Lato"/>
                <a:sym typeface="Lato"/>
              </a:rPr>
              <a:t>Detecting fake videos</a:t>
            </a:r>
            <a:r>
              <a:rPr lang="en-US" sz="1500" b="0" i="0" u="none" strike="noStrike" cap="none" dirty="0">
                <a:solidFill>
                  <a:schemeClr val="tx1"/>
                </a:solidFill>
                <a:latin typeface="Lato"/>
                <a:ea typeface="Lato"/>
                <a:cs typeface="Lato"/>
                <a:sym typeface="Lato"/>
              </a:rPr>
              <a:t>.</a:t>
            </a:r>
            <a:endParaRPr dirty="0">
              <a:solidFill>
                <a:schemeClr val="tx1"/>
              </a:solidFill>
            </a:endParaRPr>
          </a:p>
        </p:txBody>
      </p:sp>
      <p:sp>
        <p:nvSpPr>
          <p:cNvPr id="337" name="Google Shape;337;p27"/>
          <p:cNvSpPr txBox="1"/>
          <p:nvPr/>
        </p:nvSpPr>
        <p:spPr>
          <a:xfrm>
            <a:off x="6715125" y="3943350"/>
            <a:ext cx="4714875"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1E3A8A"/>
                </a:solidFill>
                <a:latin typeface="Lato"/>
                <a:ea typeface="Lato"/>
                <a:cs typeface="Lato"/>
                <a:sym typeface="Lato"/>
              </a:rPr>
              <a:t>Browser Extension </a:t>
            </a:r>
            <a:r>
              <a:rPr lang="en-US" sz="1500" b="1" dirty="0">
                <a:solidFill>
                  <a:schemeClr val="tx1"/>
                </a:solidFill>
                <a:latin typeface="Lato"/>
                <a:ea typeface="Lato"/>
                <a:cs typeface="Lato"/>
                <a:sym typeface="Lato"/>
              </a:rPr>
              <a:t>will be</a:t>
            </a:r>
            <a:r>
              <a:rPr lang="en-US" sz="1500" b="1" i="0" u="none" strike="noStrike" cap="none" dirty="0">
                <a:solidFill>
                  <a:schemeClr val="tx1"/>
                </a:solidFill>
                <a:latin typeface="Lato"/>
                <a:ea typeface="Lato"/>
                <a:cs typeface="Lato"/>
                <a:sym typeface="Lato"/>
              </a:rPr>
              <a:t> allowing user to add the app as a chrome extension for</a:t>
            </a:r>
            <a:r>
              <a:rPr lang="en-US" sz="1500" b="0" i="0" u="none" strike="noStrike" cap="none" dirty="0">
                <a:solidFill>
                  <a:schemeClr val="tx1"/>
                </a:solidFill>
                <a:latin typeface="Lato"/>
                <a:ea typeface="Lato"/>
                <a:cs typeface="Lato"/>
                <a:sym typeface="Lato"/>
              </a:rPr>
              <a:t> Real-time checks.</a:t>
            </a:r>
            <a:endParaRPr dirty="0">
              <a:solidFill>
                <a:schemeClr val="tx1"/>
              </a:solidFill>
            </a:endParaRPr>
          </a:p>
        </p:txBody>
      </p:sp>
      <p:sp>
        <p:nvSpPr>
          <p:cNvPr id="338" name="Google Shape;338;p27"/>
          <p:cNvSpPr txBox="1"/>
          <p:nvPr/>
        </p:nvSpPr>
        <p:spPr>
          <a:xfrm>
            <a:off x="6652021" y="4875125"/>
            <a:ext cx="4714875"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1E3A8A"/>
                </a:solidFill>
                <a:latin typeface="Lato"/>
                <a:ea typeface="Lato"/>
                <a:cs typeface="Lato"/>
                <a:sym typeface="Lato"/>
              </a:rPr>
              <a:t>C2PA:</a:t>
            </a:r>
            <a:r>
              <a:rPr lang="en-US" sz="1500" b="0" i="0" u="none" strike="noStrike" cap="none" dirty="0">
                <a:solidFill>
                  <a:srgbClr val="334155"/>
                </a:solidFill>
                <a:latin typeface="Lato"/>
                <a:ea typeface="Lato"/>
                <a:cs typeface="Lato"/>
                <a:sym typeface="Lato"/>
              </a:rPr>
              <a:t> </a:t>
            </a:r>
            <a:r>
              <a:rPr lang="en-US" sz="1500" dirty="0">
                <a:solidFill>
                  <a:schemeClr val="tx1"/>
                </a:solidFill>
                <a:latin typeface="Lato"/>
                <a:ea typeface="Lato"/>
                <a:cs typeface="Lato"/>
                <a:sym typeface="Lato"/>
              </a:rPr>
              <a:t>More metadata information from</a:t>
            </a:r>
            <a:r>
              <a:rPr lang="en-US" sz="1500" b="0" i="0" u="none" strike="noStrike" cap="none" dirty="0">
                <a:solidFill>
                  <a:schemeClr val="tx1"/>
                </a:solidFill>
                <a:latin typeface="Lato"/>
                <a:ea typeface="Lato"/>
                <a:cs typeface="Lato"/>
                <a:sym typeface="Lato"/>
              </a:rPr>
              <a:t> emerging AI models</a:t>
            </a:r>
            <a:r>
              <a:rPr lang="en-US" sz="1500" b="0" i="0" u="none" strike="noStrike" cap="none" dirty="0">
                <a:solidFill>
                  <a:srgbClr val="334155"/>
                </a:solidFill>
                <a:latin typeface="Lato"/>
                <a:ea typeface="Lato"/>
                <a:cs typeface="Lato"/>
                <a:sym typeface="Lato"/>
              </a:rPr>
              <a:t>.</a:t>
            </a:r>
            <a:endParaRPr dirty="0"/>
          </a:p>
        </p:txBody>
      </p:sp>
      <p:pic>
        <p:nvPicPr>
          <p:cNvPr id="339" name="Google Shape;339;p27" descr="image.png"/>
          <p:cNvPicPr preferRelativeResize="0"/>
          <p:nvPr/>
        </p:nvPicPr>
        <p:blipFill rotWithShape="1">
          <a:blip r:embed="rId5">
            <a:alphaModFix/>
          </a:blip>
          <a:srcRect/>
          <a:stretch/>
        </p:blipFill>
        <p:spPr>
          <a:xfrm>
            <a:off x="762000" y="3986212"/>
            <a:ext cx="142875" cy="200025"/>
          </a:xfrm>
          <a:prstGeom prst="rect">
            <a:avLst/>
          </a:prstGeom>
          <a:noFill/>
          <a:ln>
            <a:noFill/>
          </a:ln>
        </p:spPr>
      </p:pic>
      <p:pic>
        <p:nvPicPr>
          <p:cNvPr id="340" name="Google Shape;340;p27" descr="image.png"/>
          <p:cNvPicPr preferRelativeResize="0"/>
          <p:nvPr/>
        </p:nvPicPr>
        <p:blipFill rotWithShape="1">
          <a:blip r:embed="rId6">
            <a:alphaModFix/>
          </a:blip>
          <a:srcRect/>
          <a:stretch/>
        </p:blipFill>
        <p:spPr>
          <a:xfrm>
            <a:off x="762000" y="4443412"/>
            <a:ext cx="219075" cy="200025"/>
          </a:xfrm>
          <a:prstGeom prst="rect">
            <a:avLst/>
          </a:prstGeom>
          <a:noFill/>
          <a:ln>
            <a:noFill/>
          </a:ln>
        </p:spPr>
      </p:pic>
      <p:pic>
        <p:nvPicPr>
          <p:cNvPr id="341" name="Google Shape;341;p27" descr="image.png"/>
          <p:cNvPicPr preferRelativeResize="0"/>
          <p:nvPr/>
        </p:nvPicPr>
        <p:blipFill rotWithShape="1">
          <a:blip r:embed="rId7">
            <a:alphaModFix/>
          </a:blip>
          <a:srcRect/>
          <a:stretch/>
        </p:blipFill>
        <p:spPr>
          <a:xfrm>
            <a:off x="6334125" y="3986212"/>
            <a:ext cx="190500" cy="200025"/>
          </a:xfrm>
          <a:prstGeom prst="rect">
            <a:avLst/>
          </a:prstGeom>
          <a:noFill/>
          <a:ln>
            <a:noFill/>
          </a:ln>
        </p:spPr>
      </p:pic>
      <p:pic>
        <p:nvPicPr>
          <p:cNvPr id="342" name="Google Shape;342;p27" descr="image.png"/>
          <p:cNvPicPr preferRelativeResize="0"/>
          <p:nvPr/>
        </p:nvPicPr>
        <p:blipFill rotWithShape="1">
          <a:blip r:embed="rId8">
            <a:alphaModFix/>
          </a:blip>
          <a:srcRect/>
          <a:stretch/>
        </p:blipFill>
        <p:spPr>
          <a:xfrm>
            <a:off x="6370010" y="4997093"/>
            <a:ext cx="190500" cy="200025"/>
          </a:xfrm>
          <a:prstGeom prst="rect">
            <a:avLst/>
          </a:prstGeom>
          <a:noFill/>
          <a:ln>
            <a:noFill/>
          </a:ln>
        </p:spPr>
      </p:pic>
      <p:sp>
        <p:nvSpPr>
          <p:cNvPr id="2" name="TextBox 1">
            <a:extLst>
              <a:ext uri="{FF2B5EF4-FFF2-40B4-BE49-F238E27FC236}">
                <a16:creationId xmlns:a16="http://schemas.microsoft.com/office/drawing/2014/main" id="{E7E68475-BDEC-FB18-7F47-1C0A65CF2B3D}"/>
              </a:ext>
            </a:extLst>
          </p:cNvPr>
          <p:cNvSpPr txBox="1"/>
          <p:nvPr/>
        </p:nvSpPr>
        <p:spPr>
          <a:xfrm>
            <a:off x="163472" y="64695"/>
            <a:ext cx="6097772" cy="369332"/>
          </a:xfrm>
          <a:prstGeom prst="rect">
            <a:avLst/>
          </a:prstGeom>
          <a:noFill/>
        </p:spPr>
        <p:txBody>
          <a:bodyPr wrap="square">
            <a:spAutoFit/>
          </a:bodyPr>
          <a:lstStyle/>
          <a:p>
            <a:pPr rtl="0">
              <a:buNone/>
            </a:pPr>
            <a:r>
              <a:rPr lang="en-US" sz="1800" b="1" i="0" u="none" strike="noStrike" dirty="0">
                <a:solidFill>
                  <a:srgbClr val="D13031"/>
                </a:solidFill>
                <a:effectLst/>
                <a:latin typeface="Lato" panose="020F0502020204030203" pitchFamily="34" charset="0"/>
                <a:ea typeface="Lato" panose="020F0502020204030203" pitchFamily="34" charset="0"/>
                <a:cs typeface="Lato" panose="020F0502020204030203" pitchFamily="34" charset="0"/>
              </a:rPr>
              <a:t>Everyone and </a:t>
            </a:r>
            <a:endParaRPr lang="en-US" sz="1800" b="0" dirty="0">
              <a:effectLst/>
              <a:latin typeface="Lato" panose="020F0502020204030203" pitchFamily="34" charset="0"/>
              <a:ea typeface="Lato" panose="020F0502020204030203" pitchFamily="34" charset="0"/>
              <a:cs typeface="Lato" panose="020F0502020204030203" pitchFamily="34" charset="0"/>
            </a:endParaRPr>
          </a:p>
        </p:txBody>
      </p:sp>
      <p:sp>
        <p:nvSpPr>
          <p:cNvPr id="3" name="Google Shape;173;p18">
            <a:extLst>
              <a:ext uri="{FF2B5EF4-FFF2-40B4-BE49-F238E27FC236}">
                <a16:creationId xmlns:a16="http://schemas.microsoft.com/office/drawing/2014/main" id="{1F833F3F-A257-5817-A32B-1ED39724F714}"/>
              </a:ext>
            </a:extLst>
          </p:cNvPr>
          <p:cNvSpPr txBox="1"/>
          <p:nvPr/>
        </p:nvSpPr>
        <p:spPr>
          <a:xfrm>
            <a:off x="1382232" y="110861"/>
            <a:ext cx="2508379"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dirty="0">
                <a:solidFill>
                  <a:srgbClr val="16A34A"/>
                </a:solidFill>
                <a:latin typeface="Poppins"/>
                <a:ea typeface="Poppins"/>
                <a:cs typeface="Poppins"/>
                <a:sym typeface="Poppins"/>
              </a:rPr>
              <a:t>Team members</a:t>
            </a:r>
            <a:endParaRPr sz="1050" dirty="0">
              <a:solidFill>
                <a:srgbClr val="16A34A"/>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6"/>
        <p:cNvGrpSpPr/>
        <p:nvPr/>
      </p:nvGrpSpPr>
      <p:grpSpPr>
        <a:xfrm>
          <a:off x="0" y="0"/>
          <a:ext cx="0" cy="0"/>
          <a:chOff x="0" y="0"/>
          <a:chExt cx="0" cy="0"/>
        </a:xfrm>
      </p:grpSpPr>
      <p:pic>
        <p:nvPicPr>
          <p:cNvPr id="347" name="Google Shape;347;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48" name="Google Shape;348;p28" descr="image.png"/>
          <p:cNvPicPr preferRelativeResize="0"/>
          <p:nvPr/>
        </p:nvPicPr>
        <p:blipFill rotWithShape="1">
          <a:blip r:embed="rId4">
            <a:alphaModFix/>
          </a:blip>
          <a:srcRect/>
          <a:stretch/>
        </p:blipFill>
        <p:spPr>
          <a:xfrm>
            <a:off x="4582918" y="4213011"/>
            <a:ext cx="3026162" cy="723900"/>
          </a:xfrm>
          <a:prstGeom prst="rect">
            <a:avLst/>
          </a:prstGeom>
          <a:noFill/>
          <a:ln>
            <a:noFill/>
          </a:ln>
        </p:spPr>
      </p:pic>
      <p:sp>
        <p:nvSpPr>
          <p:cNvPr id="349" name="Google Shape;349;p28"/>
          <p:cNvSpPr txBox="1"/>
          <p:nvPr/>
        </p:nvSpPr>
        <p:spPr>
          <a:xfrm>
            <a:off x="3835717" y="1957387"/>
            <a:ext cx="4520565"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dirty="0">
                <a:solidFill>
                  <a:srgbClr val="1E3A8A"/>
                </a:solidFill>
                <a:latin typeface="Poppins"/>
                <a:ea typeface="Poppins"/>
                <a:cs typeface="Poppins"/>
                <a:sym typeface="Poppins"/>
              </a:rPr>
              <a:t>Questions?</a:t>
            </a:r>
            <a:endParaRPr dirty="0"/>
          </a:p>
        </p:txBody>
      </p:sp>
      <p:sp>
        <p:nvSpPr>
          <p:cNvPr id="350" name="Google Shape;350;p28"/>
          <p:cNvSpPr txBox="1"/>
          <p:nvPr/>
        </p:nvSpPr>
        <p:spPr>
          <a:xfrm>
            <a:off x="4395787" y="2938462"/>
            <a:ext cx="3400425" cy="4000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dirty="0">
                <a:solidFill>
                  <a:srgbClr val="475569"/>
                </a:solidFill>
                <a:latin typeface="Lato"/>
                <a:ea typeface="Lato"/>
                <a:cs typeface="Lato"/>
                <a:sym typeface="Lato"/>
              </a:rPr>
              <a:t>Thank you for your attention.</a:t>
            </a:r>
            <a:endParaRPr dirty="0"/>
          </a:p>
        </p:txBody>
      </p:sp>
      <p:sp>
        <p:nvSpPr>
          <p:cNvPr id="351" name="Google Shape;351;p28"/>
          <p:cNvSpPr txBox="1"/>
          <p:nvPr/>
        </p:nvSpPr>
        <p:spPr>
          <a:xfrm>
            <a:off x="4857749" y="4367212"/>
            <a:ext cx="2476500" cy="41549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dirty="0">
                <a:solidFill>
                  <a:srgbClr val="1E3A8A"/>
                </a:solidFill>
                <a:latin typeface="Arial"/>
                <a:ea typeface="Arial"/>
                <a:cs typeface="Arial"/>
                <a:sym typeface="Arial"/>
              </a:rPr>
              <a:t>www.verifexapp.com</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2301</TotalTime>
  <Words>3189</Words>
  <Application>Microsoft Office PowerPoint</Application>
  <PresentationFormat>Widescreen</PresentationFormat>
  <Paragraphs>306</Paragraphs>
  <Slides>38</Slides>
  <Notes>35</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Poppins</vt:lpstr>
      <vt:lpstr>Arial</vt:lpstr>
      <vt:lpstr>Lato</vt:lpstr>
      <vt:lpstr>Google Sans</vt:lpstr>
      <vt:lpstr>Inter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PC</cp:lastModifiedBy>
  <cp:revision>16</cp:revision>
  <dcterms:modified xsi:type="dcterms:W3CDTF">2026-04-28T04:03:20Z</dcterms:modified>
</cp:coreProperties>
</file>